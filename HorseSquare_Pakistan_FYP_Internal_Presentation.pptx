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78" r:id="rId8"/>
    <p:sldId id="262" r:id="rId9"/>
    <p:sldId id="263" r:id="rId10"/>
    <p:sldId id="264" r:id="rId11"/>
    <p:sldId id="265" r:id="rId12"/>
    <p:sldId id="266" r:id="rId13"/>
    <p:sldId id="267" r:id="rId14"/>
    <p:sldId id="268" r:id="rId15"/>
    <p:sldId id="269" r:id="rId16"/>
    <p:sldId id="273" r:id="rId17"/>
    <p:sldId id="274" r:id="rId18"/>
    <p:sldId id="275" r:id="rId19"/>
    <p:sldId id="276" r:id="rId20"/>
    <p:sldId id="277"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snapToObjects="1">
      <p:cViewPr varScale="1">
        <p:scale>
          <a:sx n="80" d="100"/>
          <a:sy n="80" d="100"/>
        </p:scale>
        <p:origin x="96" y="76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9/11/2026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9/11/2026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9/11/2026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9/11/2026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9/11/2026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9/11/2026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9/11/2026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9/11/2026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9/11/2026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9/11/2026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9/11/2026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9/11/2026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3" Type="http://schemas.openxmlformats.org/officeDocument/2006/relationships/hyperlink" Target="https://hose-square-pakistan.vercel.app/" TargetMode="External"/><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3" Type="http://schemas.openxmlformats.org/officeDocument/2006/relationships/hyperlink" Target="https://www.equine.com/" TargetMode="External"/><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hyperlink" Target="https://www.pakwheels.com/" TargetMode="Externa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3" name="Picture 2" descr="mul_logo.png"/>
          <p:cNvPicPr>
            <a:picLocks noChangeAspect="1"/>
          </p:cNvPicPr>
          <p:nvPr/>
        </p:nvPicPr>
        <p:blipFill>
          <a:blip r:embed="rId2"/>
          <a:stretch>
            <a:fillRect/>
          </a:stretch>
        </p:blipFill>
        <p:spPr>
          <a:xfrm>
            <a:off x="3886200" y="228600"/>
            <a:ext cx="1371600" cy="1371600"/>
          </a:xfrm>
          <a:prstGeom prst="rect">
            <a:avLst/>
          </a:prstGeom>
        </p:spPr>
      </p:pic>
      <p:sp>
        <p:nvSpPr>
          <p:cNvPr id="4" name="TextBox 3"/>
          <p:cNvSpPr txBox="1"/>
          <p:nvPr/>
        </p:nvSpPr>
        <p:spPr>
          <a:xfrm>
            <a:off x="640080" y="1828800"/>
            <a:ext cx="7863840" cy="954107"/>
          </a:xfrm>
          <a:prstGeom prst="rect">
            <a:avLst/>
          </a:prstGeom>
          <a:noFill/>
        </p:spPr>
        <p:txBody>
          <a:bodyPr wrap="square">
            <a:spAutoFit/>
          </a:bodyPr>
          <a:lstStyle/>
          <a:p>
            <a:pPr algn="ctr">
              <a:lnSpc>
                <a:spcPct val="100000"/>
              </a:lnSpc>
            </a:pPr>
            <a:r>
              <a:rPr lang="en-US" sz="2800" b="1" dirty="0">
                <a:solidFill>
                  <a:schemeClr val="accent1">
                    <a:lumMod val="50000"/>
                  </a:schemeClr>
                </a:solidFill>
              </a:rPr>
              <a:t>Horse Square Pakistan: A Unified Platform for Equine Trading, Healthcare and Equine Services</a:t>
            </a:r>
            <a:endParaRPr sz="2800" b="1" i="0" dirty="0">
              <a:solidFill>
                <a:schemeClr val="accent1">
                  <a:lumMod val="50000"/>
                </a:schemeClr>
              </a:solidFill>
              <a:latin typeface="Calibri"/>
            </a:endParaRPr>
          </a:p>
        </p:txBody>
      </p:sp>
      <p:sp>
        <p:nvSpPr>
          <p:cNvPr id="5" name="TextBox 4"/>
          <p:cNvSpPr txBox="1"/>
          <p:nvPr/>
        </p:nvSpPr>
        <p:spPr>
          <a:xfrm>
            <a:off x="548640" y="3244097"/>
            <a:ext cx="7863840" cy="1661993"/>
          </a:xfrm>
          <a:prstGeom prst="rect">
            <a:avLst/>
          </a:prstGeom>
          <a:noFill/>
        </p:spPr>
        <p:txBody>
          <a:bodyPr wrap="square">
            <a:spAutoFit/>
          </a:bodyPr>
          <a:lstStyle/>
          <a:p>
            <a:pPr algn="ctr"/>
            <a:r>
              <a:rPr sz="1400" b="0" i="0" dirty="0">
                <a:solidFill>
                  <a:srgbClr val="2C2C2C"/>
                </a:solidFill>
                <a:latin typeface="Calibri"/>
              </a:rPr>
              <a:t>Presented By:</a:t>
            </a:r>
          </a:p>
          <a:p>
            <a:pPr algn="ctr">
              <a:spcBef>
                <a:spcPts val="600"/>
              </a:spcBef>
            </a:pPr>
            <a:r>
              <a:rPr lang="en-US" sz="1400" b="1" i="0" dirty="0">
                <a:solidFill>
                  <a:srgbClr val="2C2C2C"/>
                </a:solidFill>
                <a:latin typeface="Calibri"/>
              </a:rPr>
              <a:t>M.</a:t>
            </a:r>
            <a:r>
              <a:rPr sz="1400" b="1" i="0" dirty="0">
                <a:solidFill>
                  <a:srgbClr val="2C2C2C"/>
                </a:solidFill>
                <a:latin typeface="Calibri"/>
              </a:rPr>
              <a:t>SUBHAN ALI AWAN  </a:t>
            </a:r>
            <a:r>
              <a:rPr lang="en-US" sz="1400" b="1" i="0" dirty="0">
                <a:solidFill>
                  <a:srgbClr val="2C2C2C"/>
                </a:solidFill>
                <a:latin typeface="Calibri"/>
              </a:rPr>
              <a:t>			</a:t>
            </a:r>
            <a:r>
              <a:rPr sz="1400" b="1" i="0" dirty="0">
                <a:solidFill>
                  <a:srgbClr val="2C2C2C"/>
                </a:solidFill>
                <a:latin typeface="Calibri"/>
              </a:rPr>
              <a:t>      </a:t>
            </a:r>
            <a:r>
              <a:rPr lang="en-US" sz="1400" b="1" i="0" dirty="0" err="1">
                <a:solidFill>
                  <a:srgbClr val="2C2C2C"/>
                </a:solidFill>
                <a:latin typeface="Calibri"/>
              </a:rPr>
              <a:t>Binyamine</a:t>
            </a:r>
            <a:endParaRPr lang="en-US" sz="1400" b="1" dirty="0">
              <a:solidFill>
                <a:srgbClr val="2C2C2C"/>
              </a:solidFill>
              <a:latin typeface="Calibri"/>
            </a:endParaRPr>
          </a:p>
          <a:p>
            <a:pPr algn="ctr">
              <a:spcBef>
                <a:spcPts val="600"/>
              </a:spcBef>
            </a:pPr>
            <a:r>
              <a:rPr lang="en-US" sz="1300" b="0" i="0" dirty="0">
                <a:solidFill>
                  <a:srgbClr val="2C2C2C"/>
                </a:solidFill>
                <a:latin typeface="Calibri"/>
              </a:rPr>
              <a:t>	2022f-mulbscs-015				   </a:t>
            </a:r>
            <a:r>
              <a:rPr lang="en-US" sz="1300" dirty="0">
                <a:solidFill>
                  <a:srgbClr val="2C2C2C"/>
                </a:solidFill>
              </a:rPr>
              <a:t>2022f-mulbscs-015 </a:t>
            </a:r>
            <a:endParaRPr lang="en-US" sz="1300" b="0" i="0" dirty="0">
              <a:solidFill>
                <a:srgbClr val="2C2C2C"/>
              </a:solidFill>
              <a:latin typeface="Calibri"/>
            </a:endParaRPr>
          </a:p>
          <a:p>
            <a:pPr algn="ctr">
              <a:spcBef>
                <a:spcPts val="1000"/>
              </a:spcBef>
            </a:pPr>
            <a:r>
              <a:rPr sz="1400" b="0" i="0" dirty="0">
                <a:solidFill>
                  <a:srgbClr val="2C2C2C"/>
                </a:solidFill>
                <a:latin typeface="Calibri"/>
              </a:rPr>
              <a:t>Supervised By:</a:t>
            </a:r>
          </a:p>
          <a:p>
            <a:pPr algn="ctr">
              <a:spcBef>
                <a:spcPts val="200"/>
              </a:spcBef>
            </a:pPr>
            <a:r>
              <a:rPr lang="en-US" sz="1400" b="1" i="0" dirty="0">
                <a:solidFill>
                  <a:srgbClr val="2C2C2C"/>
                </a:solidFill>
                <a:latin typeface="Calibri"/>
              </a:rPr>
              <a:t>Zahra Maryam</a:t>
            </a:r>
            <a:r>
              <a:rPr sz="1400" b="1" i="0" dirty="0">
                <a:solidFill>
                  <a:srgbClr val="2C2C2C"/>
                </a:solidFill>
                <a:latin typeface="Calibri"/>
              </a:rPr>
              <a:t>/ FYP Committee</a:t>
            </a:r>
          </a:p>
          <a:p>
            <a:pPr algn="ctr"/>
            <a:r>
              <a:rPr sz="1300" b="0" i="0" dirty="0">
                <a:solidFill>
                  <a:srgbClr val="2C2C2C"/>
                </a:solidFill>
                <a:latin typeface="Calibri"/>
              </a:rPr>
              <a:t>School of Computer Science</a:t>
            </a:r>
          </a:p>
        </p:txBody>
      </p:sp>
      <p:sp>
        <p:nvSpPr>
          <p:cNvPr id="6" name="Rectangle 5"/>
          <p:cNvSpPr/>
          <p:nvPr/>
        </p:nvSpPr>
        <p:spPr>
          <a:xfrm>
            <a:off x="0" y="5303520"/>
            <a:ext cx="9144000" cy="1554480"/>
          </a:xfrm>
          <a:prstGeom prst="rect">
            <a:avLst/>
          </a:prstGeom>
          <a:solidFill>
            <a:srgbClr val="1F38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0" y="5303521"/>
            <a:ext cx="182880" cy="1554480"/>
          </a:xfrm>
          <a:prstGeom prst="rect">
            <a:avLst/>
          </a:prstGeom>
          <a:solidFill>
            <a:srgbClr val="2E75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548640" y="5669280"/>
            <a:ext cx="8229600" cy="1463040"/>
          </a:xfrm>
          <a:prstGeom prst="rect">
            <a:avLst/>
          </a:prstGeom>
          <a:noFill/>
        </p:spPr>
        <p:txBody>
          <a:bodyPr wrap="square">
            <a:spAutoFit/>
          </a:bodyPr>
          <a:lstStyle/>
          <a:p>
            <a:pPr algn="ctr"/>
            <a:r>
              <a:rPr sz="1800" b="1" i="0" dirty="0">
                <a:solidFill>
                  <a:srgbClr val="FFFFFF"/>
                </a:solidFill>
                <a:latin typeface="Calibri"/>
              </a:rPr>
              <a:t>School of Computer Science</a:t>
            </a:r>
          </a:p>
          <a:p>
            <a:pPr algn="ctr">
              <a:spcBef>
                <a:spcPts val="400"/>
              </a:spcBef>
            </a:pPr>
            <a:r>
              <a:rPr sz="1800" b="1" i="0" dirty="0">
                <a:solidFill>
                  <a:srgbClr val="FFFFFF"/>
                </a:solidFill>
                <a:latin typeface="Calibri"/>
              </a:rPr>
              <a:t>MINHAJ UNIVERSITY LAHORE</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457200" y="256032"/>
            <a:ext cx="6949440" cy="553998"/>
          </a:xfrm>
          <a:prstGeom prst="rect">
            <a:avLst/>
          </a:prstGeom>
          <a:noFill/>
        </p:spPr>
        <p:txBody>
          <a:bodyPr wrap="square">
            <a:spAutoFit/>
          </a:bodyPr>
          <a:lstStyle/>
          <a:p>
            <a:r>
              <a:rPr sz="3000" b="1" i="0" dirty="0">
                <a:solidFill>
                  <a:srgbClr val="2E75B6"/>
                </a:solidFill>
                <a:latin typeface="Calibri Light"/>
              </a:rPr>
              <a:t>Table of Contents</a:t>
            </a:r>
          </a:p>
        </p:txBody>
      </p:sp>
      <p:cxnSp>
        <p:nvCxnSpPr>
          <p:cNvPr id="3" name="Connector 2"/>
          <p:cNvCxnSpPr/>
          <p:nvPr/>
        </p:nvCxnSpPr>
        <p:spPr>
          <a:xfrm>
            <a:off x="457200" y="969264"/>
            <a:ext cx="8229600" cy="0"/>
          </a:xfrm>
          <a:prstGeom prst="line">
            <a:avLst/>
          </a:prstGeom>
          <a:ln w="12700">
            <a:solidFill>
              <a:srgbClr val="AAAAAA"/>
            </a:solidFill>
            <a:prstDash val="dash"/>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457200" y="1371600"/>
            <a:ext cx="6400800" cy="4095032"/>
          </a:xfrm>
          <a:prstGeom prst="rect">
            <a:avLst/>
          </a:prstGeom>
          <a:noFill/>
        </p:spPr>
        <p:txBody>
          <a:bodyPr wrap="square">
            <a:spAutoFit/>
          </a:bodyPr>
          <a:lstStyle/>
          <a:p>
            <a:pPr>
              <a:lnSpc>
                <a:spcPct val="150000"/>
              </a:lnSpc>
              <a:spcAft>
                <a:spcPts val="400"/>
              </a:spcAft>
            </a:pPr>
            <a:r>
              <a:rPr sz="2000" b="0" i="0" dirty="0">
                <a:solidFill>
                  <a:srgbClr val="2C2C2C"/>
                </a:solidFill>
                <a:latin typeface="Calibri"/>
              </a:rPr>
              <a:t>1. Introduction &amp; Background</a:t>
            </a:r>
          </a:p>
          <a:p>
            <a:pPr>
              <a:lnSpc>
                <a:spcPct val="150000"/>
              </a:lnSpc>
              <a:spcAft>
                <a:spcPts val="400"/>
              </a:spcAft>
            </a:pPr>
            <a:r>
              <a:rPr sz="2000" b="0" i="0" dirty="0">
                <a:solidFill>
                  <a:srgbClr val="2C2C2C"/>
                </a:solidFill>
                <a:latin typeface="Calibri"/>
              </a:rPr>
              <a:t>2. Problem Statement</a:t>
            </a:r>
          </a:p>
          <a:p>
            <a:pPr>
              <a:lnSpc>
                <a:spcPct val="150000"/>
              </a:lnSpc>
              <a:spcAft>
                <a:spcPts val="400"/>
              </a:spcAft>
            </a:pPr>
            <a:r>
              <a:rPr sz="2000" b="0" i="0" dirty="0">
                <a:solidFill>
                  <a:srgbClr val="2C2C2C"/>
                </a:solidFill>
                <a:latin typeface="Calibri"/>
              </a:rPr>
              <a:t>3. Literature Review &amp; Gap Analysis</a:t>
            </a:r>
          </a:p>
          <a:p>
            <a:pPr>
              <a:lnSpc>
                <a:spcPct val="150000"/>
              </a:lnSpc>
              <a:spcAft>
                <a:spcPts val="400"/>
              </a:spcAft>
            </a:pPr>
            <a:r>
              <a:rPr sz="2000" b="0" i="0" dirty="0">
                <a:solidFill>
                  <a:srgbClr val="2C2C2C"/>
                </a:solidFill>
                <a:latin typeface="Calibri"/>
              </a:rPr>
              <a:t>4. System Requirements &amp; Objectives</a:t>
            </a:r>
          </a:p>
          <a:p>
            <a:pPr>
              <a:lnSpc>
                <a:spcPct val="150000"/>
              </a:lnSpc>
              <a:spcAft>
                <a:spcPts val="400"/>
              </a:spcAft>
            </a:pPr>
            <a:r>
              <a:rPr sz="2000" b="0" i="0" dirty="0">
                <a:solidFill>
                  <a:srgbClr val="2C2C2C"/>
                </a:solidFill>
                <a:latin typeface="Calibri"/>
              </a:rPr>
              <a:t>5. System Architecture &amp; Design</a:t>
            </a:r>
          </a:p>
          <a:p>
            <a:pPr>
              <a:lnSpc>
                <a:spcPct val="150000"/>
              </a:lnSpc>
              <a:spcAft>
                <a:spcPts val="400"/>
              </a:spcAft>
            </a:pPr>
            <a:r>
              <a:rPr sz="2000" b="0" i="0" dirty="0">
                <a:solidFill>
                  <a:srgbClr val="2C2C2C"/>
                </a:solidFill>
                <a:latin typeface="Calibri"/>
              </a:rPr>
              <a:t>6. Implementation &amp; Tech Stack</a:t>
            </a:r>
          </a:p>
          <a:p>
            <a:pPr>
              <a:lnSpc>
                <a:spcPct val="150000"/>
              </a:lnSpc>
              <a:spcAft>
                <a:spcPts val="400"/>
              </a:spcAft>
            </a:pPr>
            <a:r>
              <a:rPr sz="2000" b="0" i="0" dirty="0">
                <a:solidFill>
                  <a:srgbClr val="2C2C2C"/>
                </a:solidFill>
                <a:latin typeface="Calibri"/>
              </a:rPr>
              <a:t>7. Testing &amp; Results</a:t>
            </a:r>
          </a:p>
          <a:p>
            <a:pPr>
              <a:lnSpc>
                <a:spcPct val="150000"/>
              </a:lnSpc>
              <a:spcAft>
                <a:spcPts val="400"/>
              </a:spcAft>
            </a:pPr>
            <a:r>
              <a:rPr sz="2000" b="0" i="0" dirty="0">
                <a:solidFill>
                  <a:srgbClr val="2C2C2C"/>
                </a:solidFill>
                <a:latin typeface="Calibri"/>
              </a:rPr>
              <a:t>8. Demo, Conclusion &amp; Future Work</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457200" y="256032"/>
            <a:ext cx="6949440" cy="553998"/>
          </a:xfrm>
          <a:prstGeom prst="rect">
            <a:avLst/>
          </a:prstGeom>
          <a:noFill/>
        </p:spPr>
        <p:txBody>
          <a:bodyPr wrap="square">
            <a:spAutoFit/>
          </a:bodyPr>
          <a:lstStyle/>
          <a:p>
            <a:r>
              <a:rPr sz="3000" b="1" i="0" dirty="0">
                <a:solidFill>
                  <a:srgbClr val="2E75B6"/>
                </a:solidFill>
                <a:latin typeface="Calibri Light"/>
              </a:rPr>
              <a:t>Introduction</a:t>
            </a:r>
          </a:p>
        </p:txBody>
      </p:sp>
      <p:cxnSp>
        <p:nvCxnSpPr>
          <p:cNvPr id="3" name="Connector 2"/>
          <p:cNvCxnSpPr/>
          <p:nvPr/>
        </p:nvCxnSpPr>
        <p:spPr>
          <a:xfrm>
            <a:off x="457200" y="969264"/>
            <a:ext cx="8229600" cy="0"/>
          </a:xfrm>
          <a:prstGeom prst="line">
            <a:avLst/>
          </a:prstGeom>
          <a:ln w="12700">
            <a:solidFill>
              <a:srgbClr val="AAAAAA"/>
            </a:solidFill>
            <a:prstDash val="dash"/>
          </a:ln>
        </p:spPr>
        <p:style>
          <a:lnRef idx="2">
            <a:schemeClr val="accent1"/>
          </a:lnRef>
          <a:fillRef idx="0">
            <a:schemeClr val="accent1"/>
          </a:fillRef>
          <a:effectRef idx="1">
            <a:schemeClr val="accent1"/>
          </a:effectRef>
          <a:fontRef idx="minor">
            <a:schemeClr val="tx1"/>
          </a:fontRef>
        </p:style>
      </p:cxnSp>
      <p:pic>
        <p:nvPicPr>
          <p:cNvPr id="4" name="Picture 3" descr="mul_logo.png"/>
          <p:cNvPicPr>
            <a:picLocks noChangeAspect="1"/>
          </p:cNvPicPr>
          <p:nvPr/>
        </p:nvPicPr>
        <p:blipFill>
          <a:blip r:embed="rId2"/>
          <a:stretch>
            <a:fillRect/>
          </a:stretch>
        </p:blipFill>
        <p:spPr>
          <a:xfrm>
            <a:off x="7882127" y="201168"/>
            <a:ext cx="804672" cy="804672"/>
          </a:xfrm>
          <a:prstGeom prst="rect">
            <a:avLst/>
          </a:prstGeom>
        </p:spPr>
      </p:pic>
      <p:sp>
        <p:nvSpPr>
          <p:cNvPr id="8" name="TextBox 7"/>
          <p:cNvSpPr txBox="1"/>
          <p:nvPr/>
        </p:nvSpPr>
        <p:spPr>
          <a:xfrm>
            <a:off x="457200" y="1876877"/>
            <a:ext cx="7904375" cy="2542363"/>
          </a:xfrm>
          <a:prstGeom prst="rect">
            <a:avLst/>
          </a:prstGeom>
          <a:noFill/>
        </p:spPr>
        <p:txBody>
          <a:bodyPr wrap="square">
            <a:spAutoFit/>
          </a:bodyPr>
          <a:lstStyle/>
          <a:p>
            <a:pPr algn="just">
              <a:lnSpc>
                <a:spcPct val="150000"/>
              </a:lnSpc>
            </a:pPr>
            <a:r>
              <a:rPr lang="en-US" dirty="0"/>
              <a:t>Horse Square Pakistan is a dedicated web platform built exclusively for Pakistan's equine community, connecting horse buyers, sellers, breeders, riding academies, and veterinary doctors into one secure digital ecosystem. Built on the modern MERN stack (MongoDB, Express, React, Node.js), the platform integrates verified horse trading, real-time live bidding auctions, certified stud breeding records, Dr. Max AI veterinary triage, and equine services into a single, unified solution.</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457200" y="256032"/>
            <a:ext cx="6949440" cy="553998"/>
          </a:xfrm>
          <a:prstGeom prst="rect">
            <a:avLst/>
          </a:prstGeom>
          <a:noFill/>
        </p:spPr>
        <p:txBody>
          <a:bodyPr wrap="square">
            <a:spAutoFit/>
          </a:bodyPr>
          <a:lstStyle/>
          <a:p>
            <a:r>
              <a:rPr sz="3000" b="1" i="0" dirty="0">
                <a:solidFill>
                  <a:srgbClr val="2E75B6"/>
                </a:solidFill>
                <a:latin typeface="Calibri Light"/>
              </a:rPr>
              <a:t>Problem Statement</a:t>
            </a:r>
          </a:p>
        </p:txBody>
      </p:sp>
      <p:cxnSp>
        <p:nvCxnSpPr>
          <p:cNvPr id="3" name="Connector 2"/>
          <p:cNvCxnSpPr/>
          <p:nvPr/>
        </p:nvCxnSpPr>
        <p:spPr>
          <a:xfrm>
            <a:off x="457200" y="969264"/>
            <a:ext cx="8229600" cy="0"/>
          </a:xfrm>
          <a:prstGeom prst="line">
            <a:avLst/>
          </a:prstGeom>
          <a:ln w="12700">
            <a:solidFill>
              <a:srgbClr val="AAAAAA"/>
            </a:solidFill>
            <a:prstDash val="dash"/>
          </a:ln>
        </p:spPr>
        <p:style>
          <a:lnRef idx="2">
            <a:schemeClr val="accent1"/>
          </a:lnRef>
          <a:fillRef idx="0">
            <a:schemeClr val="accent1"/>
          </a:fillRef>
          <a:effectRef idx="1">
            <a:schemeClr val="accent1"/>
          </a:effectRef>
          <a:fontRef idx="minor">
            <a:schemeClr val="tx1"/>
          </a:fontRef>
        </p:style>
      </p:cxnSp>
      <p:pic>
        <p:nvPicPr>
          <p:cNvPr id="4" name="Picture 3" descr="mul_logo.png"/>
          <p:cNvPicPr>
            <a:picLocks noChangeAspect="1"/>
          </p:cNvPicPr>
          <p:nvPr/>
        </p:nvPicPr>
        <p:blipFill>
          <a:blip r:embed="rId2"/>
          <a:stretch>
            <a:fillRect/>
          </a:stretch>
        </p:blipFill>
        <p:spPr>
          <a:xfrm>
            <a:off x="7882127" y="201168"/>
            <a:ext cx="804672" cy="804672"/>
          </a:xfrm>
          <a:prstGeom prst="rect">
            <a:avLst/>
          </a:prstGeom>
        </p:spPr>
      </p:pic>
      <p:sp>
        <p:nvSpPr>
          <p:cNvPr id="8" name="TextBox 7"/>
          <p:cNvSpPr txBox="1"/>
          <p:nvPr/>
        </p:nvSpPr>
        <p:spPr>
          <a:xfrm>
            <a:off x="502920" y="1773936"/>
            <a:ext cx="8138160" cy="3728970"/>
          </a:xfrm>
          <a:prstGeom prst="rect">
            <a:avLst/>
          </a:prstGeom>
          <a:noFill/>
        </p:spPr>
        <p:txBody>
          <a:bodyPr wrap="square">
            <a:spAutoFit/>
          </a:bodyPr>
          <a:lstStyle/>
          <a:p>
            <a:pPr>
              <a:lnSpc>
                <a:spcPct val="150000"/>
              </a:lnSpc>
            </a:pPr>
            <a:r>
              <a:rPr lang="en-US" dirty="0"/>
              <a:t>Pakistan's multi-million </a:t>
            </a:r>
            <a:r>
              <a:rPr lang="en-US" dirty="0" err="1"/>
              <a:t>rupes</a:t>
            </a:r>
            <a:r>
              <a:rPr lang="en-US" dirty="0"/>
              <a:t> equine market heavily relies on unverified social media channels (Facebook, WhatsApp) and distant physical mandis. This unorganized setup leads to a massive waste of time and money, as buyers frequently travel long distances, pay unfair middleman commissions, and fall victim to fake pedigree claims and non-transparent pricing. Furthermore, the complete absence of a centralized, verified digital platform leaves breeders and buyers without transparent live bidding, certified stud breeding records, or timely emergency veterinary guidance, often causing fatal delays in treating critical equine diseases like Anuria and Choke etc.</a:t>
            </a:r>
          </a:p>
          <a:p>
            <a:pPr>
              <a:lnSpc>
                <a:spcPct val="130000"/>
              </a:lnSpc>
              <a:spcAft>
                <a:spcPts val="700"/>
              </a:spcAft>
            </a:pPr>
            <a:endParaRPr sz="1700" b="0" i="0" dirty="0">
              <a:solidFill>
                <a:srgbClr val="2C2C2C"/>
              </a:solidFill>
              <a:latin typeface="Calibri"/>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457200" y="256032"/>
            <a:ext cx="6949440" cy="553998"/>
          </a:xfrm>
          <a:prstGeom prst="rect">
            <a:avLst/>
          </a:prstGeom>
          <a:noFill/>
        </p:spPr>
        <p:txBody>
          <a:bodyPr wrap="square">
            <a:spAutoFit/>
          </a:bodyPr>
          <a:lstStyle/>
          <a:p>
            <a:r>
              <a:rPr sz="3000" b="1" i="0" dirty="0">
                <a:solidFill>
                  <a:srgbClr val="2E75B6"/>
                </a:solidFill>
                <a:latin typeface="Calibri Light"/>
              </a:rPr>
              <a:t>Literature Review</a:t>
            </a:r>
          </a:p>
        </p:txBody>
      </p:sp>
      <p:cxnSp>
        <p:nvCxnSpPr>
          <p:cNvPr id="3" name="Connector 2"/>
          <p:cNvCxnSpPr/>
          <p:nvPr/>
        </p:nvCxnSpPr>
        <p:spPr>
          <a:xfrm>
            <a:off x="457200" y="969264"/>
            <a:ext cx="8229600" cy="0"/>
          </a:xfrm>
          <a:prstGeom prst="line">
            <a:avLst/>
          </a:prstGeom>
          <a:ln w="12700">
            <a:solidFill>
              <a:srgbClr val="AAAAAA"/>
            </a:solidFill>
            <a:prstDash val="dash"/>
          </a:ln>
        </p:spPr>
        <p:style>
          <a:lnRef idx="2">
            <a:schemeClr val="accent1"/>
          </a:lnRef>
          <a:fillRef idx="0">
            <a:schemeClr val="accent1"/>
          </a:fillRef>
          <a:effectRef idx="1">
            <a:schemeClr val="accent1"/>
          </a:effectRef>
          <a:fontRef idx="minor">
            <a:schemeClr val="tx1"/>
          </a:fontRef>
        </p:style>
      </p:cxnSp>
      <p:pic>
        <p:nvPicPr>
          <p:cNvPr id="4" name="Picture 3" descr="mul_logo.png"/>
          <p:cNvPicPr>
            <a:picLocks noChangeAspect="1"/>
          </p:cNvPicPr>
          <p:nvPr/>
        </p:nvPicPr>
        <p:blipFill>
          <a:blip r:embed="rId2"/>
          <a:stretch>
            <a:fillRect/>
          </a:stretch>
        </p:blipFill>
        <p:spPr>
          <a:xfrm>
            <a:off x="7882127" y="201168"/>
            <a:ext cx="804672" cy="804672"/>
          </a:xfrm>
          <a:prstGeom prst="rect">
            <a:avLst/>
          </a:prstGeom>
        </p:spPr>
      </p:pic>
      <p:sp>
        <p:nvSpPr>
          <p:cNvPr id="9" name="TextBox 8"/>
          <p:cNvSpPr txBox="1"/>
          <p:nvPr/>
        </p:nvSpPr>
        <p:spPr>
          <a:xfrm>
            <a:off x="548640" y="1645920"/>
            <a:ext cx="8138160" cy="3788858"/>
          </a:xfrm>
          <a:prstGeom prst="rect">
            <a:avLst/>
          </a:prstGeom>
          <a:noFill/>
        </p:spPr>
        <p:txBody>
          <a:bodyPr wrap="square">
            <a:spAutoFit/>
          </a:bodyPr>
          <a:lstStyle/>
          <a:p>
            <a:pPr algn="just">
              <a:lnSpc>
                <a:spcPct val="150000"/>
              </a:lnSpc>
              <a:spcAft>
                <a:spcPts val="700"/>
              </a:spcAft>
            </a:pPr>
            <a:r>
              <a:rPr lang="en-US" dirty="0"/>
              <a:t>"During our literature review, our primary inspiration came from practical, real-world experience with stud farms in our hometown, where we observed the pain points of manual breeding records and traditional trading. We also analyzed platforms like OLX and Pak Wheels for their classifieds search models, and global portals like Equine.com</a:t>
            </a:r>
            <a:br>
              <a:rPr lang="en-US" dirty="0"/>
            </a:br>
            <a:r>
              <a:rPr lang="en-US" dirty="0"/>
              <a:t>However, we identified major gaps: existing Pakistani classifieds completely lack biological horse attributes like sire/dam pedigree and height in hands, while international sites ignore local Pakistani breeds and healthcare needs. Our key research finding is that no single platform exists in Pakistan that unites verified trading, live bidding, stud farm management, and AI veterinary triage in one place."</a:t>
            </a:r>
            <a:endParaRPr lang="en-US" sz="1600" b="0" dirty="0">
              <a:solidFill>
                <a:srgbClr val="2C2C2C"/>
              </a:solidFill>
              <a:latin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457200" y="256032"/>
            <a:ext cx="6949440" cy="553998"/>
          </a:xfrm>
          <a:prstGeom prst="rect">
            <a:avLst/>
          </a:prstGeom>
          <a:noFill/>
        </p:spPr>
        <p:txBody>
          <a:bodyPr wrap="square">
            <a:spAutoFit/>
          </a:bodyPr>
          <a:lstStyle/>
          <a:p>
            <a:r>
              <a:rPr sz="3000" b="1" i="0" dirty="0">
                <a:solidFill>
                  <a:srgbClr val="2E75B6"/>
                </a:solidFill>
                <a:latin typeface="Calibri Light"/>
              </a:rPr>
              <a:t>Gap Analysis</a:t>
            </a:r>
          </a:p>
        </p:txBody>
      </p:sp>
      <p:cxnSp>
        <p:nvCxnSpPr>
          <p:cNvPr id="3" name="Connector 2"/>
          <p:cNvCxnSpPr/>
          <p:nvPr/>
        </p:nvCxnSpPr>
        <p:spPr>
          <a:xfrm>
            <a:off x="457200" y="969264"/>
            <a:ext cx="8229600" cy="0"/>
          </a:xfrm>
          <a:prstGeom prst="line">
            <a:avLst/>
          </a:prstGeom>
          <a:ln w="12700">
            <a:solidFill>
              <a:srgbClr val="AAAAAA"/>
            </a:solidFill>
            <a:prstDash val="dash"/>
          </a:ln>
        </p:spPr>
        <p:style>
          <a:lnRef idx="2">
            <a:schemeClr val="accent1"/>
          </a:lnRef>
          <a:fillRef idx="0">
            <a:schemeClr val="accent1"/>
          </a:fillRef>
          <a:effectRef idx="1">
            <a:schemeClr val="accent1"/>
          </a:effectRef>
          <a:fontRef idx="minor">
            <a:schemeClr val="tx1"/>
          </a:fontRef>
        </p:style>
      </p:cxnSp>
      <p:pic>
        <p:nvPicPr>
          <p:cNvPr id="4" name="Picture 3" descr="mul_logo.png"/>
          <p:cNvPicPr>
            <a:picLocks noChangeAspect="1"/>
          </p:cNvPicPr>
          <p:nvPr/>
        </p:nvPicPr>
        <p:blipFill>
          <a:blip r:embed="rId2"/>
          <a:stretch>
            <a:fillRect/>
          </a:stretch>
        </p:blipFill>
        <p:spPr>
          <a:xfrm>
            <a:off x="7882127" y="201168"/>
            <a:ext cx="804672" cy="804672"/>
          </a:xfrm>
          <a:prstGeom prst="rect">
            <a:avLst/>
          </a:prstGeom>
        </p:spPr>
      </p:pic>
      <p:graphicFrame>
        <p:nvGraphicFramePr>
          <p:cNvPr id="8" name="Table 7"/>
          <p:cNvGraphicFramePr>
            <a:graphicFrameLocks noGrp="1"/>
          </p:cNvGraphicFramePr>
          <p:nvPr>
            <p:extLst>
              <p:ext uri="{D42A27DB-BD31-4B8C-83A1-F6EECF244321}">
                <p14:modId xmlns:p14="http://schemas.microsoft.com/office/powerpoint/2010/main" val="2962813914"/>
              </p:ext>
            </p:extLst>
          </p:nvPr>
        </p:nvGraphicFramePr>
        <p:xfrm>
          <a:off x="-1" y="1216057"/>
          <a:ext cx="9144001" cy="4871926"/>
        </p:xfrm>
        <a:graphic>
          <a:graphicData uri="http://schemas.openxmlformats.org/drawingml/2006/table">
            <a:tbl>
              <a:tblPr firstRow="1" bandRow="1">
                <a:tableStyleId>{5C22544A-7EE6-4342-B048-85BDC9FD1C3A}</a:tableStyleId>
              </a:tblPr>
              <a:tblGrid>
                <a:gridCol w="3032684">
                  <a:extLst>
                    <a:ext uri="{9D8B030D-6E8A-4147-A177-3AD203B41FA5}">
                      <a16:colId xmlns:a16="http://schemas.microsoft.com/office/drawing/2014/main" val="20000"/>
                    </a:ext>
                  </a:extLst>
                </a:gridCol>
                <a:gridCol w="1378493">
                  <a:extLst>
                    <a:ext uri="{9D8B030D-6E8A-4147-A177-3AD203B41FA5}">
                      <a16:colId xmlns:a16="http://schemas.microsoft.com/office/drawing/2014/main" val="20001"/>
                    </a:ext>
                  </a:extLst>
                </a:gridCol>
                <a:gridCol w="1424442">
                  <a:extLst>
                    <a:ext uri="{9D8B030D-6E8A-4147-A177-3AD203B41FA5}">
                      <a16:colId xmlns:a16="http://schemas.microsoft.com/office/drawing/2014/main" val="20002"/>
                    </a:ext>
                  </a:extLst>
                </a:gridCol>
                <a:gridCol w="1194694">
                  <a:extLst>
                    <a:ext uri="{9D8B030D-6E8A-4147-A177-3AD203B41FA5}">
                      <a16:colId xmlns:a16="http://schemas.microsoft.com/office/drawing/2014/main" val="20003"/>
                    </a:ext>
                  </a:extLst>
                </a:gridCol>
                <a:gridCol w="2113688">
                  <a:extLst>
                    <a:ext uri="{9D8B030D-6E8A-4147-A177-3AD203B41FA5}">
                      <a16:colId xmlns:a16="http://schemas.microsoft.com/office/drawing/2014/main" val="20004"/>
                    </a:ext>
                  </a:extLst>
                </a:gridCol>
              </a:tblGrid>
              <a:tr h="719334">
                <a:tc>
                  <a:txBody>
                    <a:bodyPr/>
                    <a:lstStyle/>
                    <a:p>
                      <a:pPr indent="0" algn="l">
                        <a:lnSpc>
                          <a:spcPct val="150000"/>
                        </a:lnSpc>
                        <a:buNone/>
                      </a:pPr>
                      <a:r>
                        <a:rPr lang="en-US" sz="976" b="0" i="0">
                          <a:solidFill>
                            <a:srgbClr val="CCCCCC"/>
                          </a:solidFill>
                          <a:effectLst/>
                          <a:latin typeface="Segoe WPC"/>
                        </a:rPr>
                        <a:t>Feature</a:t>
                      </a:r>
                    </a:p>
                  </a:txBody>
                  <a:tcPr anchor="ctr">
                    <a:solidFill>
                      <a:srgbClr val="2E75B6"/>
                    </a:solidFill>
                  </a:tcPr>
                </a:tc>
                <a:tc>
                  <a:txBody>
                    <a:bodyPr/>
                    <a:lstStyle/>
                    <a:p>
                      <a:pPr indent="0" algn="ctr">
                        <a:lnSpc>
                          <a:spcPct val="150000"/>
                        </a:lnSpc>
                        <a:buNone/>
                      </a:pPr>
                      <a:r>
                        <a:rPr lang="en-US" sz="976" b="0" i="0">
                          <a:solidFill>
                            <a:srgbClr val="CCCCCC"/>
                          </a:solidFill>
                          <a:effectLst/>
                          <a:latin typeface="Segoe WPC"/>
                        </a:rPr>
                        <a:t>OLX / PakWheels</a:t>
                      </a:r>
                    </a:p>
                  </a:txBody>
                  <a:tcPr anchor="ctr">
                    <a:solidFill>
                      <a:srgbClr val="2E75B6"/>
                    </a:solidFill>
                  </a:tcPr>
                </a:tc>
                <a:tc>
                  <a:txBody>
                    <a:bodyPr/>
                    <a:lstStyle/>
                    <a:p>
                      <a:pPr indent="0" algn="ctr">
                        <a:lnSpc>
                          <a:spcPct val="150000"/>
                        </a:lnSpc>
                        <a:buNone/>
                      </a:pPr>
                      <a:r>
                        <a:rPr lang="en-US" sz="976" b="0" i="0">
                          <a:solidFill>
                            <a:srgbClr val="CCCCCC"/>
                          </a:solidFill>
                          <a:effectLst/>
                          <a:latin typeface="Segoe WPC"/>
                        </a:rPr>
                        <a:t>Facebook Groups</a:t>
                      </a:r>
                    </a:p>
                  </a:txBody>
                  <a:tcPr anchor="ctr">
                    <a:solidFill>
                      <a:srgbClr val="2E75B6"/>
                    </a:solidFill>
                  </a:tcPr>
                </a:tc>
                <a:tc>
                  <a:txBody>
                    <a:bodyPr/>
                    <a:lstStyle/>
                    <a:p>
                      <a:pPr indent="0" algn="ctr">
                        <a:lnSpc>
                          <a:spcPct val="150000"/>
                        </a:lnSpc>
                        <a:buNone/>
                      </a:pPr>
                      <a:r>
                        <a:rPr lang="en-US" sz="976" b="0" i="0">
                          <a:solidFill>
                            <a:srgbClr val="CCCCCC"/>
                          </a:solidFill>
                          <a:effectLst/>
                          <a:latin typeface="Segoe WPC"/>
                        </a:rPr>
                        <a:t>Local Mandis</a:t>
                      </a:r>
                    </a:p>
                  </a:txBody>
                  <a:tcPr anchor="ctr">
                    <a:solidFill>
                      <a:srgbClr val="2E75B6"/>
                    </a:solidFill>
                  </a:tcPr>
                </a:tc>
                <a:tc>
                  <a:txBody>
                    <a:bodyPr/>
                    <a:lstStyle/>
                    <a:p>
                      <a:pPr indent="0" algn="ctr">
                        <a:lnSpc>
                          <a:spcPct val="150000"/>
                        </a:lnSpc>
                        <a:buNone/>
                      </a:pPr>
                      <a:r>
                        <a:rPr lang="en-US" sz="976" b="0" i="0">
                          <a:solidFill>
                            <a:srgbClr val="CCCCCC"/>
                          </a:solidFill>
                          <a:effectLst/>
                          <a:latin typeface="Segoe WPC"/>
                        </a:rPr>
                        <a:t>HorseSquare Pakistan</a:t>
                      </a:r>
                    </a:p>
                  </a:txBody>
                  <a:tcPr anchor="ctr">
                    <a:solidFill>
                      <a:srgbClr val="2E75B6"/>
                    </a:solidFill>
                  </a:tcPr>
                </a:tc>
                <a:extLst>
                  <a:ext uri="{0D108BD9-81ED-4DB2-BD59-A6C34878D82A}">
                    <a16:rowId xmlns:a16="http://schemas.microsoft.com/office/drawing/2014/main" val="10000"/>
                  </a:ext>
                </a:extLst>
              </a:tr>
              <a:tr h="519074">
                <a:tc>
                  <a:txBody>
                    <a:bodyPr/>
                    <a:lstStyle/>
                    <a:p>
                      <a:pPr indent="0" algn="l">
                        <a:lnSpc>
                          <a:spcPct val="150000"/>
                        </a:lnSpc>
                        <a:buNone/>
                      </a:pPr>
                      <a:r>
                        <a:rPr lang="en-US" sz="976" b="1" i="0" dirty="0">
                          <a:solidFill>
                            <a:schemeClr val="tx1"/>
                          </a:solidFill>
                          <a:effectLst/>
                          <a:latin typeface="Segoe WPC"/>
                        </a:rPr>
                        <a:t>Verified Horse Lineage (Parents/Pedigree)</a:t>
                      </a:r>
                      <a:endParaRPr lang="en-US" sz="976" b="0" i="0" dirty="0">
                        <a:solidFill>
                          <a:schemeClr val="tx1"/>
                        </a:solidFill>
                        <a:effectLst/>
                        <a:latin typeface="Segoe WPC"/>
                      </a:endParaRPr>
                    </a:p>
                  </a:txBody>
                  <a:tcPr anchor="ctr">
                    <a:solidFill>
                      <a:srgbClr val="FFFFFF"/>
                    </a:solidFill>
                  </a:tcPr>
                </a:tc>
                <a:tc>
                  <a:txBody>
                    <a:bodyPr/>
                    <a:lstStyle/>
                    <a:p>
                      <a:pPr indent="0" algn="ctr">
                        <a:lnSpc>
                          <a:spcPct val="150000"/>
                        </a:lnSpc>
                        <a:buNone/>
                      </a:pPr>
                      <a:r>
                        <a:rPr lang="en-US" sz="976" b="0" i="0">
                          <a:solidFill>
                            <a:schemeClr val="tx1"/>
                          </a:solidFill>
                          <a:effectLst/>
                          <a:latin typeface="Segoe WPC"/>
                        </a:rPr>
                        <a:t>No</a:t>
                      </a:r>
                    </a:p>
                  </a:txBody>
                  <a:tcPr anchor="ctr">
                    <a:solidFill>
                      <a:srgbClr val="FFFFFF"/>
                    </a:solidFill>
                  </a:tcPr>
                </a:tc>
                <a:tc>
                  <a:txBody>
                    <a:bodyPr/>
                    <a:lstStyle/>
                    <a:p>
                      <a:pPr indent="0" algn="ctr">
                        <a:lnSpc>
                          <a:spcPct val="150000"/>
                        </a:lnSpc>
                        <a:buNone/>
                      </a:pPr>
                      <a:r>
                        <a:rPr lang="en-US" sz="976" b="0" i="0">
                          <a:solidFill>
                            <a:schemeClr val="tx1"/>
                          </a:solidFill>
                          <a:effectLst/>
                          <a:latin typeface="Segoe WPC"/>
                        </a:rPr>
                        <a:t>No</a:t>
                      </a:r>
                    </a:p>
                  </a:txBody>
                  <a:tcPr anchor="ctr">
                    <a:solidFill>
                      <a:srgbClr val="FFFFFF"/>
                    </a:solidFill>
                  </a:tcPr>
                </a:tc>
                <a:tc>
                  <a:txBody>
                    <a:bodyPr/>
                    <a:lstStyle/>
                    <a:p>
                      <a:pPr indent="0" algn="ctr">
                        <a:lnSpc>
                          <a:spcPct val="150000"/>
                        </a:lnSpc>
                        <a:buNone/>
                      </a:pPr>
                      <a:r>
                        <a:rPr lang="en-US" sz="976" b="0" i="0">
                          <a:solidFill>
                            <a:schemeClr val="tx1"/>
                          </a:solidFill>
                          <a:effectLst/>
                          <a:latin typeface="Segoe WPC"/>
                        </a:rPr>
                        <a:t>Word-of-Mouth</a:t>
                      </a:r>
                    </a:p>
                  </a:txBody>
                  <a:tcPr anchor="ctr">
                    <a:solidFill>
                      <a:srgbClr val="FFFFFF"/>
                    </a:solidFill>
                  </a:tcPr>
                </a:tc>
                <a:tc>
                  <a:txBody>
                    <a:bodyPr/>
                    <a:lstStyle/>
                    <a:p>
                      <a:pPr indent="0" algn="ctr">
                        <a:lnSpc>
                          <a:spcPct val="150000"/>
                        </a:lnSpc>
                        <a:buNone/>
                      </a:pPr>
                      <a:r>
                        <a:rPr lang="en-US" sz="976" b="1" i="0">
                          <a:solidFill>
                            <a:schemeClr val="tx1"/>
                          </a:solidFill>
                          <a:effectLst/>
                          <a:latin typeface="Segoe WPC"/>
                        </a:rPr>
                        <a:t>Yes</a:t>
                      </a:r>
                      <a:endParaRPr lang="en-US" sz="976" b="0" i="0">
                        <a:solidFill>
                          <a:schemeClr val="tx1"/>
                        </a:solidFill>
                        <a:effectLst/>
                        <a:latin typeface="Segoe WPC"/>
                      </a:endParaRPr>
                    </a:p>
                  </a:txBody>
                  <a:tcPr anchor="ctr">
                    <a:solidFill>
                      <a:srgbClr val="FFFFFF"/>
                    </a:solidFill>
                  </a:tcPr>
                </a:tc>
                <a:extLst>
                  <a:ext uri="{0D108BD9-81ED-4DB2-BD59-A6C34878D82A}">
                    <a16:rowId xmlns:a16="http://schemas.microsoft.com/office/drawing/2014/main" val="10001"/>
                  </a:ext>
                </a:extLst>
              </a:tr>
              <a:tr h="519074">
                <a:tc>
                  <a:txBody>
                    <a:bodyPr/>
                    <a:lstStyle/>
                    <a:p>
                      <a:pPr indent="0" algn="l">
                        <a:lnSpc>
                          <a:spcPct val="150000"/>
                        </a:lnSpc>
                        <a:buNone/>
                      </a:pPr>
                      <a:r>
                        <a:rPr lang="en-US" sz="976" b="1" i="0">
                          <a:solidFill>
                            <a:schemeClr val="tx1"/>
                          </a:solidFill>
                          <a:effectLst/>
                          <a:latin typeface="Segoe WPC"/>
                        </a:rPr>
                        <a:t>Live Online Horse Bidding &amp; Auctions</a:t>
                      </a:r>
                      <a:endParaRPr lang="en-US" sz="976" b="0" i="0">
                        <a:solidFill>
                          <a:schemeClr val="tx1"/>
                        </a:solidFill>
                        <a:effectLst/>
                        <a:latin typeface="Segoe WPC"/>
                      </a:endParaRPr>
                    </a:p>
                  </a:txBody>
                  <a:tcPr anchor="ctr">
                    <a:solidFill>
                      <a:srgbClr val="EBF3FB"/>
                    </a:solidFill>
                  </a:tcPr>
                </a:tc>
                <a:tc>
                  <a:txBody>
                    <a:bodyPr/>
                    <a:lstStyle/>
                    <a:p>
                      <a:pPr indent="0" algn="ctr">
                        <a:lnSpc>
                          <a:spcPct val="150000"/>
                        </a:lnSpc>
                        <a:buNone/>
                      </a:pPr>
                      <a:r>
                        <a:rPr lang="en-US" sz="976" b="0" i="0">
                          <a:solidFill>
                            <a:schemeClr val="tx1"/>
                          </a:solidFill>
                          <a:effectLst/>
                          <a:latin typeface="Segoe WPC"/>
                        </a:rPr>
                        <a:t>No</a:t>
                      </a:r>
                    </a:p>
                  </a:txBody>
                  <a:tcPr anchor="ctr">
                    <a:solidFill>
                      <a:srgbClr val="EBF3FB"/>
                    </a:solidFill>
                  </a:tcPr>
                </a:tc>
                <a:tc>
                  <a:txBody>
                    <a:bodyPr/>
                    <a:lstStyle/>
                    <a:p>
                      <a:pPr indent="0" algn="ctr">
                        <a:lnSpc>
                          <a:spcPct val="150000"/>
                        </a:lnSpc>
                        <a:buNone/>
                      </a:pPr>
                      <a:r>
                        <a:rPr lang="en-US" sz="976" b="0" i="0">
                          <a:solidFill>
                            <a:schemeClr val="tx1"/>
                          </a:solidFill>
                          <a:effectLst/>
                          <a:latin typeface="Segoe WPC"/>
                        </a:rPr>
                        <a:t>No</a:t>
                      </a:r>
                    </a:p>
                  </a:txBody>
                  <a:tcPr anchor="ctr">
                    <a:solidFill>
                      <a:srgbClr val="EBF3FB"/>
                    </a:solidFill>
                  </a:tcPr>
                </a:tc>
                <a:tc>
                  <a:txBody>
                    <a:bodyPr/>
                    <a:lstStyle/>
                    <a:p>
                      <a:pPr indent="0" algn="ctr">
                        <a:lnSpc>
                          <a:spcPct val="150000"/>
                        </a:lnSpc>
                        <a:buNone/>
                      </a:pPr>
                      <a:r>
                        <a:rPr lang="en-US" sz="976" b="0" i="0">
                          <a:solidFill>
                            <a:schemeClr val="tx1"/>
                          </a:solidFill>
                          <a:effectLst/>
                          <a:latin typeface="Segoe WPC"/>
                        </a:rPr>
                        <a:t>Physical Only</a:t>
                      </a:r>
                    </a:p>
                  </a:txBody>
                  <a:tcPr anchor="ctr">
                    <a:solidFill>
                      <a:srgbClr val="EBF3FB"/>
                    </a:solidFill>
                  </a:tcPr>
                </a:tc>
                <a:tc>
                  <a:txBody>
                    <a:bodyPr/>
                    <a:lstStyle/>
                    <a:p>
                      <a:pPr indent="0" algn="ctr">
                        <a:lnSpc>
                          <a:spcPct val="150000"/>
                        </a:lnSpc>
                        <a:buNone/>
                      </a:pPr>
                      <a:r>
                        <a:rPr lang="en-US" sz="976" b="1" i="0">
                          <a:solidFill>
                            <a:schemeClr val="tx1"/>
                          </a:solidFill>
                          <a:effectLst/>
                          <a:latin typeface="Segoe WPC"/>
                        </a:rPr>
                        <a:t>Yes</a:t>
                      </a:r>
                      <a:endParaRPr lang="en-US" sz="976" b="0" i="0">
                        <a:solidFill>
                          <a:schemeClr val="tx1"/>
                        </a:solidFill>
                        <a:effectLst/>
                        <a:latin typeface="Segoe WPC"/>
                      </a:endParaRPr>
                    </a:p>
                  </a:txBody>
                  <a:tcPr anchor="ctr">
                    <a:solidFill>
                      <a:srgbClr val="EBF3FB"/>
                    </a:solidFill>
                  </a:tcPr>
                </a:tc>
                <a:extLst>
                  <a:ext uri="{0D108BD9-81ED-4DB2-BD59-A6C34878D82A}">
                    <a16:rowId xmlns:a16="http://schemas.microsoft.com/office/drawing/2014/main" val="10002"/>
                  </a:ext>
                </a:extLst>
              </a:tr>
              <a:tr h="519074">
                <a:tc>
                  <a:txBody>
                    <a:bodyPr/>
                    <a:lstStyle/>
                    <a:p>
                      <a:pPr indent="0" algn="l">
                        <a:lnSpc>
                          <a:spcPct val="150000"/>
                        </a:lnSpc>
                        <a:buNone/>
                      </a:pPr>
                      <a:r>
                        <a:rPr lang="en-US" sz="976" b="1" i="0">
                          <a:solidFill>
                            <a:schemeClr val="tx1"/>
                          </a:solidFill>
                          <a:effectLst/>
                          <a:latin typeface="Segoe WPC"/>
                        </a:rPr>
                        <a:t>AI Doctor for Instant Horse Health Advice</a:t>
                      </a:r>
                      <a:endParaRPr lang="en-US" sz="976" b="0" i="0">
                        <a:solidFill>
                          <a:schemeClr val="tx1"/>
                        </a:solidFill>
                        <a:effectLst/>
                        <a:latin typeface="Segoe WPC"/>
                      </a:endParaRPr>
                    </a:p>
                  </a:txBody>
                  <a:tcPr anchor="ctr">
                    <a:solidFill>
                      <a:srgbClr val="FFFFFF"/>
                    </a:solidFill>
                  </a:tcPr>
                </a:tc>
                <a:tc>
                  <a:txBody>
                    <a:bodyPr/>
                    <a:lstStyle/>
                    <a:p>
                      <a:pPr indent="0" algn="ctr">
                        <a:lnSpc>
                          <a:spcPct val="150000"/>
                        </a:lnSpc>
                        <a:buNone/>
                      </a:pPr>
                      <a:r>
                        <a:rPr lang="en-US" sz="976" b="0" i="0">
                          <a:solidFill>
                            <a:schemeClr val="tx1"/>
                          </a:solidFill>
                          <a:effectLst/>
                          <a:latin typeface="Segoe WPC"/>
                        </a:rPr>
                        <a:t>No</a:t>
                      </a:r>
                    </a:p>
                  </a:txBody>
                  <a:tcPr anchor="ctr">
                    <a:solidFill>
                      <a:srgbClr val="FFFFFF"/>
                    </a:solidFill>
                  </a:tcPr>
                </a:tc>
                <a:tc>
                  <a:txBody>
                    <a:bodyPr/>
                    <a:lstStyle/>
                    <a:p>
                      <a:pPr indent="0" algn="ctr">
                        <a:lnSpc>
                          <a:spcPct val="150000"/>
                        </a:lnSpc>
                        <a:buNone/>
                      </a:pPr>
                      <a:r>
                        <a:rPr lang="en-US" sz="976" b="0" i="0">
                          <a:solidFill>
                            <a:schemeClr val="tx1"/>
                          </a:solidFill>
                          <a:effectLst/>
                          <a:latin typeface="Segoe WPC"/>
                        </a:rPr>
                        <a:t>No</a:t>
                      </a:r>
                    </a:p>
                  </a:txBody>
                  <a:tcPr anchor="ctr">
                    <a:solidFill>
                      <a:srgbClr val="FFFFFF"/>
                    </a:solidFill>
                  </a:tcPr>
                </a:tc>
                <a:tc>
                  <a:txBody>
                    <a:bodyPr/>
                    <a:lstStyle/>
                    <a:p>
                      <a:pPr indent="0" algn="ctr">
                        <a:lnSpc>
                          <a:spcPct val="150000"/>
                        </a:lnSpc>
                        <a:buNone/>
                      </a:pPr>
                      <a:r>
                        <a:rPr lang="en-US" sz="976" b="0" i="0">
                          <a:solidFill>
                            <a:schemeClr val="tx1"/>
                          </a:solidFill>
                          <a:effectLst/>
                          <a:latin typeface="Segoe WPC"/>
                        </a:rPr>
                        <a:t>No</a:t>
                      </a:r>
                    </a:p>
                  </a:txBody>
                  <a:tcPr anchor="ctr">
                    <a:solidFill>
                      <a:srgbClr val="FFFFFF"/>
                    </a:solidFill>
                  </a:tcPr>
                </a:tc>
                <a:tc>
                  <a:txBody>
                    <a:bodyPr/>
                    <a:lstStyle/>
                    <a:p>
                      <a:pPr indent="0" algn="ctr">
                        <a:lnSpc>
                          <a:spcPct val="150000"/>
                        </a:lnSpc>
                        <a:buNone/>
                      </a:pPr>
                      <a:r>
                        <a:rPr lang="en-US" sz="976" b="1" i="0">
                          <a:solidFill>
                            <a:schemeClr val="tx1"/>
                          </a:solidFill>
                          <a:effectLst/>
                          <a:latin typeface="Segoe WPC"/>
                        </a:rPr>
                        <a:t>Yes</a:t>
                      </a:r>
                      <a:endParaRPr lang="en-US" sz="976" b="0" i="0">
                        <a:solidFill>
                          <a:schemeClr val="tx1"/>
                        </a:solidFill>
                        <a:effectLst/>
                        <a:latin typeface="Segoe WPC"/>
                      </a:endParaRPr>
                    </a:p>
                  </a:txBody>
                  <a:tcPr anchor="ctr">
                    <a:solidFill>
                      <a:srgbClr val="FFFFFF"/>
                    </a:solidFill>
                  </a:tcPr>
                </a:tc>
                <a:extLst>
                  <a:ext uri="{0D108BD9-81ED-4DB2-BD59-A6C34878D82A}">
                    <a16:rowId xmlns:a16="http://schemas.microsoft.com/office/drawing/2014/main" val="10003"/>
                  </a:ext>
                </a:extLst>
              </a:tr>
              <a:tr h="519074">
                <a:tc>
                  <a:txBody>
                    <a:bodyPr/>
                    <a:lstStyle/>
                    <a:p>
                      <a:pPr indent="0" algn="l">
                        <a:lnSpc>
                          <a:spcPct val="150000"/>
                        </a:lnSpc>
                        <a:buNone/>
                      </a:pPr>
                      <a:r>
                        <a:rPr lang="en-US" sz="976" b="1" i="0">
                          <a:solidFill>
                            <a:schemeClr val="tx1"/>
                          </a:solidFill>
                          <a:effectLst/>
                          <a:latin typeface="Segoe WPC"/>
                        </a:rPr>
                        <a:t>Horse Breeding &amp; Stud Booking</a:t>
                      </a:r>
                      <a:endParaRPr lang="en-US" sz="976" b="0" i="0">
                        <a:solidFill>
                          <a:schemeClr val="tx1"/>
                        </a:solidFill>
                        <a:effectLst/>
                        <a:latin typeface="Segoe WPC"/>
                      </a:endParaRPr>
                    </a:p>
                  </a:txBody>
                  <a:tcPr anchor="ctr">
                    <a:solidFill>
                      <a:srgbClr val="EBF3FB"/>
                    </a:solidFill>
                  </a:tcPr>
                </a:tc>
                <a:tc>
                  <a:txBody>
                    <a:bodyPr/>
                    <a:lstStyle/>
                    <a:p>
                      <a:pPr indent="0" algn="ctr">
                        <a:lnSpc>
                          <a:spcPct val="150000"/>
                        </a:lnSpc>
                        <a:buNone/>
                      </a:pPr>
                      <a:r>
                        <a:rPr lang="en-US" sz="976" b="0" i="0" dirty="0">
                          <a:solidFill>
                            <a:schemeClr val="tx1"/>
                          </a:solidFill>
                          <a:effectLst/>
                          <a:latin typeface="Segoe WPC"/>
                        </a:rPr>
                        <a:t>No</a:t>
                      </a:r>
                    </a:p>
                  </a:txBody>
                  <a:tcPr anchor="ctr">
                    <a:solidFill>
                      <a:srgbClr val="EBF3FB"/>
                    </a:solidFill>
                  </a:tcPr>
                </a:tc>
                <a:tc>
                  <a:txBody>
                    <a:bodyPr/>
                    <a:lstStyle/>
                    <a:p>
                      <a:pPr indent="0" algn="ctr">
                        <a:lnSpc>
                          <a:spcPct val="150000"/>
                        </a:lnSpc>
                        <a:buNone/>
                      </a:pPr>
                      <a:r>
                        <a:rPr lang="en-US" sz="976" b="0" i="0">
                          <a:solidFill>
                            <a:schemeClr val="tx1"/>
                          </a:solidFill>
                          <a:effectLst/>
                          <a:latin typeface="Segoe WPC"/>
                        </a:rPr>
                        <a:t>No</a:t>
                      </a:r>
                    </a:p>
                  </a:txBody>
                  <a:tcPr anchor="ctr">
                    <a:solidFill>
                      <a:srgbClr val="EBF3FB"/>
                    </a:solidFill>
                  </a:tcPr>
                </a:tc>
                <a:tc>
                  <a:txBody>
                    <a:bodyPr/>
                    <a:lstStyle/>
                    <a:p>
                      <a:pPr indent="0" algn="ctr">
                        <a:lnSpc>
                          <a:spcPct val="150000"/>
                        </a:lnSpc>
                        <a:buNone/>
                      </a:pPr>
                      <a:r>
                        <a:rPr lang="en-US" sz="976" b="0" i="0">
                          <a:solidFill>
                            <a:schemeClr val="tx1"/>
                          </a:solidFill>
                          <a:effectLst/>
                          <a:latin typeface="Segoe WPC"/>
                        </a:rPr>
                        <a:t>Disorganized</a:t>
                      </a:r>
                    </a:p>
                  </a:txBody>
                  <a:tcPr anchor="ctr">
                    <a:solidFill>
                      <a:srgbClr val="EBF3FB"/>
                    </a:solidFill>
                  </a:tcPr>
                </a:tc>
                <a:tc>
                  <a:txBody>
                    <a:bodyPr/>
                    <a:lstStyle/>
                    <a:p>
                      <a:pPr indent="0" algn="ctr">
                        <a:lnSpc>
                          <a:spcPct val="150000"/>
                        </a:lnSpc>
                        <a:buNone/>
                      </a:pPr>
                      <a:r>
                        <a:rPr lang="en-US" sz="976" b="1" i="0">
                          <a:solidFill>
                            <a:schemeClr val="tx1"/>
                          </a:solidFill>
                          <a:effectLst/>
                          <a:latin typeface="Segoe WPC"/>
                        </a:rPr>
                        <a:t>Yes</a:t>
                      </a:r>
                      <a:endParaRPr lang="en-US" sz="976" b="0" i="0">
                        <a:solidFill>
                          <a:schemeClr val="tx1"/>
                        </a:solidFill>
                        <a:effectLst/>
                        <a:latin typeface="Segoe WPC"/>
                      </a:endParaRPr>
                    </a:p>
                  </a:txBody>
                  <a:tcPr anchor="ctr">
                    <a:solidFill>
                      <a:srgbClr val="EBF3FB"/>
                    </a:solidFill>
                  </a:tcPr>
                </a:tc>
                <a:extLst>
                  <a:ext uri="{0D108BD9-81ED-4DB2-BD59-A6C34878D82A}">
                    <a16:rowId xmlns:a16="http://schemas.microsoft.com/office/drawing/2014/main" val="10004"/>
                  </a:ext>
                </a:extLst>
              </a:tr>
              <a:tr h="519074">
                <a:tc>
                  <a:txBody>
                    <a:bodyPr/>
                    <a:lstStyle/>
                    <a:p>
                      <a:pPr indent="0" algn="l">
                        <a:lnSpc>
                          <a:spcPct val="150000"/>
                        </a:lnSpc>
                        <a:buNone/>
                      </a:pPr>
                      <a:r>
                        <a:rPr lang="en-US" sz="976" b="1" i="0">
                          <a:solidFill>
                            <a:schemeClr val="tx1"/>
                          </a:solidFill>
                          <a:effectLst/>
                          <a:latin typeface="Segoe WPC"/>
                        </a:rPr>
                        <a:t>Riding School Lesson &amp; Trial Booking</a:t>
                      </a:r>
                      <a:endParaRPr lang="en-US" sz="976" b="0" i="0">
                        <a:solidFill>
                          <a:schemeClr val="tx1"/>
                        </a:solidFill>
                        <a:effectLst/>
                        <a:latin typeface="Segoe WPC"/>
                      </a:endParaRPr>
                    </a:p>
                  </a:txBody>
                  <a:tcPr anchor="ctr">
                    <a:solidFill>
                      <a:srgbClr val="FFFFFF"/>
                    </a:solidFill>
                  </a:tcPr>
                </a:tc>
                <a:tc>
                  <a:txBody>
                    <a:bodyPr/>
                    <a:lstStyle/>
                    <a:p>
                      <a:pPr indent="0" algn="ctr">
                        <a:lnSpc>
                          <a:spcPct val="150000"/>
                        </a:lnSpc>
                        <a:buNone/>
                      </a:pPr>
                      <a:r>
                        <a:rPr lang="en-US" sz="976" b="0" i="0">
                          <a:solidFill>
                            <a:schemeClr val="tx1"/>
                          </a:solidFill>
                          <a:effectLst/>
                          <a:latin typeface="Segoe WPC"/>
                        </a:rPr>
                        <a:t>No</a:t>
                      </a:r>
                    </a:p>
                  </a:txBody>
                  <a:tcPr anchor="ctr">
                    <a:solidFill>
                      <a:srgbClr val="FFFFFF"/>
                    </a:solidFill>
                  </a:tcPr>
                </a:tc>
                <a:tc>
                  <a:txBody>
                    <a:bodyPr/>
                    <a:lstStyle/>
                    <a:p>
                      <a:pPr indent="0" algn="ctr">
                        <a:lnSpc>
                          <a:spcPct val="150000"/>
                        </a:lnSpc>
                        <a:buNone/>
                      </a:pPr>
                      <a:r>
                        <a:rPr lang="en-US" sz="976" b="0" i="0">
                          <a:solidFill>
                            <a:schemeClr val="tx1"/>
                          </a:solidFill>
                          <a:effectLst/>
                          <a:latin typeface="Segoe WPC"/>
                        </a:rPr>
                        <a:t>No</a:t>
                      </a:r>
                    </a:p>
                  </a:txBody>
                  <a:tcPr anchor="ctr">
                    <a:solidFill>
                      <a:srgbClr val="FFFFFF"/>
                    </a:solidFill>
                  </a:tcPr>
                </a:tc>
                <a:tc>
                  <a:txBody>
                    <a:bodyPr/>
                    <a:lstStyle/>
                    <a:p>
                      <a:pPr indent="0" algn="ctr">
                        <a:lnSpc>
                          <a:spcPct val="150000"/>
                        </a:lnSpc>
                        <a:buNone/>
                      </a:pPr>
                      <a:r>
                        <a:rPr lang="en-US" sz="976" b="0" i="0">
                          <a:solidFill>
                            <a:schemeClr val="tx1"/>
                          </a:solidFill>
                          <a:effectLst/>
                          <a:latin typeface="Segoe WPC"/>
                        </a:rPr>
                        <a:t>No</a:t>
                      </a:r>
                    </a:p>
                  </a:txBody>
                  <a:tcPr anchor="ctr">
                    <a:solidFill>
                      <a:srgbClr val="FFFFFF"/>
                    </a:solidFill>
                  </a:tcPr>
                </a:tc>
                <a:tc>
                  <a:txBody>
                    <a:bodyPr/>
                    <a:lstStyle/>
                    <a:p>
                      <a:pPr indent="0" algn="ctr">
                        <a:lnSpc>
                          <a:spcPct val="150000"/>
                        </a:lnSpc>
                        <a:buNone/>
                      </a:pPr>
                      <a:r>
                        <a:rPr lang="en-US" sz="976" b="1" i="0">
                          <a:solidFill>
                            <a:schemeClr val="tx1"/>
                          </a:solidFill>
                          <a:effectLst/>
                          <a:latin typeface="Segoe WPC"/>
                        </a:rPr>
                        <a:t>Yes</a:t>
                      </a:r>
                      <a:endParaRPr lang="en-US" sz="976" b="0" i="0">
                        <a:solidFill>
                          <a:schemeClr val="tx1"/>
                        </a:solidFill>
                        <a:effectLst/>
                        <a:latin typeface="Segoe WPC"/>
                      </a:endParaRPr>
                    </a:p>
                  </a:txBody>
                  <a:tcPr anchor="ctr">
                    <a:solidFill>
                      <a:srgbClr val="FFFFFF"/>
                    </a:solidFill>
                  </a:tcPr>
                </a:tc>
                <a:extLst>
                  <a:ext uri="{0D108BD9-81ED-4DB2-BD59-A6C34878D82A}">
                    <a16:rowId xmlns:a16="http://schemas.microsoft.com/office/drawing/2014/main" val="10005"/>
                  </a:ext>
                </a:extLst>
              </a:tr>
              <a:tr h="519074">
                <a:tc>
                  <a:txBody>
                    <a:bodyPr/>
                    <a:lstStyle/>
                    <a:p>
                      <a:pPr indent="0" algn="l">
                        <a:lnSpc>
                          <a:spcPct val="150000"/>
                        </a:lnSpc>
                        <a:buNone/>
                      </a:pPr>
                      <a:r>
                        <a:rPr lang="en-US" sz="976" b="1" i="0">
                          <a:solidFill>
                            <a:schemeClr val="tx1"/>
                          </a:solidFill>
                          <a:effectLst/>
                          <a:latin typeface="Segoe WPC"/>
                        </a:rPr>
                        <a:t>Admin Check to Prevent Scams &amp; Fake Ads</a:t>
                      </a:r>
                      <a:endParaRPr lang="en-US" sz="976" b="0" i="0">
                        <a:solidFill>
                          <a:schemeClr val="tx1"/>
                        </a:solidFill>
                        <a:effectLst/>
                        <a:latin typeface="Segoe WPC"/>
                      </a:endParaRPr>
                    </a:p>
                  </a:txBody>
                  <a:tcPr anchor="ctr">
                    <a:solidFill>
                      <a:srgbClr val="EBF3FB"/>
                    </a:solidFill>
                  </a:tcPr>
                </a:tc>
                <a:tc>
                  <a:txBody>
                    <a:bodyPr/>
                    <a:lstStyle/>
                    <a:p>
                      <a:pPr indent="0" algn="ctr">
                        <a:lnSpc>
                          <a:spcPct val="150000"/>
                        </a:lnSpc>
                        <a:buNone/>
                      </a:pPr>
                      <a:r>
                        <a:rPr lang="en-US" sz="976" b="0" i="0">
                          <a:solidFill>
                            <a:schemeClr val="tx1"/>
                          </a:solidFill>
                          <a:effectLst/>
                          <a:latin typeface="Segoe WPC"/>
                        </a:rPr>
                        <a:t>Partial</a:t>
                      </a:r>
                    </a:p>
                  </a:txBody>
                  <a:tcPr anchor="ctr">
                    <a:solidFill>
                      <a:srgbClr val="EBF3FB"/>
                    </a:solidFill>
                  </a:tcPr>
                </a:tc>
                <a:tc>
                  <a:txBody>
                    <a:bodyPr/>
                    <a:lstStyle/>
                    <a:p>
                      <a:pPr indent="0" algn="ctr">
                        <a:lnSpc>
                          <a:spcPct val="150000"/>
                        </a:lnSpc>
                        <a:buNone/>
                      </a:pPr>
                      <a:r>
                        <a:rPr lang="en-US" sz="976" b="0" i="0">
                          <a:solidFill>
                            <a:schemeClr val="tx1"/>
                          </a:solidFill>
                          <a:effectLst/>
                          <a:latin typeface="Segoe WPC"/>
                        </a:rPr>
                        <a:t>No</a:t>
                      </a:r>
                    </a:p>
                  </a:txBody>
                  <a:tcPr anchor="ctr">
                    <a:solidFill>
                      <a:srgbClr val="EBF3FB"/>
                    </a:solidFill>
                  </a:tcPr>
                </a:tc>
                <a:tc>
                  <a:txBody>
                    <a:bodyPr/>
                    <a:lstStyle/>
                    <a:p>
                      <a:pPr indent="0" algn="ctr">
                        <a:lnSpc>
                          <a:spcPct val="150000"/>
                        </a:lnSpc>
                        <a:buNone/>
                      </a:pPr>
                      <a:r>
                        <a:rPr lang="en-US" sz="976" b="0" i="0">
                          <a:solidFill>
                            <a:schemeClr val="tx1"/>
                          </a:solidFill>
                          <a:effectLst/>
                          <a:latin typeface="Segoe WPC"/>
                        </a:rPr>
                        <a:t>No</a:t>
                      </a:r>
                    </a:p>
                  </a:txBody>
                  <a:tcPr anchor="ctr">
                    <a:solidFill>
                      <a:srgbClr val="EBF3FB"/>
                    </a:solidFill>
                  </a:tcPr>
                </a:tc>
                <a:tc>
                  <a:txBody>
                    <a:bodyPr/>
                    <a:lstStyle/>
                    <a:p>
                      <a:pPr indent="0" algn="ctr">
                        <a:lnSpc>
                          <a:spcPct val="150000"/>
                        </a:lnSpc>
                        <a:buNone/>
                      </a:pPr>
                      <a:r>
                        <a:rPr lang="en-US" sz="976" b="1" i="0">
                          <a:solidFill>
                            <a:schemeClr val="tx1"/>
                          </a:solidFill>
                          <a:effectLst/>
                          <a:latin typeface="Segoe WPC"/>
                        </a:rPr>
                        <a:t>Yes</a:t>
                      </a:r>
                      <a:endParaRPr lang="en-US" sz="976" b="0" i="0">
                        <a:solidFill>
                          <a:schemeClr val="tx1"/>
                        </a:solidFill>
                        <a:effectLst/>
                        <a:latin typeface="Segoe WPC"/>
                      </a:endParaRPr>
                    </a:p>
                  </a:txBody>
                  <a:tcPr anchor="ctr">
                    <a:solidFill>
                      <a:srgbClr val="EBF3FB"/>
                    </a:solidFill>
                  </a:tcPr>
                </a:tc>
                <a:extLst>
                  <a:ext uri="{0D108BD9-81ED-4DB2-BD59-A6C34878D82A}">
                    <a16:rowId xmlns:a16="http://schemas.microsoft.com/office/drawing/2014/main" val="10006"/>
                  </a:ext>
                </a:extLst>
              </a:tr>
              <a:tr h="519074">
                <a:tc>
                  <a:txBody>
                    <a:bodyPr/>
                    <a:lstStyle/>
                    <a:p>
                      <a:pPr indent="0" algn="l">
                        <a:lnSpc>
                          <a:spcPct val="150000"/>
                        </a:lnSpc>
                        <a:buNone/>
                      </a:pPr>
                      <a:r>
                        <a:rPr lang="en-US" sz="976" b="1" i="0">
                          <a:solidFill>
                            <a:schemeClr val="tx1"/>
                          </a:solidFill>
                          <a:effectLst/>
                          <a:latin typeface="Segoe WPC"/>
                        </a:rPr>
                        <a:t>Search by Breed, Height, Age &amp; Price</a:t>
                      </a:r>
                      <a:endParaRPr lang="en-US" sz="976" b="0" i="0">
                        <a:solidFill>
                          <a:schemeClr val="tx1"/>
                        </a:solidFill>
                        <a:effectLst/>
                        <a:latin typeface="Segoe WPC"/>
                      </a:endParaRPr>
                    </a:p>
                  </a:txBody>
                  <a:tcPr anchor="ctr">
                    <a:solidFill>
                      <a:srgbClr val="FFFFFF"/>
                    </a:solidFill>
                  </a:tcPr>
                </a:tc>
                <a:tc>
                  <a:txBody>
                    <a:bodyPr/>
                    <a:lstStyle/>
                    <a:p>
                      <a:pPr indent="0" algn="ctr">
                        <a:lnSpc>
                          <a:spcPct val="150000"/>
                        </a:lnSpc>
                        <a:buNone/>
                      </a:pPr>
                      <a:r>
                        <a:rPr lang="en-US" sz="976" b="0" i="0">
                          <a:solidFill>
                            <a:schemeClr val="tx1"/>
                          </a:solidFill>
                          <a:effectLst/>
                          <a:latin typeface="Segoe WPC"/>
                        </a:rPr>
                        <a:t>Basic</a:t>
                      </a:r>
                    </a:p>
                  </a:txBody>
                  <a:tcPr anchor="ctr">
                    <a:solidFill>
                      <a:srgbClr val="FFFFFF"/>
                    </a:solidFill>
                  </a:tcPr>
                </a:tc>
                <a:tc>
                  <a:txBody>
                    <a:bodyPr/>
                    <a:lstStyle/>
                    <a:p>
                      <a:pPr indent="0" algn="ctr">
                        <a:lnSpc>
                          <a:spcPct val="150000"/>
                        </a:lnSpc>
                        <a:buNone/>
                      </a:pPr>
                      <a:r>
                        <a:rPr lang="en-US" sz="976" b="0" i="0">
                          <a:solidFill>
                            <a:schemeClr val="tx1"/>
                          </a:solidFill>
                          <a:effectLst/>
                          <a:latin typeface="Segoe WPC"/>
                        </a:rPr>
                        <a:t>No</a:t>
                      </a:r>
                    </a:p>
                  </a:txBody>
                  <a:tcPr anchor="ctr">
                    <a:solidFill>
                      <a:srgbClr val="FFFFFF"/>
                    </a:solidFill>
                  </a:tcPr>
                </a:tc>
                <a:tc>
                  <a:txBody>
                    <a:bodyPr/>
                    <a:lstStyle/>
                    <a:p>
                      <a:pPr indent="0" algn="ctr">
                        <a:lnSpc>
                          <a:spcPct val="150000"/>
                        </a:lnSpc>
                        <a:buNone/>
                      </a:pPr>
                      <a:r>
                        <a:rPr lang="en-US" sz="976" b="0" i="0">
                          <a:solidFill>
                            <a:schemeClr val="tx1"/>
                          </a:solidFill>
                          <a:effectLst/>
                          <a:latin typeface="Segoe WPC"/>
                        </a:rPr>
                        <a:t>No</a:t>
                      </a:r>
                    </a:p>
                  </a:txBody>
                  <a:tcPr anchor="ctr">
                    <a:solidFill>
                      <a:srgbClr val="FFFFFF"/>
                    </a:solidFill>
                  </a:tcPr>
                </a:tc>
                <a:tc>
                  <a:txBody>
                    <a:bodyPr/>
                    <a:lstStyle/>
                    <a:p>
                      <a:pPr indent="0" algn="ctr">
                        <a:lnSpc>
                          <a:spcPct val="150000"/>
                        </a:lnSpc>
                        <a:buNone/>
                      </a:pPr>
                      <a:r>
                        <a:rPr lang="en-US" sz="976" b="1" i="0">
                          <a:solidFill>
                            <a:schemeClr val="tx1"/>
                          </a:solidFill>
                          <a:effectLst/>
                          <a:latin typeface="Segoe WPC"/>
                        </a:rPr>
                        <a:t>Yes</a:t>
                      </a:r>
                      <a:endParaRPr lang="en-US" sz="976" b="0" i="0">
                        <a:solidFill>
                          <a:schemeClr val="tx1"/>
                        </a:solidFill>
                        <a:effectLst/>
                        <a:latin typeface="Segoe WPC"/>
                      </a:endParaRPr>
                    </a:p>
                  </a:txBody>
                  <a:tcPr anchor="ctr">
                    <a:solidFill>
                      <a:srgbClr val="FFFFFF"/>
                    </a:solidFill>
                  </a:tcPr>
                </a:tc>
                <a:extLst>
                  <a:ext uri="{0D108BD9-81ED-4DB2-BD59-A6C34878D82A}">
                    <a16:rowId xmlns:a16="http://schemas.microsoft.com/office/drawing/2014/main" val="10007"/>
                  </a:ext>
                </a:extLst>
              </a:tr>
              <a:tr h="519074">
                <a:tc>
                  <a:txBody>
                    <a:bodyPr/>
                    <a:lstStyle/>
                    <a:p>
                      <a:pPr indent="0" algn="l">
                        <a:lnSpc>
                          <a:spcPct val="150000"/>
                        </a:lnSpc>
                        <a:buNone/>
                      </a:pPr>
                      <a:r>
                        <a:rPr lang="en-US" sz="976" b="1" i="0">
                          <a:solidFill>
                            <a:schemeClr val="tx1"/>
                          </a:solidFill>
                          <a:effectLst/>
                          <a:latin typeface="Segoe WPC"/>
                        </a:rPr>
                        <a:t>Emergency Horse Doctors &amp; Hospital List</a:t>
                      </a:r>
                      <a:endParaRPr lang="en-US" sz="976" b="0" i="0">
                        <a:solidFill>
                          <a:schemeClr val="tx1"/>
                        </a:solidFill>
                        <a:effectLst/>
                        <a:latin typeface="Segoe WPC"/>
                      </a:endParaRPr>
                    </a:p>
                  </a:txBody>
                  <a:tcPr anchor="ctr">
                    <a:solidFill>
                      <a:srgbClr val="EBF3FB"/>
                    </a:solidFill>
                  </a:tcPr>
                </a:tc>
                <a:tc>
                  <a:txBody>
                    <a:bodyPr/>
                    <a:lstStyle/>
                    <a:p>
                      <a:pPr indent="0" algn="ctr">
                        <a:lnSpc>
                          <a:spcPct val="150000"/>
                        </a:lnSpc>
                        <a:buNone/>
                      </a:pPr>
                      <a:r>
                        <a:rPr lang="en-US" sz="976" b="0" i="0">
                          <a:solidFill>
                            <a:schemeClr val="tx1"/>
                          </a:solidFill>
                          <a:effectLst/>
                          <a:latin typeface="Segoe WPC"/>
                        </a:rPr>
                        <a:t>No</a:t>
                      </a:r>
                    </a:p>
                  </a:txBody>
                  <a:tcPr anchor="ctr">
                    <a:solidFill>
                      <a:srgbClr val="EBF3FB"/>
                    </a:solidFill>
                  </a:tcPr>
                </a:tc>
                <a:tc>
                  <a:txBody>
                    <a:bodyPr/>
                    <a:lstStyle/>
                    <a:p>
                      <a:pPr indent="0" algn="ctr">
                        <a:lnSpc>
                          <a:spcPct val="150000"/>
                        </a:lnSpc>
                        <a:buNone/>
                      </a:pPr>
                      <a:r>
                        <a:rPr lang="en-US" sz="976" b="0" i="0">
                          <a:solidFill>
                            <a:schemeClr val="tx1"/>
                          </a:solidFill>
                          <a:effectLst/>
                          <a:latin typeface="Segoe WPC"/>
                        </a:rPr>
                        <a:t>No</a:t>
                      </a:r>
                    </a:p>
                  </a:txBody>
                  <a:tcPr anchor="ctr">
                    <a:solidFill>
                      <a:srgbClr val="EBF3FB"/>
                    </a:solidFill>
                  </a:tcPr>
                </a:tc>
                <a:tc>
                  <a:txBody>
                    <a:bodyPr/>
                    <a:lstStyle/>
                    <a:p>
                      <a:pPr indent="0" algn="ctr">
                        <a:lnSpc>
                          <a:spcPct val="150000"/>
                        </a:lnSpc>
                        <a:buNone/>
                      </a:pPr>
                      <a:r>
                        <a:rPr lang="en-US" sz="976" b="0" i="0">
                          <a:solidFill>
                            <a:schemeClr val="tx1"/>
                          </a:solidFill>
                          <a:effectLst/>
                          <a:latin typeface="Segoe WPC"/>
                        </a:rPr>
                        <a:t>No</a:t>
                      </a:r>
                    </a:p>
                  </a:txBody>
                  <a:tcPr anchor="ctr">
                    <a:solidFill>
                      <a:srgbClr val="EBF3FB"/>
                    </a:solidFill>
                  </a:tcPr>
                </a:tc>
                <a:tc>
                  <a:txBody>
                    <a:bodyPr/>
                    <a:lstStyle/>
                    <a:p>
                      <a:pPr indent="0" algn="ctr">
                        <a:lnSpc>
                          <a:spcPct val="150000"/>
                        </a:lnSpc>
                        <a:buNone/>
                      </a:pPr>
                      <a:r>
                        <a:rPr lang="en-US" sz="976" b="1" i="0" dirty="0">
                          <a:solidFill>
                            <a:schemeClr val="tx1"/>
                          </a:solidFill>
                          <a:effectLst/>
                          <a:latin typeface="Segoe WPC"/>
                        </a:rPr>
                        <a:t>Yes</a:t>
                      </a:r>
                      <a:endParaRPr lang="en-US" sz="976" b="0" i="0" dirty="0">
                        <a:solidFill>
                          <a:schemeClr val="tx1"/>
                        </a:solidFill>
                        <a:effectLst/>
                        <a:latin typeface="Segoe WPC"/>
                      </a:endParaRPr>
                    </a:p>
                  </a:txBody>
                  <a:tcPr anchor="ctr">
                    <a:solidFill>
                      <a:srgbClr val="EBF3FB"/>
                    </a:solidFill>
                  </a:tcPr>
                </a:tc>
                <a:extLst>
                  <a:ext uri="{0D108BD9-81ED-4DB2-BD59-A6C34878D82A}">
                    <a16:rowId xmlns:a16="http://schemas.microsoft.com/office/drawing/2014/main" val="10008"/>
                  </a:ext>
                </a:extLst>
              </a:tr>
            </a:tbl>
          </a:graphicData>
        </a:graphic>
      </p:graphicFrame>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2432A67B-C991-658C-1888-DBE59609E5CD}"/>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77BE9251-B3BE-016B-ED3E-29C1FBF70C31}"/>
              </a:ext>
            </a:extLst>
          </p:cNvPr>
          <p:cNvSpPr txBox="1"/>
          <p:nvPr/>
        </p:nvSpPr>
        <p:spPr>
          <a:xfrm>
            <a:off x="457200" y="256032"/>
            <a:ext cx="6949440" cy="553998"/>
          </a:xfrm>
          <a:prstGeom prst="rect">
            <a:avLst/>
          </a:prstGeom>
          <a:noFill/>
        </p:spPr>
        <p:txBody>
          <a:bodyPr wrap="square">
            <a:spAutoFit/>
          </a:bodyPr>
          <a:lstStyle/>
          <a:p>
            <a:r>
              <a:rPr sz="3000" b="1" i="0" dirty="0">
                <a:solidFill>
                  <a:srgbClr val="2E75B6"/>
                </a:solidFill>
                <a:latin typeface="Calibri Light"/>
              </a:rPr>
              <a:t>Goals, Objectives &amp; System Modules</a:t>
            </a:r>
          </a:p>
        </p:txBody>
      </p:sp>
      <p:cxnSp>
        <p:nvCxnSpPr>
          <p:cNvPr id="3" name="Connector 2">
            <a:extLst>
              <a:ext uri="{FF2B5EF4-FFF2-40B4-BE49-F238E27FC236}">
                <a16:creationId xmlns:a16="http://schemas.microsoft.com/office/drawing/2014/main" id="{8FD5AE62-B60F-CE95-9F84-576F6DD3A012}"/>
              </a:ext>
            </a:extLst>
          </p:cNvPr>
          <p:cNvCxnSpPr/>
          <p:nvPr/>
        </p:nvCxnSpPr>
        <p:spPr>
          <a:xfrm>
            <a:off x="457200" y="969264"/>
            <a:ext cx="8229600" cy="0"/>
          </a:xfrm>
          <a:prstGeom prst="line">
            <a:avLst/>
          </a:prstGeom>
          <a:ln w="12700">
            <a:solidFill>
              <a:srgbClr val="AAAAAA"/>
            </a:solidFill>
            <a:prstDash val="dash"/>
          </a:ln>
        </p:spPr>
        <p:style>
          <a:lnRef idx="2">
            <a:schemeClr val="accent1"/>
          </a:lnRef>
          <a:fillRef idx="0">
            <a:schemeClr val="accent1"/>
          </a:fillRef>
          <a:effectRef idx="1">
            <a:schemeClr val="accent1"/>
          </a:effectRef>
          <a:fontRef idx="minor">
            <a:schemeClr val="tx1"/>
          </a:fontRef>
        </p:style>
      </p:cxnSp>
      <p:pic>
        <p:nvPicPr>
          <p:cNvPr id="4" name="Picture 3" descr="mul_logo.png">
            <a:extLst>
              <a:ext uri="{FF2B5EF4-FFF2-40B4-BE49-F238E27FC236}">
                <a16:creationId xmlns:a16="http://schemas.microsoft.com/office/drawing/2014/main" id="{23F01780-B05B-7034-65B2-484ADEE4CB1E}"/>
              </a:ext>
            </a:extLst>
          </p:cNvPr>
          <p:cNvPicPr>
            <a:picLocks noChangeAspect="1"/>
          </p:cNvPicPr>
          <p:nvPr/>
        </p:nvPicPr>
        <p:blipFill>
          <a:blip r:embed="rId2"/>
          <a:stretch>
            <a:fillRect/>
          </a:stretch>
        </p:blipFill>
        <p:spPr>
          <a:xfrm>
            <a:off x="7882127" y="201168"/>
            <a:ext cx="804672" cy="804672"/>
          </a:xfrm>
          <a:prstGeom prst="rect">
            <a:avLst/>
          </a:prstGeom>
        </p:spPr>
      </p:pic>
      <p:sp>
        <p:nvSpPr>
          <p:cNvPr id="6" name="TextBox 5">
            <a:extLst>
              <a:ext uri="{FF2B5EF4-FFF2-40B4-BE49-F238E27FC236}">
                <a16:creationId xmlns:a16="http://schemas.microsoft.com/office/drawing/2014/main" id="{43B13D9F-53CF-EA9F-797D-9E3126976A6F}"/>
              </a:ext>
            </a:extLst>
          </p:cNvPr>
          <p:cNvSpPr txBox="1"/>
          <p:nvPr/>
        </p:nvSpPr>
        <p:spPr>
          <a:xfrm>
            <a:off x="457201" y="1307698"/>
            <a:ext cx="7424926" cy="4204356"/>
          </a:xfrm>
          <a:prstGeom prst="rect">
            <a:avLst/>
          </a:prstGeom>
          <a:noFill/>
        </p:spPr>
        <p:txBody>
          <a:bodyPr wrap="square">
            <a:spAutoFit/>
          </a:bodyPr>
          <a:lstStyle/>
          <a:p>
            <a:pPr algn="just">
              <a:lnSpc>
                <a:spcPct val="150000"/>
              </a:lnSpc>
            </a:pPr>
            <a:r>
              <a:rPr lang="en-US" dirty="0"/>
              <a:t>The primary goal of Horse Square Pakistan is to formalize and digitize Pakistan's equine industry into a transparent, secure, and all-in-one platform for horse buyers, sellers, breeders, riding schools, and veterinarians. To achieve this objective, the platform brings together essential equine services into a single digital hub, allowing users to safely buy and sell horses with verified </a:t>
            </a:r>
            <a:r>
              <a:rPr lang="en-US" dirty="0" err="1"/>
              <a:t>BloodLine</a:t>
            </a:r>
            <a:r>
              <a:rPr lang="en-US" dirty="0"/>
              <a:t> records, participate in live online bidding auctions, and book certified breeding studs. Furthermore, the system solves everyday equine challenges by providing an AI doctor (Dr. Max AI) for instant medical advice during horse emergencies, a city-wise directory of verified horse hospitals, and an easy booking system for riding school lessons.</a:t>
            </a:r>
          </a:p>
        </p:txBody>
      </p:sp>
    </p:spTree>
    <p:extLst>
      <p:ext uri="{BB962C8B-B14F-4D97-AF65-F5344CB8AC3E}">
        <p14:creationId xmlns:p14="http://schemas.microsoft.com/office/powerpoint/2010/main" val="90935178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457200" y="256032"/>
            <a:ext cx="6949440" cy="553998"/>
          </a:xfrm>
          <a:prstGeom prst="rect">
            <a:avLst/>
          </a:prstGeom>
          <a:noFill/>
        </p:spPr>
        <p:txBody>
          <a:bodyPr wrap="square">
            <a:spAutoFit/>
          </a:bodyPr>
          <a:lstStyle/>
          <a:p>
            <a:r>
              <a:rPr sz="3000" b="1" i="0" dirty="0">
                <a:solidFill>
                  <a:srgbClr val="2E75B6"/>
                </a:solidFill>
                <a:latin typeface="Calibri Light"/>
              </a:rPr>
              <a:t>Goals, Objectives &amp; System Modules</a:t>
            </a:r>
          </a:p>
        </p:txBody>
      </p:sp>
      <p:cxnSp>
        <p:nvCxnSpPr>
          <p:cNvPr id="3" name="Connector 2"/>
          <p:cNvCxnSpPr/>
          <p:nvPr/>
        </p:nvCxnSpPr>
        <p:spPr>
          <a:xfrm>
            <a:off x="457200" y="969264"/>
            <a:ext cx="8229600" cy="0"/>
          </a:xfrm>
          <a:prstGeom prst="line">
            <a:avLst/>
          </a:prstGeom>
          <a:ln w="12700">
            <a:solidFill>
              <a:srgbClr val="AAAAAA"/>
            </a:solidFill>
            <a:prstDash val="dash"/>
          </a:ln>
        </p:spPr>
        <p:style>
          <a:lnRef idx="2">
            <a:schemeClr val="accent1"/>
          </a:lnRef>
          <a:fillRef idx="0">
            <a:schemeClr val="accent1"/>
          </a:fillRef>
          <a:effectRef idx="1">
            <a:schemeClr val="accent1"/>
          </a:effectRef>
          <a:fontRef idx="minor">
            <a:schemeClr val="tx1"/>
          </a:fontRef>
        </p:style>
      </p:cxnSp>
      <p:pic>
        <p:nvPicPr>
          <p:cNvPr id="4" name="Picture 3" descr="mul_logo.png"/>
          <p:cNvPicPr>
            <a:picLocks noChangeAspect="1"/>
          </p:cNvPicPr>
          <p:nvPr/>
        </p:nvPicPr>
        <p:blipFill>
          <a:blip r:embed="rId2"/>
          <a:stretch>
            <a:fillRect/>
          </a:stretch>
        </p:blipFill>
        <p:spPr>
          <a:xfrm>
            <a:off x="7882127" y="201168"/>
            <a:ext cx="804672" cy="804672"/>
          </a:xfrm>
          <a:prstGeom prst="rect">
            <a:avLst/>
          </a:prstGeom>
        </p:spPr>
      </p:pic>
      <p:sp>
        <p:nvSpPr>
          <p:cNvPr id="8" name="TextBox 7"/>
          <p:cNvSpPr txBox="1"/>
          <p:nvPr/>
        </p:nvSpPr>
        <p:spPr>
          <a:xfrm>
            <a:off x="539497" y="995013"/>
            <a:ext cx="4114800" cy="320040"/>
          </a:xfrm>
          <a:prstGeom prst="rect">
            <a:avLst/>
          </a:prstGeom>
          <a:noFill/>
        </p:spPr>
        <p:txBody>
          <a:bodyPr wrap="square">
            <a:spAutoFit/>
          </a:bodyPr>
          <a:lstStyle/>
          <a:p>
            <a:r>
              <a:rPr sz="1400" b="1" i="0" dirty="0">
                <a:solidFill>
                  <a:srgbClr val="2E75B6"/>
                </a:solidFill>
                <a:latin typeface="Calibri"/>
              </a:rPr>
              <a:t>8 Core Modules</a:t>
            </a:r>
          </a:p>
        </p:txBody>
      </p:sp>
      <p:cxnSp>
        <p:nvCxnSpPr>
          <p:cNvPr id="9" name="Connector 8"/>
          <p:cNvCxnSpPr/>
          <p:nvPr/>
        </p:nvCxnSpPr>
        <p:spPr>
          <a:xfrm>
            <a:off x="548640" y="1499616"/>
            <a:ext cx="2377440" cy="0"/>
          </a:xfrm>
          <a:prstGeom prst="line">
            <a:avLst/>
          </a:prstGeom>
          <a:ln w="19050">
            <a:solidFill>
              <a:srgbClr val="2E75B6"/>
            </a:solidFill>
          </a:ln>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4892040" y="1014985"/>
            <a:ext cx="4114800" cy="320040"/>
          </a:xfrm>
          <a:prstGeom prst="rect">
            <a:avLst/>
          </a:prstGeom>
          <a:noFill/>
        </p:spPr>
        <p:txBody>
          <a:bodyPr wrap="square">
            <a:spAutoFit/>
          </a:bodyPr>
          <a:lstStyle/>
          <a:p>
            <a:r>
              <a:rPr sz="1400" b="1" i="0" dirty="0">
                <a:solidFill>
                  <a:srgbClr val="2E75B6"/>
                </a:solidFill>
                <a:latin typeface="Calibri"/>
              </a:rPr>
              <a:t>8 Supporting Modules</a:t>
            </a:r>
          </a:p>
        </p:txBody>
      </p:sp>
      <p:cxnSp>
        <p:nvCxnSpPr>
          <p:cNvPr id="11" name="Connector 10"/>
          <p:cNvCxnSpPr/>
          <p:nvPr/>
        </p:nvCxnSpPr>
        <p:spPr>
          <a:xfrm>
            <a:off x="4892040" y="1499616"/>
            <a:ext cx="2377439" cy="0"/>
          </a:xfrm>
          <a:prstGeom prst="line">
            <a:avLst/>
          </a:prstGeom>
          <a:ln w="19050">
            <a:solidFill>
              <a:srgbClr val="2E75B6"/>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539497" y="1479718"/>
            <a:ext cx="4114800" cy="5229573"/>
          </a:xfrm>
          <a:prstGeom prst="rect">
            <a:avLst/>
          </a:prstGeom>
          <a:noFill/>
        </p:spPr>
        <p:txBody>
          <a:bodyPr wrap="square">
            <a:spAutoFit/>
          </a:bodyPr>
          <a:lstStyle/>
          <a:p>
            <a:pPr>
              <a:lnSpc>
                <a:spcPct val="150000"/>
              </a:lnSpc>
            </a:pPr>
            <a:r>
              <a:rPr lang="en-US" sz="1400" dirty="0">
                <a:solidFill>
                  <a:schemeClr val="tx2">
                    <a:lumMod val="60000"/>
                    <a:lumOff val="40000"/>
                  </a:schemeClr>
                </a:solidFill>
              </a:rPr>
              <a:t>▶	</a:t>
            </a:r>
            <a:r>
              <a:rPr lang="en-US" sz="1400" dirty="0"/>
              <a:t> Equine Marketplace (Buy &amp; sell horses with         	pedigree details)</a:t>
            </a:r>
            <a:br>
              <a:rPr lang="en-US" sz="1400" dirty="0"/>
            </a:br>
            <a:r>
              <a:rPr lang="en-US" sz="1400" dirty="0">
                <a:solidFill>
                  <a:schemeClr val="tx2">
                    <a:lumMod val="60000"/>
                    <a:lumOff val="40000"/>
                  </a:schemeClr>
                </a:solidFill>
              </a:rPr>
              <a:t>▶	</a:t>
            </a:r>
            <a:r>
              <a:rPr lang="en-US" sz="1400" dirty="0"/>
              <a:t> Live Online Auctions (Real-time bidding with    	countdown timers)</a:t>
            </a:r>
            <a:br>
              <a:rPr lang="en-US" sz="1400" dirty="0"/>
            </a:br>
            <a:r>
              <a:rPr lang="en-US" sz="1400" dirty="0">
                <a:solidFill>
                  <a:schemeClr val="tx2">
                    <a:lumMod val="60000"/>
                    <a:lumOff val="40000"/>
                  </a:schemeClr>
                </a:solidFill>
              </a:rPr>
              <a:t>▶       </a:t>
            </a:r>
            <a:r>
              <a:rPr lang="en-US" sz="1400" dirty="0"/>
              <a:t> Stud Farm Breeding (Certified stallions &amp; 	mating booking requests)</a:t>
            </a:r>
            <a:br>
              <a:rPr lang="en-US" sz="1400" dirty="0"/>
            </a:br>
            <a:r>
              <a:rPr lang="en-US" sz="1400" dirty="0">
                <a:solidFill>
                  <a:schemeClr val="tx2">
                    <a:lumMod val="60000"/>
                    <a:lumOff val="40000"/>
                  </a:schemeClr>
                </a:solidFill>
              </a:rPr>
              <a:t>▶</a:t>
            </a:r>
            <a:r>
              <a:rPr lang="en-US" sz="1400" dirty="0"/>
              <a:t> 	Dr. Max AI Vet Doctor (Instant symptom check 	&amp; first-aid triage)</a:t>
            </a:r>
            <a:br>
              <a:rPr lang="en-US" sz="1400" dirty="0"/>
            </a:br>
            <a:r>
              <a:rPr lang="en-US" sz="1400" dirty="0">
                <a:solidFill>
                  <a:schemeClr val="tx2">
                    <a:lumMod val="60000"/>
                    <a:lumOff val="40000"/>
                  </a:schemeClr>
                </a:solidFill>
              </a:rPr>
              <a:t>▶	</a:t>
            </a:r>
            <a:r>
              <a:rPr lang="en-US" sz="1400" dirty="0"/>
              <a:t> Riding School Directory (Academy listings &amp; 	trial lesson booking)</a:t>
            </a:r>
            <a:br>
              <a:rPr lang="en-US" sz="1400" dirty="0"/>
            </a:br>
            <a:r>
              <a:rPr lang="en-US" sz="1400" dirty="0">
                <a:solidFill>
                  <a:schemeClr val="tx2">
                    <a:lumMod val="60000"/>
                    <a:lumOff val="40000"/>
                  </a:schemeClr>
                </a:solidFill>
              </a:rPr>
              <a:t>▶</a:t>
            </a:r>
            <a:r>
              <a:rPr lang="en-US" sz="1400" dirty="0"/>
              <a:t> 	Emergency Vet Network (City-wise clinic &amp; 	horse 	hospital directory)</a:t>
            </a:r>
            <a:br>
              <a:rPr lang="en-US" sz="1400" dirty="0"/>
            </a:br>
            <a:r>
              <a:rPr lang="en-US" sz="1400" dirty="0">
                <a:solidFill>
                  <a:schemeClr val="tx2">
                    <a:lumMod val="60000"/>
                    <a:lumOff val="40000"/>
                  </a:schemeClr>
                </a:solidFill>
              </a:rPr>
              <a:t>▶</a:t>
            </a:r>
            <a:r>
              <a:rPr lang="en-US" sz="1400" dirty="0"/>
              <a:t> 	User Authentication (Secure signup, login, roles 	&amp; password reset)</a:t>
            </a:r>
            <a:br>
              <a:rPr lang="en-US" sz="1400" dirty="0"/>
            </a:br>
            <a:r>
              <a:rPr lang="en-US" sz="1400" dirty="0">
                <a:solidFill>
                  <a:schemeClr val="tx2">
                    <a:lumMod val="60000"/>
                    <a:lumOff val="40000"/>
                  </a:schemeClr>
                </a:solidFill>
              </a:rPr>
              <a:t>▶</a:t>
            </a:r>
            <a:r>
              <a:rPr lang="en-US" sz="1400" dirty="0"/>
              <a:t> 	Admin Moderation Center (Ad verification, 	auction control &amp; user management)</a:t>
            </a:r>
          </a:p>
        </p:txBody>
      </p:sp>
      <p:sp>
        <p:nvSpPr>
          <p:cNvPr id="13" name="TextBox 12"/>
          <p:cNvSpPr txBox="1"/>
          <p:nvPr/>
        </p:nvSpPr>
        <p:spPr>
          <a:xfrm>
            <a:off x="4892040" y="1508760"/>
            <a:ext cx="4023360" cy="5229573"/>
          </a:xfrm>
          <a:prstGeom prst="rect">
            <a:avLst/>
          </a:prstGeom>
          <a:noFill/>
        </p:spPr>
        <p:txBody>
          <a:bodyPr wrap="square">
            <a:spAutoFit/>
          </a:bodyPr>
          <a:lstStyle/>
          <a:p>
            <a:pPr>
              <a:lnSpc>
                <a:spcPct val="150000"/>
              </a:lnSpc>
              <a:spcAft>
                <a:spcPts val="700"/>
              </a:spcAft>
            </a:pPr>
            <a:r>
              <a:rPr lang="en-US" sz="1400" dirty="0">
                <a:solidFill>
                  <a:schemeClr val="tx2">
                    <a:lumMod val="60000"/>
                    <a:lumOff val="40000"/>
                  </a:schemeClr>
                </a:solidFill>
              </a:rPr>
              <a:t>▶	</a:t>
            </a:r>
            <a:r>
              <a:rPr lang="en-US" sz="1400" dirty="0"/>
              <a:t> User Dashboard (Manage my listings, placed 	bids 	&amp; breeding requests)</a:t>
            </a:r>
            <a:br>
              <a:rPr lang="en-US" sz="1400" dirty="0"/>
            </a:br>
            <a:r>
              <a:rPr lang="en-US" sz="1400" dirty="0">
                <a:solidFill>
                  <a:schemeClr val="tx2">
                    <a:lumMod val="60000"/>
                    <a:lumOff val="40000"/>
                  </a:schemeClr>
                </a:solidFill>
              </a:rPr>
              <a:t>▶	</a:t>
            </a:r>
            <a:r>
              <a:rPr lang="en-US" sz="1400" dirty="0"/>
              <a:t> Direct Query Chat Modal (Instant messaging 	between buyer &amp; seller)</a:t>
            </a:r>
            <a:br>
              <a:rPr lang="en-US" sz="1400" dirty="0"/>
            </a:br>
            <a:r>
              <a:rPr lang="en-US" sz="1400" dirty="0">
                <a:solidFill>
                  <a:schemeClr val="tx2">
                    <a:lumMod val="60000"/>
                    <a:lumOff val="40000"/>
                  </a:schemeClr>
                </a:solidFill>
              </a:rPr>
              <a:t>▶</a:t>
            </a:r>
            <a:r>
              <a:rPr lang="en-US" sz="1400" dirty="0"/>
              <a:t> 	</a:t>
            </a:r>
            <a:r>
              <a:rPr lang="en-US" sz="1400" dirty="0" err="1"/>
              <a:t>Cloudinary</a:t>
            </a:r>
            <a:r>
              <a:rPr lang="en-US" sz="1400" dirty="0"/>
              <a:t> Media Engine (Fast loading for 	high-definition horse photos)</a:t>
            </a:r>
            <a:br>
              <a:rPr lang="en-US" sz="1400" dirty="0"/>
            </a:br>
            <a:r>
              <a:rPr lang="en-US" sz="1400" dirty="0">
                <a:solidFill>
                  <a:schemeClr val="tx2">
                    <a:lumMod val="60000"/>
                    <a:lumOff val="40000"/>
                  </a:schemeClr>
                </a:solidFill>
              </a:rPr>
              <a:t>▶</a:t>
            </a:r>
            <a:r>
              <a:rPr lang="en-US" sz="1400" dirty="0"/>
              <a:t> 	Dual Price Range Sliders (Interactive budget &amp; 	location filtering)</a:t>
            </a:r>
            <a:br>
              <a:rPr lang="en-US" sz="1400" dirty="0"/>
            </a:br>
            <a:r>
              <a:rPr lang="en-US" sz="1400" dirty="0">
                <a:solidFill>
                  <a:schemeClr val="tx2">
                    <a:lumMod val="60000"/>
                    <a:lumOff val="40000"/>
                  </a:schemeClr>
                </a:solidFill>
              </a:rPr>
              <a:t>▶</a:t>
            </a:r>
            <a:r>
              <a:rPr lang="en-US" sz="1400" dirty="0"/>
              <a:t> 	Live Outbid Alerts (Real-time notifications 	when outbid on an auction)</a:t>
            </a:r>
            <a:br>
              <a:rPr lang="en-US" sz="1400" dirty="0"/>
            </a:br>
            <a:r>
              <a:rPr lang="en-US" sz="1400" dirty="0">
                <a:solidFill>
                  <a:schemeClr val="tx2">
                    <a:lumMod val="60000"/>
                    <a:lumOff val="40000"/>
                  </a:schemeClr>
                </a:solidFill>
              </a:rPr>
              <a:t>▶</a:t>
            </a:r>
            <a:r>
              <a:rPr lang="en-US" sz="1400" dirty="0"/>
              <a:t> 	Rate Limiting &amp; Security (Protection against 	spam ads &amp; brute-force)</a:t>
            </a:r>
            <a:br>
              <a:rPr lang="en-US" sz="1400" dirty="0"/>
            </a:br>
            <a:r>
              <a:rPr lang="en-US" sz="1400" dirty="0">
                <a:solidFill>
                  <a:schemeClr val="tx2">
                    <a:lumMod val="60000"/>
                    <a:lumOff val="40000"/>
                  </a:schemeClr>
                </a:solidFill>
              </a:rPr>
              <a:t>▶	</a:t>
            </a:r>
            <a:r>
              <a:rPr lang="en-US" sz="1400" dirty="0"/>
              <a:t>Favorites &amp; Watchlist (Save favorite horses &amp; 	track upcoming auctions)</a:t>
            </a:r>
            <a:br>
              <a:rPr lang="en-US" sz="1400" dirty="0"/>
            </a:br>
            <a:r>
              <a:rPr lang="en-US" sz="1400" dirty="0">
                <a:solidFill>
                  <a:schemeClr val="tx2">
                    <a:lumMod val="60000"/>
                    <a:lumOff val="40000"/>
                  </a:schemeClr>
                </a:solidFill>
              </a:rPr>
              <a:t>▶	</a:t>
            </a:r>
            <a:r>
              <a:rPr lang="en-US" sz="1400" dirty="0"/>
              <a:t> Equine Care Blog (Horse feeding, breeding &amp; 	training knowledge base)</a:t>
            </a:r>
            <a:endParaRPr sz="1400" i="0" dirty="0">
              <a:solidFill>
                <a:srgbClr val="2C2C2C"/>
              </a:solidFill>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457200" y="256032"/>
            <a:ext cx="6949440" cy="553998"/>
          </a:xfrm>
          <a:prstGeom prst="rect">
            <a:avLst/>
          </a:prstGeom>
          <a:noFill/>
        </p:spPr>
        <p:txBody>
          <a:bodyPr wrap="square">
            <a:spAutoFit/>
          </a:bodyPr>
          <a:lstStyle/>
          <a:p>
            <a:r>
              <a:rPr sz="3000" b="1" i="0" dirty="0">
                <a:solidFill>
                  <a:srgbClr val="2E75B6"/>
                </a:solidFill>
                <a:latin typeface="Calibri Light"/>
              </a:rPr>
              <a:t>Tools, Techniques &amp; Tech Stack</a:t>
            </a:r>
          </a:p>
        </p:txBody>
      </p:sp>
      <p:cxnSp>
        <p:nvCxnSpPr>
          <p:cNvPr id="3" name="Connector 2"/>
          <p:cNvCxnSpPr/>
          <p:nvPr/>
        </p:nvCxnSpPr>
        <p:spPr>
          <a:xfrm>
            <a:off x="457200" y="969264"/>
            <a:ext cx="8229600" cy="0"/>
          </a:xfrm>
          <a:prstGeom prst="line">
            <a:avLst/>
          </a:prstGeom>
          <a:ln w="12700">
            <a:solidFill>
              <a:srgbClr val="AAAAAA"/>
            </a:solidFill>
            <a:prstDash val="dash"/>
          </a:ln>
        </p:spPr>
        <p:style>
          <a:lnRef idx="2">
            <a:schemeClr val="accent1"/>
          </a:lnRef>
          <a:fillRef idx="0">
            <a:schemeClr val="accent1"/>
          </a:fillRef>
          <a:effectRef idx="1">
            <a:schemeClr val="accent1"/>
          </a:effectRef>
          <a:fontRef idx="minor">
            <a:schemeClr val="tx1"/>
          </a:fontRef>
        </p:style>
      </p:cxnSp>
      <p:pic>
        <p:nvPicPr>
          <p:cNvPr id="4" name="Picture 3" descr="mul_logo.png"/>
          <p:cNvPicPr>
            <a:picLocks noChangeAspect="1"/>
          </p:cNvPicPr>
          <p:nvPr/>
        </p:nvPicPr>
        <p:blipFill>
          <a:blip r:embed="rId2"/>
          <a:stretch>
            <a:fillRect/>
          </a:stretch>
        </p:blipFill>
        <p:spPr>
          <a:xfrm>
            <a:off x="7882127" y="201168"/>
            <a:ext cx="804672" cy="804672"/>
          </a:xfrm>
          <a:prstGeom prst="rect">
            <a:avLst/>
          </a:prstGeom>
        </p:spPr>
      </p:pic>
      <p:sp>
        <p:nvSpPr>
          <p:cNvPr id="8" name="TextBox 7"/>
          <p:cNvSpPr txBox="1"/>
          <p:nvPr/>
        </p:nvSpPr>
        <p:spPr>
          <a:xfrm>
            <a:off x="548640" y="1143000"/>
            <a:ext cx="4114800" cy="320040"/>
          </a:xfrm>
          <a:prstGeom prst="rect">
            <a:avLst/>
          </a:prstGeom>
          <a:noFill/>
        </p:spPr>
        <p:txBody>
          <a:bodyPr wrap="square">
            <a:spAutoFit/>
          </a:bodyPr>
          <a:lstStyle/>
          <a:p>
            <a:r>
              <a:rPr sz="1400" b="1" i="0">
                <a:solidFill>
                  <a:srgbClr val="2E75B6"/>
                </a:solidFill>
                <a:latin typeface="Calibri"/>
              </a:rPr>
              <a:t>Technology Stack</a:t>
            </a:r>
          </a:p>
        </p:txBody>
      </p:sp>
      <p:cxnSp>
        <p:nvCxnSpPr>
          <p:cNvPr id="9" name="Connector 8"/>
          <p:cNvCxnSpPr/>
          <p:nvPr/>
        </p:nvCxnSpPr>
        <p:spPr>
          <a:xfrm>
            <a:off x="548640" y="1453896"/>
            <a:ext cx="2377440" cy="0"/>
          </a:xfrm>
          <a:prstGeom prst="line">
            <a:avLst/>
          </a:prstGeom>
          <a:ln w="19050">
            <a:solidFill>
              <a:srgbClr val="2E75B6"/>
            </a:solidFill>
          </a:ln>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640080" y="1705947"/>
            <a:ext cx="4023360" cy="2755563"/>
          </a:xfrm>
          <a:prstGeom prst="rect">
            <a:avLst/>
          </a:prstGeom>
          <a:noFill/>
        </p:spPr>
        <p:txBody>
          <a:bodyPr wrap="square">
            <a:spAutoFit/>
          </a:bodyPr>
          <a:lstStyle/>
          <a:p>
            <a:pPr>
              <a:spcBef>
                <a:spcPts val="400"/>
              </a:spcBef>
            </a:pPr>
            <a:r>
              <a:rPr sz="1300" b="1" i="0" dirty="0">
                <a:solidFill>
                  <a:srgbClr val="2E75B6"/>
                </a:solidFill>
                <a:latin typeface="Calibri"/>
              </a:rPr>
              <a:t>Frontend:</a:t>
            </a:r>
          </a:p>
          <a:p>
            <a:pPr>
              <a:lnSpc>
                <a:spcPct val="150000"/>
              </a:lnSpc>
              <a:spcAft>
                <a:spcPts val="200"/>
              </a:spcAft>
            </a:pPr>
            <a:r>
              <a:rPr lang="en-US" sz="1200" dirty="0">
                <a:solidFill>
                  <a:schemeClr val="accent1"/>
                </a:solidFill>
              </a:rPr>
              <a:t>▶</a:t>
            </a:r>
            <a:r>
              <a:rPr lang="en-US" sz="1200" dirty="0"/>
              <a:t>  React 19 + Vite (Fast Single Page App)</a:t>
            </a:r>
            <a:br>
              <a:rPr lang="en-US" sz="1200" dirty="0"/>
            </a:br>
            <a:r>
              <a:rPr lang="en-US" sz="1200" dirty="0">
                <a:solidFill>
                  <a:schemeClr val="accent1"/>
                </a:solidFill>
              </a:rPr>
              <a:t>▶</a:t>
            </a:r>
            <a:r>
              <a:rPr lang="en-US" sz="1200" dirty="0"/>
              <a:t> Tailwind CSS 4 (Liquid-Glass UI)</a:t>
            </a:r>
            <a:br>
              <a:rPr lang="en-US" sz="1200" dirty="0"/>
            </a:br>
            <a:r>
              <a:rPr lang="en-US" sz="1200" dirty="0">
                <a:solidFill>
                  <a:schemeClr val="accent1"/>
                </a:solidFill>
              </a:rPr>
              <a:t>▶</a:t>
            </a:r>
            <a:r>
              <a:rPr lang="en-US" sz="1200" dirty="0"/>
              <a:t> React Router 7 (Page Navigation)</a:t>
            </a:r>
            <a:br>
              <a:rPr lang="en-US" sz="1200" dirty="0"/>
            </a:br>
            <a:r>
              <a:rPr lang="en-US" sz="1200" dirty="0">
                <a:solidFill>
                  <a:schemeClr val="accent1"/>
                </a:solidFill>
              </a:rPr>
              <a:t>▶</a:t>
            </a:r>
            <a:r>
              <a:rPr lang="en-US" sz="1200" dirty="0"/>
              <a:t> </a:t>
            </a:r>
            <a:r>
              <a:rPr lang="en-US" sz="1200" dirty="0" err="1"/>
              <a:t>Lucide</a:t>
            </a:r>
            <a:r>
              <a:rPr lang="en-US" sz="1200" dirty="0"/>
              <a:t> Icons &amp; Lottie (Animations)</a:t>
            </a:r>
          </a:p>
          <a:p>
            <a:pPr>
              <a:lnSpc>
                <a:spcPct val="150000"/>
              </a:lnSpc>
              <a:spcAft>
                <a:spcPts val="200"/>
              </a:spcAft>
            </a:pPr>
            <a:endParaRPr lang="en-US" sz="1200" dirty="0"/>
          </a:p>
          <a:p>
            <a:pPr>
              <a:spcAft>
                <a:spcPts val="200"/>
              </a:spcAft>
            </a:pPr>
            <a:r>
              <a:rPr lang="en-US" sz="1200" dirty="0"/>
              <a:t> </a:t>
            </a:r>
            <a:r>
              <a:rPr sz="1300" b="1" i="0" dirty="0">
                <a:solidFill>
                  <a:srgbClr val="2E75B6"/>
                </a:solidFill>
                <a:latin typeface="Calibri"/>
              </a:rPr>
              <a:t>Database &amp; Storage:</a:t>
            </a:r>
            <a:endParaRPr lang="en-US" sz="1300" b="1" i="0" dirty="0">
              <a:solidFill>
                <a:srgbClr val="2E75B6"/>
              </a:solidFill>
              <a:latin typeface="Calibri"/>
            </a:endParaRPr>
          </a:p>
          <a:p>
            <a:pPr>
              <a:lnSpc>
                <a:spcPct val="150000"/>
              </a:lnSpc>
              <a:spcAft>
                <a:spcPts val="200"/>
              </a:spcAft>
            </a:pPr>
            <a:r>
              <a:rPr lang="en-US" sz="1200" dirty="0">
                <a:solidFill>
                  <a:schemeClr val="accent1"/>
                </a:solidFill>
              </a:rPr>
              <a:t>▶</a:t>
            </a:r>
            <a:r>
              <a:rPr lang="en-US" sz="1200" dirty="0"/>
              <a:t> MongoDB Atlas (Cloud Database)</a:t>
            </a:r>
            <a:br>
              <a:rPr lang="en-US" sz="1200" dirty="0"/>
            </a:br>
            <a:r>
              <a:rPr lang="en-US" sz="1200" dirty="0">
                <a:solidFill>
                  <a:schemeClr val="accent1"/>
                </a:solidFill>
              </a:rPr>
              <a:t>▶</a:t>
            </a:r>
            <a:r>
              <a:rPr lang="en-US" sz="1200" dirty="0"/>
              <a:t> Mongoose 8 (Data Schemas)</a:t>
            </a:r>
            <a:br>
              <a:rPr lang="en-US" sz="1200" dirty="0"/>
            </a:br>
            <a:r>
              <a:rPr lang="en-US" sz="1200" dirty="0">
                <a:solidFill>
                  <a:schemeClr val="accent1"/>
                </a:solidFill>
              </a:rPr>
              <a:t>▶</a:t>
            </a:r>
            <a:r>
              <a:rPr lang="en-US" sz="1200" dirty="0"/>
              <a:t> </a:t>
            </a:r>
            <a:r>
              <a:rPr lang="en-US" sz="1200" dirty="0" err="1"/>
              <a:t>Cloudinary</a:t>
            </a:r>
            <a:r>
              <a:rPr lang="en-US" sz="1200" dirty="0"/>
              <a:t> (Image CDN Storage)</a:t>
            </a:r>
            <a:endParaRPr sz="1200" i="0" dirty="0">
              <a:solidFill>
                <a:srgbClr val="2E75B6"/>
              </a:solidFill>
              <a:latin typeface="Calibri"/>
            </a:endParaRPr>
          </a:p>
        </p:txBody>
      </p:sp>
      <p:sp>
        <p:nvSpPr>
          <p:cNvPr id="11" name="TextBox 10"/>
          <p:cNvSpPr txBox="1"/>
          <p:nvPr/>
        </p:nvSpPr>
        <p:spPr>
          <a:xfrm>
            <a:off x="4892040" y="1645920"/>
            <a:ext cx="4023360" cy="3663503"/>
          </a:xfrm>
          <a:prstGeom prst="rect">
            <a:avLst/>
          </a:prstGeom>
          <a:noFill/>
        </p:spPr>
        <p:txBody>
          <a:bodyPr wrap="square">
            <a:spAutoFit/>
          </a:bodyPr>
          <a:lstStyle/>
          <a:p>
            <a:pPr>
              <a:spcBef>
                <a:spcPts val="400"/>
              </a:spcBef>
            </a:pPr>
            <a:r>
              <a:rPr sz="1300" b="1" i="0" dirty="0">
                <a:solidFill>
                  <a:srgbClr val="2E75B6"/>
                </a:solidFill>
                <a:latin typeface="Calibri"/>
              </a:rPr>
              <a:t>Backend:</a:t>
            </a:r>
          </a:p>
          <a:p>
            <a:pPr>
              <a:lnSpc>
                <a:spcPct val="150000"/>
              </a:lnSpc>
              <a:spcAft>
                <a:spcPts val="200"/>
              </a:spcAft>
            </a:pPr>
            <a:r>
              <a:rPr lang="en-US" sz="1200" dirty="0">
                <a:solidFill>
                  <a:schemeClr val="accent1"/>
                </a:solidFill>
              </a:rPr>
              <a:t>▶</a:t>
            </a:r>
            <a:r>
              <a:rPr lang="en-US" sz="1200" dirty="0"/>
              <a:t> Node.js + Express 4 (REST API)</a:t>
            </a:r>
            <a:br>
              <a:rPr lang="en-US" sz="1200" dirty="0"/>
            </a:br>
            <a:r>
              <a:rPr lang="en-US" sz="1200" dirty="0">
                <a:solidFill>
                  <a:schemeClr val="accent1"/>
                </a:solidFill>
              </a:rPr>
              <a:t>▶</a:t>
            </a:r>
            <a:r>
              <a:rPr lang="en-US" sz="1200" dirty="0"/>
              <a:t> JWT &amp; </a:t>
            </a:r>
            <a:r>
              <a:rPr lang="en-US" sz="1200" dirty="0" err="1"/>
              <a:t>Bcryptjs</a:t>
            </a:r>
            <a:r>
              <a:rPr lang="en-US" sz="1200" dirty="0"/>
              <a:t> (Auth &amp; Security)</a:t>
            </a:r>
            <a:br>
              <a:rPr lang="en-US" sz="1200" dirty="0"/>
            </a:br>
            <a:r>
              <a:rPr lang="en-US" sz="1200" dirty="0">
                <a:solidFill>
                  <a:schemeClr val="accent1"/>
                </a:solidFill>
              </a:rPr>
              <a:t>▶</a:t>
            </a:r>
            <a:r>
              <a:rPr lang="en-US" sz="1200" dirty="0"/>
              <a:t> Express Rate Limit (Anti-Spam &amp; DDoS Guard)</a:t>
            </a:r>
            <a:br>
              <a:rPr lang="en-US" sz="1200" dirty="0"/>
            </a:br>
            <a:r>
              <a:rPr lang="en-US" sz="1200" dirty="0">
                <a:solidFill>
                  <a:schemeClr val="accent1"/>
                </a:solidFill>
              </a:rPr>
              <a:t>▶</a:t>
            </a:r>
            <a:r>
              <a:rPr lang="en-US" sz="1200" dirty="0"/>
              <a:t> Multer &amp; </a:t>
            </a:r>
            <a:r>
              <a:rPr lang="en-US" sz="1200" dirty="0" err="1"/>
              <a:t>Nodemailer</a:t>
            </a:r>
            <a:r>
              <a:rPr lang="en-US" sz="1200" dirty="0"/>
              <a:t> (Uploads &amp; Email Alerts)</a:t>
            </a:r>
          </a:p>
          <a:p>
            <a:pPr>
              <a:lnSpc>
                <a:spcPct val="150000"/>
              </a:lnSpc>
              <a:spcAft>
                <a:spcPts val="200"/>
              </a:spcAft>
            </a:pPr>
            <a:endParaRPr lang="en-US" sz="1200" dirty="0">
              <a:solidFill>
                <a:srgbClr val="2C2C2C"/>
              </a:solidFill>
            </a:endParaRPr>
          </a:p>
          <a:p>
            <a:pPr>
              <a:spcAft>
                <a:spcPts val="200"/>
              </a:spcAft>
            </a:pPr>
            <a:r>
              <a:rPr lang="en-US" sz="1300" b="1" i="0" dirty="0">
                <a:solidFill>
                  <a:srgbClr val="2E75B6"/>
                </a:solidFill>
                <a:latin typeface="Calibri"/>
              </a:rPr>
              <a:t>AI &amp; </a:t>
            </a:r>
            <a:r>
              <a:rPr sz="1300" b="1" i="0" dirty="0">
                <a:solidFill>
                  <a:srgbClr val="2E75B6"/>
                </a:solidFill>
                <a:latin typeface="Calibri"/>
              </a:rPr>
              <a:t>Development Tools:</a:t>
            </a:r>
          </a:p>
          <a:p>
            <a:pPr>
              <a:lnSpc>
                <a:spcPct val="150000"/>
              </a:lnSpc>
              <a:spcAft>
                <a:spcPts val="200"/>
              </a:spcAft>
            </a:pPr>
            <a:r>
              <a:rPr lang="en-US" sz="1200" dirty="0">
                <a:solidFill>
                  <a:schemeClr val="accent1"/>
                </a:solidFill>
              </a:rPr>
              <a:t>▶</a:t>
            </a:r>
            <a:r>
              <a:rPr lang="en-US" sz="1200" dirty="0"/>
              <a:t> Dr. Max AI (OpenAI, Gemini &amp; </a:t>
            </a:r>
            <a:r>
              <a:rPr lang="en-US" sz="1200" dirty="0" err="1"/>
              <a:t>Groq</a:t>
            </a:r>
            <a:r>
              <a:rPr lang="en-US" sz="1200" dirty="0"/>
              <a:t> Multi-Tier)</a:t>
            </a:r>
            <a:br>
              <a:rPr lang="en-US" sz="1200" dirty="0"/>
            </a:br>
            <a:r>
              <a:rPr lang="en-US" sz="1200" dirty="0">
                <a:solidFill>
                  <a:schemeClr val="tx2">
                    <a:lumMod val="60000"/>
                    <a:lumOff val="40000"/>
                  </a:schemeClr>
                </a:solidFill>
              </a:rPr>
              <a:t>▶</a:t>
            </a:r>
            <a:r>
              <a:rPr lang="en-US" sz="1200" dirty="0"/>
              <a:t> Tools: VS Code, Git, GitHub, Postman</a:t>
            </a:r>
            <a:br>
              <a:rPr lang="en-US" sz="1200" dirty="0"/>
            </a:br>
            <a:r>
              <a:rPr lang="en-US" sz="1200" dirty="0">
                <a:solidFill>
                  <a:schemeClr val="tx2">
                    <a:lumMod val="60000"/>
                    <a:lumOff val="40000"/>
                  </a:schemeClr>
                </a:solidFill>
              </a:rPr>
              <a:t>▶</a:t>
            </a:r>
            <a:r>
              <a:rPr lang="en-US" sz="1200" dirty="0"/>
              <a:t> Deployment: </a:t>
            </a:r>
            <a:r>
              <a:rPr lang="en-US" sz="1200" dirty="0" err="1"/>
              <a:t>Vercel</a:t>
            </a:r>
            <a:r>
              <a:rPr lang="en-US" sz="1200" dirty="0"/>
              <a:t> (Client) + Render (Server)</a:t>
            </a:r>
            <a:endParaRPr sz="1300" i="0" dirty="0">
              <a:solidFill>
                <a:srgbClr val="2E75B6"/>
              </a:solidFill>
              <a:latin typeface="Calibri"/>
            </a:endParaRPr>
          </a:p>
          <a:p>
            <a:pPr>
              <a:lnSpc>
                <a:spcPct val="150000"/>
              </a:lnSpc>
              <a:spcAft>
                <a:spcPts val="200"/>
              </a:spcAft>
            </a:pPr>
            <a:r>
              <a:rPr sz="1200" i="0" dirty="0">
                <a:solidFill>
                  <a:srgbClr val="2E75B6"/>
                </a:solidFill>
                <a:latin typeface="Calibri"/>
              </a:rPr>
              <a:t>▶ </a:t>
            </a:r>
            <a:r>
              <a:rPr sz="1200" i="0" dirty="0">
                <a:solidFill>
                  <a:srgbClr val="2C2C2C"/>
                </a:solidFill>
                <a:latin typeface="Calibri"/>
              </a:rPr>
              <a:t>Client: </a:t>
            </a:r>
            <a:r>
              <a:rPr sz="1200" i="0" dirty="0" err="1">
                <a:solidFill>
                  <a:srgbClr val="2C2C2C"/>
                </a:solidFill>
                <a:latin typeface="Calibri"/>
              </a:rPr>
              <a:t>Vercel</a:t>
            </a:r>
            <a:r>
              <a:rPr sz="1200" i="0" dirty="0">
                <a:solidFill>
                  <a:srgbClr val="2C2C2C"/>
                </a:solidFill>
                <a:latin typeface="Calibri"/>
              </a:rPr>
              <a:t> (static React build)</a:t>
            </a:r>
          </a:p>
          <a:p>
            <a:pPr>
              <a:lnSpc>
                <a:spcPct val="150000"/>
              </a:lnSpc>
              <a:spcAft>
                <a:spcPts val="200"/>
              </a:spcAft>
            </a:pPr>
            <a:r>
              <a:rPr sz="1200" i="0" dirty="0">
                <a:solidFill>
                  <a:srgbClr val="2E75B6"/>
                </a:solidFill>
                <a:latin typeface="Calibri"/>
              </a:rPr>
              <a:t>▶ </a:t>
            </a:r>
            <a:r>
              <a:rPr sz="1200" i="0" dirty="0">
                <a:solidFill>
                  <a:srgbClr val="2C2C2C"/>
                </a:solidFill>
                <a:latin typeface="Calibri"/>
              </a:rPr>
              <a:t>Server: Render (Node.js + Socket.io)</a:t>
            </a:r>
          </a:p>
          <a:p>
            <a:pPr>
              <a:lnSpc>
                <a:spcPct val="150000"/>
              </a:lnSpc>
              <a:spcAft>
                <a:spcPts val="200"/>
              </a:spcAft>
            </a:pPr>
            <a:r>
              <a:rPr sz="1200" i="0" dirty="0">
                <a:solidFill>
                  <a:srgbClr val="2E75B6"/>
                </a:solidFill>
                <a:latin typeface="Calibri"/>
              </a:rPr>
              <a:t>▶ </a:t>
            </a:r>
            <a:r>
              <a:rPr sz="1200" i="0" dirty="0">
                <a:solidFill>
                  <a:srgbClr val="2C2C2C"/>
                </a:solidFill>
                <a:latin typeface="Calibri"/>
              </a:rPr>
              <a:t>Database: MongoDB Atlas cluster</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457200" y="256032"/>
            <a:ext cx="6949440" cy="553998"/>
          </a:xfrm>
          <a:prstGeom prst="rect">
            <a:avLst/>
          </a:prstGeom>
          <a:noFill/>
        </p:spPr>
        <p:txBody>
          <a:bodyPr wrap="square">
            <a:spAutoFit/>
          </a:bodyPr>
          <a:lstStyle/>
          <a:p>
            <a:r>
              <a:rPr sz="3000" b="1" i="0" dirty="0">
                <a:solidFill>
                  <a:srgbClr val="2E75B6"/>
                </a:solidFill>
                <a:latin typeface="Calibri Light"/>
              </a:rPr>
              <a:t>System Architecture</a:t>
            </a:r>
          </a:p>
        </p:txBody>
      </p:sp>
      <p:cxnSp>
        <p:nvCxnSpPr>
          <p:cNvPr id="3" name="Connector 2"/>
          <p:cNvCxnSpPr/>
          <p:nvPr/>
        </p:nvCxnSpPr>
        <p:spPr>
          <a:xfrm>
            <a:off x="457200" y="969264"/>
            <a:ext cx="8229600" cy="0"/>
          </a:xfrm>
          <a:prstGeom prst="line">
            <a:avLst/>
          </a:prstGeom>
          <a:ln w="12700">
            <a:solidFill>
              <a:srgbClr val="AAAAAA"/>
            </a:solidFill>
            <a:prstDash val="dash"/>
          </a:ln>
        </p:spPr>
        <p:style>
          <a:lnRef idx="2">
            <a:schemeClr val="accent1"/>
          </a:lnRef>
          <a:fillRef idx="0">
            <a:schemeClr val="accent1"/>
          </a:fillRef>
          <a:effectRef idx="1">
            <a:schemeClr val="accent1"/>
          </a:effectRef>
          <a:fontRef idx="minor">
            <a:schemeClr val="tx1"/>
          </a:fontRef>
        </p:style>
      </p:cxnSp>
      <p:pic>
        <p:nvPicPr>
          <p:cNvPr id="4" name="Picture 3" descr="mul_logo.png"/>
          <p:cNvPicPr>
            <a:picLocks noChangeAspect="1"/>
          </p:cNvPicPr>
          <p:nvPr/>
        </p:nvPicPr>
        <p:blipFill>
          <a:blip r:embed="rId2"/>
          <a:stretch>
            <a:fillRect/>
          </a:stretch>
        </p:blipFill>
        <p:spPr>
          <a:xfrm>
            <a:off x="7882127" y="201168"/>
            <a:ext cx="804672" cy="804672"/>
          </a:xfrm>
          <a:prstGeom prst="rect">
            <a:avLst/>
          </a:prstGeom>
        </p:spPr>
      </p:pic>
      <p:sp>
        <p:nvSpPr>
          <p:cNvPr id="8" name="Rounded Rectangle 7"/>
          <p:cNvSpPr/>
          <p:nvPr/>
        </p:nvSpPr>
        <p:spPr>
          <a:xfrm>
            <a:off x="2331720" y="1188720"/>
            <a:ext cx="4389120" cy="502920"/>
          </a:xfrm>
          <a:prstGeom prst="roundRect">
            <a:avLst/>
          </a:prstGeom>
          <a:solidFill>
            <a:srgbClr val="2E75B6"/>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lang="en-US" sz="1200" dirty="0"/>
              <a:t>Presentation Layer: React 19 Frontend</a:t>
            </a:r>
            <a:br>
              <a:rPr lang="en-US" sz="1200" dirty="0"/>
            </a:br>
            <a:r>
              <a:rPr lang="en-US" sz="1200" i="1" dirty="0"/>
              <a:t>(Single Page Application, Role-Aware UI, Liquid-Glass Design)</a:t>
            </a:r>
            <a:endParaRPr sz="1200" i="0" dirty="0">
              <a:solidFill>
                <a:srgbClr val="FFFFFF"/>
              </a:solidFill>
              <a:latin typeface="Calibri"/>
            </a:endParaRPr>
          </a:p>
        </p:txBody>
      </p:sp>
      <p:cxnSp>
        <p:nvCxnSpPr>
          <p:cNvPr id="9" name="Connector 8"/>
          <p:cNvCxnSpPr/>
          <p:nvPr/>
        </p:nvCxnSpPr>
        <p:spPr>
          <a:xfrm>
            <a:off x="4572000" y="1691640"/>
            <a:ext cx="0" cy="411480"/>
          </a:xfrm>
          <a:prstGeom prst="line">
            <a:avLst/>
          </a:prstGeom>
          <a:ln w="19050">
            <a:solidFill>
              <a:srgbClr val="AAAAAA"/>
            </a:solidFill>
            <a:tailEnd type="triangle" w="med" len="med"/>
          </a:ln>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4754880" y="1783080"/>
            <a:ext cx="4023360" cy="261610"/>
          </a:xfrm>
          <a:prstGeom prst="rect">
            <a:avLst/>
          </a:prstGeom>
          <a:noFill/>
        </p:spPr>
        <p:txBody>
          <a:bodyPr wrap="square">
            <a:spAutoFit/>
          </a:bodyPr>
          <a:lstStyle/>
          <a:p>
            <a:r>
              <a:rPr sz="1100" b="0" dirty="0">
                <a:latin typeface="Calibri"/>
              </a:rPr>
              <a:t>REST API (HTTPS)  +  </a:t>
            </a:r>
            <a:r>
              <a:rPr lang="en-US" sz="1100" b="1" dirty="0"/>
              <a:t> </a:t>
            </a:r>
            <a:r>
              <a:rPr lang="en-US" sz="1100" dirty="0"/>
              <a:t>Multipart Data (Multer)</a:t>
            </a:r>
            <a:endParaRPr sz="1100" dirty="0">
              <a:latin typeface="Calibri"/>
            </a:endParaRPr>
          </a:p>
        </p:txBody>
      </p:sp>
      <p:sp>
        <p:nvSpPr>
          <p:cNvPr id="11" name="Rounded Rectangle 10"/>
          <p:cNvSpPr/>
          <p:nvPr/>
        </p:nvSpPr>
        <p:spPr>
          <a:xfrm>
            <a:off x="2377440" y="2103120"/>
            <a:ext cx="4389120" cy="502920"/>
          </a:xfrm>
          <a:prstGeom prst="roundRect">
            <a:avLst/>
          </a:prstGeom>
          <a:solidFill>
            <a:srgbClr val="2E75B6"/>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lang="en-US" sz="1200" b="1" dirty="0"/>
              <a:t>Application Layer: Node.js &amp; Express REST API</a:t>
            </a:r>
            <a:br>
              <a:rPr lang="en-US" sz="1200" dirty="0"/>
            </a:br>
            <a:r>
              <a:rPr lang="en-US" sz="1200" i="1" dirty="0"/>
              <a:t>(JWT Authentication, Rate Limiting, Business Controllers)</a:t>
            </a:r>
            <a:endParaRPr sz="1200" b="1" i="0" dirty="0">
              <a:solidFill>
                <a:srgbClr val="FFFFFF"/>
              </a:solidFill>
              <a:latin typeface="Calibri"/>
            </a:endParaRPr>
          </a:p>
        </p:txBody>
      </p:sp>
      <p:cxnSp>
        <p:nvCxnSpPr>
          <p:cNvPr id="12" name="Connector 11"/>
          <p:cNvCxnSpPr/>
          <p:nvPr/>
        </p:nvCxnSpPr>
        <p:spPr>
          <a:xfrm>
            <a:off x="4572000" y="2606040"/>
            <a:ext cx="0" cy="365760"/>
          </a:xfrm>
          <a:prstGeom prst="line">
            <a:avLst/>
          </a:prstGeom>
          <a:ln w="19050">
            <a:solidFill>
              <a:srgbClr val="AAAAAA"/>
            </a:solidFill>
            <a:tailEnd type="triangle" w="med" len="med"/>
          </a:ln>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4754880" y="2651760"/>
            <a:ext cx="2286000" cy="261610"/>
          </a:xfrm>
          <a:prstGeom prst="rect">
            <a:avLst/>
          </a:prstGeom>
          <a:noFill/>
        </p:spPr>
        <p:txBody>
          <a:bodyPr wrap="square">
            <a:spAutoFit/>
          </a:bodyPr>
          <a:lstStyle/>
          <a:p>
            <a:r>
              <a:rPr lang="en-US" sz="1100" dirty="0"/>
              <a:t>Mongoose 8 ODM &amp; Service APIs</a:t>
            </a:r>
            <a:endParaRPr sz="1100" i="1" dirty="0">
              <a:solidFill>
                <a:srgbClr val="595959"/>
              </a:solidFill>
              <a:latin typeface="Calibri"/>
            </a:endParaRPr>
          </a:p>
        </p:txBody>
      </p:sp>
      <p:sp>
        <p:nvSpPr>
          <p:cNvPr id="14" name="Rounded Rectangle 13"/>
          <p:cNvSpPr/>
          <p:nvPr/>
        </p:nvSpPr>
        <p:spPr>
          <a:xfrm>
            <a:off x="502920" y="3573859"/>
            <a:ext cx="1737360" cy="502920"/>
          </a:xfrm>
          <a:prstGeom prst="roundRect">
            <a:avLst/>
          </a:prstGeom>
          <a:solidFill>
            <a:srgbClr val="EBF3FB"/>
          </a:solidFill>
          <a:ln w="12700">
            <a:solidFill>
              <a:srgbClr val="AAAAAA"/>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100" b="1" i="0" dirty="0">
                <a:solidFill>
                  <a:srgbClr val="1F3864"/>
                </a:solidFill>
                <a:latin typeface="Calibri"/>
              </a:rPr>
              <a:t>MongoDB Atlas</a:t>
            </a:r>
          </a:p>
        </p:txBody>
      </p:sp>
      <p:sp>
        <p:nvSpPr>
          <p:cNvPr id="15" name="Rounded Rectangle 14"/>
          <p:cNvSpPr/>
          <p:nvPr/>
        </p:nvSpPr>
        <p:spPr>
          <a:xfrm>
            <a:off x="2514600" y="3565217"/>
            <a:ext cx="1737360" cy="502920"/>
          </a:xfrm>
          <a:prstGeom prst="roundRect">
            <a:avLst/>
          </a:prstGeom>
          <a:solidFill>
            <a:srgbClr val="EBF3FB"/>
          </a:solidFill>
          <a:ln w="12700">
            <a:solidFill>
              <a:srgbClr val="AAAAAA"/>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100" b="1" i="0">
                <a:solidFill>
                  <a:srgbClr val="1F3864"/>
                </a:solidFill>
                <a:latin typeface="Calibri"/>
              </a:rPr>
              <a:t>Cloudinary</a:t>
            </a:r>
          </a:p>
        </p:txBody>
      </p:sp>
      <p:sp>
        <p:nvSpPr>
          <p:cNvPr id="16" name="Rounded Rectangle 15"/>
          <p:cNvSpPr/>
          <p:nvPr/>
        </p:nvSpPr>
        <p:spPr>
          <a:xfrm>
            <a:off x="4526280" y="3565217"/>
            <a:ext cx="1737360" cy="494718"/>
          </a:xfrm>
          <a:prstGeom prst="roundRect">
            <a:avLst/>
          </a:prstGeom>
          <a:solidFill>
            <a:srgbClr val="EBF3FB"/>
          </a:solidFill>
          <a:ln w="12700">
            <a:solidFill>
              <a:srgbClr val="AAAAAA"/>
            </a:solidFill>
          </a:ln>
        </p:spPr>
        <p:style>
          <a:lnRef idx="1">
            <a:schemeClr val="accent1"/>
          </a:lnRef>
          <a:fillRef idx="3">
            <a:schemeClr val="accent1"/>
          </a:fillRef>
          <a:effectRef idx="2">
            <a:schemeClr val="accent1"/>
          </a:effectRef>
          <a:fontRef idx="minor">
            <a:schemeClr val="lt1"/>
          </a:fontRef>
        </p:style>
        <p:txBody>
          <a:bodyPr wrap="square" rtlCol="0" anchor="ctr"/>
          <a:lstStyle/>
          <a:p>
            <a:pPr lvl="0" algn="ctr"/>
            <a:endParaRPr lang="en-US" sz="1200" b="1" dirty="0">
              <a:solidFill>
                <a:schemeClr val="tx1"/>
              </a:solidFill>
            </a:endParaRPr>
          </a:p>
          <a:p>
            <a:pPr lvl="0" algn="ctr"/>
            <a:endParaRPr lang="en-US" sz="1200" b="1" dirty="0">
              <a:solidFill>
                <a:schemeClr val="tx1"/>
              </a:solidFill>
            </a:endParaRPr>
          </a:p>
          <a:p>
            <a:pPr lvl="0" algn="ctr"/>
            <a:r>
              <a:rPr lang="en-US" sz="1200" b="1" dirty="0">
                <a:solidFill>
                  <a:schemeClr val="tx1"/>
                </a:solidFill>
              </a:rPr>
              <a:t>Multi-Tier AI </a:t>
            </a:r>
            <a:r>
              <a:rPr lang="en-US" sz="1200" dirty="0">
                <a:solidFill>
                  <a:schemeClr val="tx1"/>
                </a:solidFill>
              </a:rPr>
              <a:t>(OpenAI + Gemini + </a:t>
            </a:r>
            <a:r>
              <a:rPr lang="en-US" sz="1200" dirty="0" err="1">
                <a:solidFill>
                  <a:schemeClr val="tx1"/>
                </a:solidFill>
              </a:rPr>
              <a:t>Groq</a:t>
            </a:r>
            <a:r>
              <a:rPr lang="en-US" sz="1200" dirty="0">
                <a:solidFill>
                  <a:schemeClr val="tx1"/>
                </a:solidFill>
              </a:rPr>
              <a:t>)</a:t>
            </a:r>
          </a:p>
          <a:p>
            <a:pPr algn="ctr"/>
            <a:br>
              <a:rPr lang="en-US" sz="1200" dirty="0">
                <a:solidFill>
                  <a:schemeClr val="tx1"/>
                </a:solidFill>
              </a:rPr>
            </a:br>
            <a:endParaRPr sz="1200" b="1" i="0" dirty="0">
              <a:solidFill>
                <a:schemeClr val="tx1"/>
              </a:solidFill>
              <a:latin typeface="Calibri"/>
            </a:endParaRPr>
          </a:p>
        </p:txBody>
      </p:sp>
      <p:sp>
        <p:nvSpPr>
          <p:cNvPr id="17" name="Rounded Rectangle 16"/>
          <p:cNvSpPr/>
          <p:nvPr/>
        </p:nvSpPr>
        <p:spPr>
          <a:xfrm>
            <a:off x="6446520" y="3557015"/>
            <a:ext cx="1737360" cy="502920"/>
          </a:xfrm>
          <a:prstGeom prst="roundRect">
            <a:avLst/>
          </a:prstGeom>
          <a:solidFill>
            <a:srgbClr val="EBF3FB"/>
          </a:solidFill>
          <a:ln w="12700">
            <a:solidFill>
              <a:srgbClr val="AAAAAA"/>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lang="en-US" sz="1200" b="1" dirty="0" err="1">
                <a:solidFill>
                  <a:schemeClr val="tx1"/>
                </a:solidFill>
              </a:rPr>
              <a:t>Nodemailer</a:t>
            </a:r>
            <a:r>
              <a:rPr lang="en-US" sz="1200" b="1" dirty="0">
                <a:solidFill>
                  <a:schemeClr val="tx1"/>
                </a:solidFill>
              </a:rPr>
              <a:t> SMTP</a:t>
            </a:r>
            <a:br>
              <a:rPr lang="en-US" sz="1200" dirty="0">
                <a:solidFill>
                  <a:schemeClr val="tx1"/>
                </a:solidFill>
              </a:rPr>
            </a:br>
            <a:r>
              <a:rPr lang="en-US" sz="1200" dirty="0">
                <a:solidFill>
                  <a:schemeClr val="tx1"/>
                </a:solidFill>
              </a:rPr>
              <a:t>(OTP &amp; Email Gateway)</a:t>
            </a:r>
            <a:endParaRPr sz="1200" b="1" dirty="0">
              <a:solidFill>
                <a:schemeClr val="tx1"/>
              </a:solidFill>
              <a:latin typeface="Calibri"/>
            </a:endParaRPr>
          </a:p>
        </p:txBody>
      </p:sp>
      <p:cxnSp>
        <p:nvCxnSpPr>
          <p:cNvPr id="18" name="Connector 17"/>
          <p:cNvCxnSpPr>
            <a:cxnSpLocks/>
            <a:endCxn id="14" idx="0"/>
          </p:cNvCxnSpPr>
          <p:nvPr/>
        </p:nvCxnSpPr>
        <p:spPr>
          <a:xfrm flipH="1">
            <a:off x="1371600" y="2979499"/>
            <a:ext cx="3200400" cy="594360"/>
          </a:xfrm>
          <a:prstGeom prst="line">
            <a:avLst/>
          </a:prstGeom>
          <a:ln w="12700">
            <a:solidFill>
              <a:srgbClr val="AAAAAA"/>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9" name="Connector 18"/>
          <p:cNvCxnSpPr>
            <a:cxnSpLocks/>
            <a:endCxn id="15" idx="0"/>
          </p:cNvCxnSpPr>
          <p:nvPr/>
        </p:nvCxnSpPr>
        <p:spPr>
          <a:xfrm flipH="1">
            <a:off x="3383280" y="2971800"/>
            <a:ext cx="1188720" cy="593417"/>
          </a:xfrm>
          <a:prstGeom prst="line">
            <a:avLst/>
          </a:prstGeom>
          <a:ln w="12700">
            <a:solidFill>
              <a:srgbClr val="AAAAAA"/>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0" name="Connector 19"/>
          <p:cNvCxnSpPr>
            <a:cxnSpLocks/>
            <a:endCxn id="16" idx="0"/>
          </p:cNvCxnSpPr>
          <p:nvPr/>
        </p:nvCxnSpPr>
        <p:spPr>
          <a:xfrm>
            <a:off x="4572000" y="2971800"/>
            <a:ext cx="822960" cy="593417"/>
          </a:xfrm>
          <a:prstGeom prst="line">
            <a:avLst/>
          </a:prstGeom>
          <a:ln w="12700">
            <a:solidFill>
              <a:srgbClr val="AAAAAA"/>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1" name="Connector 20"/>
          <p:cNvCxnSpPr>
            <a:cxnSpLocks/>
            <a:endCxn id="17" idx="0"/>
          </p:cNvCxnSpPr>
          <p:nvPr/>
        </p:nvCxnSpPr>
        <p:spPr>
          <a:xfrm>
            <a:off x="4572000" y="2971800"/>
            <a:ext cx="2743200" cy="585215"/>
          </a:xfrm>
          <a:prstGeom prst="line">
            <a:avLst/>
          </a:prstGeom>
          <a:ln w="12700">
            <a:solidFill>
              <a:srgbClr val="AAAAAA"/>
            </a:solidFill>
            <a:tailEnd type="triangle" w="med" len="med"/>
          </a:ln>
        </p:spPr>
        <p:style>
          <a:lnRef idx="2">
            <a:schemeClr val="accent1"/>
          </a:lnRef>
          <a:fillRef idx="0">
            <a:schemeClr val="accent1"/>
          </a:fillRef>
          <a:effectRef idx="1">
            <a:schemeClr val="accent1"/>
          </a:effectRef>
          <a:fontRef idx="minor">
            <a:schemeClr val="tx1"/>
          </a:fontRef>
        </p:style>
      </p:cxnSp>
      <p:sp>
        <p:nvSpPr>
          <p:cNvPr id="22" name="TextBox 21"/>
          <p:cNvSpPr txBox="1"/>
          <p:nvPr/>
        </p:nvSpPr>
        <p:spPr>
          <a:xfrm>
            <a:off x="502920" y="4389120"/>
            <a:ext cx="8138160" cy="2321085"/>
          </a:xfrm>
          <a:prstGeom prst="rect">
            <a:avLst/>
          </a:prstGeom>
          <a:noFill/>
        </p:spPr>
        <p:txBody>
          <a:bodyPr wrap="square">
            <a:spAutoFit/>
          </a:bodyPr>
          <a:lstStyle/>
          <a:p>
            <a:pPr>
              <a:lnSpc>
                <a:spcPct val="150000"/>
              </a:lnSpc>
            </a:pPr>
            <a:r>
              <a:rPr lang="en-US" sz="1400" dirty="0">
                <a:solidFill>
                  <a:schemeClr val="accent1"/>
                </a:solidFill>
              </a:rPr>
              <a:t>▶</a:t>
            </a:r>
            <a:r>
              <a:rPr lang="en-US" sz="1400" dirty="0"/>
              <a:t> </a:t>
            </a:r>
            <a:r>
              <a:rPr lang="en-US" sz="1400" b="1" dirty="0"/>
              <a:t>Client Layer: </a:t>
            </a:r>
            <a:r>
              <a:rPr lang="en-US" sz="1400" dirty="0"/>
              <a:t>React 19 Single Page Application with Liquid-Glass UI; all pages and navigation bars are role-aware (Buyer, Seller, Breeder, Vet, Admin) with instant responsive modals and search filters.</a:t>
            </a:r>
          </a:p>
          <a:p>
            <a:pPr>
              <a:lnSpc>
                <a:spcPct val="150000"/>
              </a:lnSpc>
            </a:pPr>
            <a:r>
              <a:rPr lang="en-US" sz="1400" dirty="0">
                <a:solidFill>
                  <a:schemeClr val="accent1"/>
                </a:solidFill>
              </a:rPr>
              <a:t>▶</a:t>
            </a:r>
            <a:r>
              <a:rPr lang="en-US" sz="1400" dirty="0"/>
              <a:t> </a:t>
            </a:r>
            <a:r>
              <a:rPr lang="en-US" sz="1400" b="1" dirty="0"/>
              <a:t>Application Layer: </a:t>
            </a:r>
            <a:r>
              <a:rPr lang="en-US" sz="1400" dirty="0"/>
              <a:t>Express 4 REST API handles JWT authentication, Rate Limiting (anti-spam), Multer multipart image parsing, business rules, and Dr. Max multi-LLM diagnostic routing.</a:t>
            </a:r>
          </a:p>
          <a:p>
            <a:pPr>
              <a:lnSpc>
                <a:spcPct val="150000"/>
              </a:lnSpc>
            </a:pPr>
            <a:r>
              <a:rPr lang="en-US" sz="1400" dirty="0">
                <a:solidFill>
                  <a:schemeClr val="accent1"/>
                </a:solidFill>
              </a:rPr>
              <a:t>▶</a:t>
            </a:r>
            <a:r>
              <a:rPr lang="en-US" sz="1400" dirty="0"/>
              <a:t> </a:t>
            </a:r>
            <a:r>
              <a:rPr lang="en-US" sz="1400" b="1" dirty="0"/>
              <a:t>Data Layer: </a:t>
            </a:r>
            <a:r>
              <a:rPr lang="en-US" sz="1400" dirty="0"/>
              <a:t>MongoDB Atlas stores persistent data (horses, auctions, breeding requests, users, inquiries); high-definition horse photos live on </a:t>
            </a:r>
            <a:r>
              <a:rPr lang="en-US" sz="1400" dirty="0" err="1"/>
              <a:t>Cloudinary</a:t>
            </a:r>
            <a:r>
              <a:rPr lang="en-US" sz="1400" dirty="0"/>
              <a:t> CDN (only URLs are stored in database to keep queries lightweight).</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457200" y="256032"/>
            <a:ext cx="6949440" cy="553998"/>
          </a:xfrm>
          <a:prstGeom prst="rect">
            <a:avLst/>
          </a:prstGeom>
          <a:noFill/>
        </p:spPr>
        <p:txBody>
          <a:bodyPr wrap="square">
            <a:spAutoFit/>
          </a:bodyPr>
          <a:lstStyle/>
          <a:p>
            <a:r>
              <a:rPr sz="3000" b="1" i="0" dirty="0">
                <a:solidFill>
                  <a:srgbClr val="2E75B6"/>
                </a:solidFill>
                <a:latin typeface="Calibri Light"/>
              </a:rPr>
              <a:t>User Roles</a:t>
            </a:r>
          </a:p>
        </p:txBody>
      </p:sp>
      <p:cxnSp>
        <p:nvCxnSpPr>
          <p:cNvPr id="3" name="Connector 2"/>
          <p:cNvCxnSpPr/>
          <p:nvPr/>
        </p:nvCxnSpPr>
        <p:spPr>
          <a:xfrm>
            <a:off x="457200" y="969264"/>
            <a:ext cx="8229600" cy="0"/>
          </a:xfrm>
          <a:prstGeom prst="line">
            <a:avLst/>
          </a:prstGeom>
          <a:ln w="12700">
            <a:solidFill>
              <a:srgbClr val="AAAAAA"/>
            </a:solidFill>
            <a:prstDash val="dash"/>
          </a:ln>
        </p:spPr>
        <p:style>
          <a:lnRef idx="2">
            <a:schemeClr val="accent1"/>
          </a:lnRef>
          <a:fillRef idx="0">
            <a:schemeClr val="accent1"/>
          </a:fillRef>
          <a:effectRef idx="1">
            <a:schemeClr val="accent1"/>
          </a:effectRef>
          <a:fontRef idx="minor">
            <a:schemeClr val="tx1"/>
          </a:fontRef>
        </p:style>
      </p:cxnSp>
      <p:pic>
        <p:nvPicPr>
          <p:cNvPr id="4" name="Picture 3" descr="mul_logo.png"/>
          <p:cNvPicPr>
            <a:picLocks noChangeAspect="1"/>
          </p:cNvPicPr>
          <p:nvPr/>
        </p:nvPicPr>
        <p:blipFill>
          <a:blip r:embed="rId2"/>
          <a:stretch>
            <a:fillRect/>
          </a:stretch>
        </p:blipFill>
        <p:spPr>
          <a:xfrm>
            <a:off x="7882127" y="201168"/>
            <a:ext cx="804672" cy="804672"/>
          </a:xfrm>
          <a:prstGeom prst="rect">
            <a:avLst/>
          </a:prstGeom>
        </p:spPr>
      </p:pic>
      <p:graphicFrame>
        <p:nvGraphicFramePr>
          <p:cNvPr id="8" name="Table 7"/>
          <p:cNvGraphicFramePr>
            <a:graphicFrameLocks noGrp="1"/>
          </p:cNvGraphicFramePr>
          <p:nvPr>
            <p:extLst>
              <p:ext uri="{D42A27DB-BD31-4B8C-83A1-F6EECF244321}">
                <p14:modId xmlns:p14="http://schemas.microsoft.com/office/powerpoint/2010/main" val="1223317091"/>
              </p:ext>
            </p:extLst>
          </p:nvPr>
        </p:nvGraphicFramePr>
        <p:xfrm>
          <a:off x="548640" y="1188720"/>
          <a:ext cx="7955280" cy="2688336"/>
        </p:xfrm>
        <a:graphic>
          <a:graphicData uri="http://schemas.openxmlformats.org/drawingml/2006/table">
            <a:tbl>
              <a:tblPr firstRow="1" bandRow="1">
                <a:tableStyleId>{5C22544A-7EE6-4342-B048-85BDC9FD1C3A}</a:tableStyleId>
              </a:tblPr>
              <a:tblGrid>
                <a:gridCol w="2103120">
                  <a:extLst>
                    <a:ext uri="{9D8B030D-6E8A-4147-A177-3AD203B41FA5}">
                      <a16:colId xmlns:a16="http://schemas.microsoft.com/office/drawing/2014/main" val="20000"/>
                    </a:ext>
                  </a:extLst>
                </a:gridCol>
                <a:gridCol w="5852160">
                  <a:extLst>
                    <a:ext uri="{9D8B030D-6E8A-4147-A177-3AD203B41FA5}">
                      <a16:colId xmlns:a16="http://schemas.microsoft.com/office/drawing/2014/main" val="20001"/>
                    </a:ext>
                  </a:extLst>
                </a:gridCol>
              </a:tblGrid>
              <a:tr h="384048">
                <a:tc>
                  <a:txBody>
                    <a:bodyPr/>
                    <a:lstStyle/>
                    <a:p>
                      <a:r>
                        <a:rPr sz="1200" b="1" i="0">
                          <a:solidFill>
                            <a:srgbClr val="FFFFFF"/>
                          </a:solidFill>
                          <a:latin typeface="Calibri"/>
                        </a:rPr>
                        <a:t>Role</a:t>
                      </a:r>
                    </a:p>
                  </a:txBody>
                  <a:tcPr marT="25400" marB="25400" anchor="ctr">
                    <a:solidFill>
                      <a:srgbClr val="2E75B6"/>
                    </a:solidFill>
                  </a:tcPr>
                </a:tc>
                <a:tc>
                  <a:txBody>
                    <a:bodyPr/>
                    <a:lstStyle/>
                    <a:p>
                      <a:r>
                        <a:rPr sz="1200" b="1" i="0">
                          <a:solidFill>
                            <a:srgbClr val="FFFFFF"/>
                          </a:solidFill>
                          <a:latin typeface="Calibri"/>
                        </a:rPr>
                        <a:t>Primary Access &amp; Permissions</a:t>
                      </a:r>
                    </a:p>
                  </a:txBody>
                  <a:tcPr marT="25400" marB="25400" anchor="ctr">
                    <a:solidFill>
                      <a:srgbClr val="2E75B6"/>
                    </a:solidFill>
                  </a:tcPr>
                </a:tc>
                <a:extLst>
                  <a:ext uri="{0D108BD9-81ED-4DB2-BD59-A6C34878D82A}">
                    <a16:rowId xmlns:a16="http://schemas.microsoft.com/office/drawing/2014/main" val="10000"/>
                  </a:ext>
                </a:extLst>
              </a:tr>
              <a:tr h="384048">
                <a:tc>
                  <a:txBody>
                    <a:bodyPr/>
                    <a:lstStyle/>
                    <a:p>
                      <a:pPr indent="0" algn="l">
                        <a:buNone/>
                      </a:pPr>
                      <a:r>
                        <a:rPr lang="en-US" sz="976" b="0" i="0">
                          <a:solidFill>
                            <a:schemeClr val="tx1"/>
                          </a:solidFill>
                          <a:effectLst/>
                          <a:latin typeface="Segoe WPC"/>
                        </a:rPr>
                        <a:t>Buyer</a:t>
                      </a:r>
                    </a:p>
                  </a:txBody>
                  <a:tcPr anchor="ctr">
                    <a:solidFill>
                      <a:srgbClr val="FFFFFF"/>
                    </a:solidFill>
                  </a:tcPr>
                </a:tc>
                <a:tc>
                  <a:txBody>
                    <a:bodyPr/>
                    <a:lstStyle/>
                    <a:p>
                      <a:pPr indent="0" algn="l">
                        <a:buNone/>
                      </a:pPr>
                      <a:r>
                        <a:rPr lang="en-US" sz="976" b="0" i="0">
                          <a:solidFill>
                            <a:schemeClr val="tx1"/>
                          </a:solidFill>
                          <a:effectLst/>
                          <a:latin typeface="Segoe WPC"/>
                        </a:rPr>
                        <a:t>Buy horses, place auction bids, consult AI Vet &amp; book riding trials</a:t>
                      </a:r>
                    </a:p>
                  </a:txBody>
                  <a:tcPr anchor="ctr">
                    <a:solidFill>
                      <a:srgbClr val="FFFFFF"/>
                    </a:solidFill>
                  </a:tcPr>
                </a:tc>
                <a:extLst>
                  <a:ext uri="{0D108BD9-81ED-4DB2-BD59-A6C34878D82A}">
                    <a16:rowId xmlns:a16="http://schemas.microsoft.com/office/drawing/2014/main" val="10001"/>
                  </a:ext>
                </a:extLst>
              </a:tr>
              <a:tr h="384048">
                <a:tc>
                  <a:txBody>
                    <a:bodyPr/>
                    <a:lstStyle/>
                    <a:p>
                      <a:pPr indent="0" algn="l">
                        <a:buNone/>
                      </a:pPr>
                      <a:r>
                        <a:rPr lang="en-US" sz="976" b="0" i="0">
                          <a:solidFill>
                            <a:schemeClr val="tx1"/>
                          </a:solidFill>
                          <a:effectLst/>
                          <a:latin typeface="Segoe WPC"/>
                        </a:rPr>
                        <a:t>Seller</a:t>
                      </a:r>
                    </a:p>
                  </a:txBody>
                  <a:tcPr anchor="ctr">
                    <a:solidFill>
                      <a:srgbClr val="EBF3FB"/>
                    </a:solidFill>
                  </a:tcPr>
                </a:tc>
                <a:tc>
                  <a:txBody>
                    <a:bodyPr/>
                    <a:lstStyle/>
                    <a:p>
                      <a:pPr indent="0" algn="l">
                        <a:buNone/>
                      </a:pPr>
                      <a:r>
                        <a:rPr lang="en-US" sz="976" b="0" i="0">
                          <a:solidFill>
                            <a:schemeClr val="tx1"/>
                          </a:solidFill>
                          <a:effectLst/>
                          <a:latin typeface="Segoe WPC"/>
                        </a:rPr>
                        <a:t>Post horse ads with photos, manage listings &amp; chat with buyers</a:t>
                      </a:r>
                    </a:p>
                  </a:txBody>
                  <a:tcPr anchor="ctr">
                    <a:solidFill>
                      <a:srgbClr val="EBF3FB"/>
                    </a:solidFill>
                  </a:tcPr>
                </a:tc>
                <a:extLst>
                  <a:ext uri="{0D108BD9-81ED-4DB2-BD59-A6C34878D82A}">
                    <a16:rowId xmlns:a16="http://schemas.microsoft.com/office/drawing/2014/main" val="10002"/>
                  </a:ext>
                </a:extLst>
              </a:tr>
              <a:tr h="384048">
                <a:tc>
                  <a:txBody>
                    <a:bodyPr/>
                    <a:lstStyle/>
                    <a:p>
                      <a:pPr indent="0" algn="l">
                        <a:buNone/>
                      </a:pPr>
                      <a:r>
                        <a:rPr lang="en-US" sz="976" b="0" i="0">
                          <a:solidFill>
                            <a:schemeClr val="tx1"/>
                          </a:solidFill>
                          <a:effectLst/>
                          <a:latin typeface="Segoe WPC"/>
                        </a:rPr>
                        <a:t>Breeder / Stud Owner</a:t>
                      </a:r>
                    </a:p>
                  </a:txBody>
                  <a:tcPr anchor="ctr">
                    <a:solidFill>
                      <a:srgbClr val="FFFFFF"/>
                    </a:solidFill>
                  </a:tcPr>
                </a:tc>
                <a:tc>
                  <a:txBody>
                    <a:bodyPr/>
                    <a:lstStyle/>
                    <a:p>
                      <a:pPr indent="0" algn="l">
                        <a:buNone/>
                      </a:pPr>
                      <a:r>
                        <a:rPr lang="en-US" sz="976" b="0" i="0">
                          <a:solidFill>
                            <a:schemeClr val="tx1"/>
                          </a:solidFill>
                          <a:effectLst/>
                          <a:latin typeface="Segoe WPC"/>
                        </a:rPr>
                        <a:t>List certified stud horses &amp; manage mating requests</a:t>
                      </a:r>
                    </a:p>
                  </a:txBody>
                  <a:tcPr anchor="ctr">
                    <a:solidFill>
                      <a:srgbClr val="FFFFFF"/>
                    </a:solidFill>
                  </a:tcPr>
                </a:tc>
                <a:extLst>
                  <a:ext uri="{0D108BD9-81ED-4DB2-BD59-A6C34878D82A}">
                    <a16:rowId xmlns:a16="http://schemas.microsoft.com/office/drawing/2014/main" val="10003"/>
                  </a:ext>
                </a:extLst>
              </a:tr>
              <a:tr h="384048">
                <a:tc>
                  <a:txBody>
                    <a:bodyPr/>
                    <a:lstStyle/>
                    <a:p>
                      <a:pPr indent="0" algn="l">
                        <a:buNone/>
                      </a:pPr>
                      <a:r>
                        <a:rPr lang="en-US" sz="976" b="0" i="0">
                          <a:solidFill>
                            <a:schemeClr val="tx1"/>
                          </a:solidFill>
                          <a:effectLst/>
                          <a:latin typeface="Segoe WPC"/>
                        </a:rPr>
                        <a:t>Riding Academy</a:t>
                      </a:r>
                    </a:p>
                  </a:txBody>
                  <a:tcPr anchor="ctr">
                    <a:solidFill>
                      <a:srgbClr val="EBF3FB"/>
                    </a:solidFill>
                  </a:tcPr>
                </a:tc>
                <a:tc>
                  <a:txBody>
                    <a:bodyPr/>
                    <a:lstStyle/>
                    <a:p>
                      <a:pPr indent="0" algn="l">
                        <a:buNone/>
                      </a:pPr>
                      <a:r>
                        <a:rPr lang="en-US" sz="976" b="0" i="0">
                          <a:solidFill>
                            <a:schemeClr val="tx1"/>
                          </a:solidFill>
                          <a:effectLst/>
                          <a:latin typeface="Segoe WPC"/>
                        </a:rPr>
                        <a:t>Publish riding packages &amp; manage trial bookings</a:t>
                      </a:r>
                    </a:p>
                  </a:txBody>
                  <a:tcPr anchor="ctr">
                    <a:solidFill>
                      <a:srgbClr val="EBF3FB"/>
                    </a:solidFill>
                  </a:tcPr>
                </a:tc>
                <a:extLst>
                  <a:ext uri="{0D108BD9-81ED-4DB2-BD59-A6C34878D82A}">
                    <a16:rowId xmlns:a16="http://schemas.microsoft.com/office/drawing/2014/main" val="10004"/>
                  </a:ext>
                </a:extLst>
              </a:tr>
              <a:tr h="384048">
                <a:tc>
                  <a:txBody>
                    <a:bodyPr/>
                    <a:lstStyle/>
                    <a:p>
                      <a:pPr indent="0" algn="l">
                        <a:buNone/>
                      </a:pPr>
                      <a:r>
                        <a:rPr lang="en-US" sz="976" b="0" i="0">
                          <a:solidFill>
                            <a:schemeClr val="tx1"/>
                          </a:solidFill>
                          <a:effectLst/>
                          <a:latin typeface="Segoe WPC"/>
                        </a:rPr>
                        <a:t>Veterinarian</a:t>
                      </a:r>
                    </a:p>
                  </a:txBody>
                  <a:tcPr anchor="ctr">
                    <a:solidFill>
                      <a:srgbClr val="FFFFFF"/>
                    </a:solidFill>
                  </a:tcPr>
                </a:tc>
                <a:tc>
                  <a:txBody>
                    <a:bodyPr/>
                    <a:lstStyle/>
                    <a:p>
                      <a:pPr indent="0" algn="l">
                        <a:buNone/>
                      </a:pPr>
                      <a:r>
                        <a:rPr lang="en-US" sz="976" b="0" i="0">
                          <a:solidFill>
                            <a:schemeClr val="tx1"/>
                          </a:solidFill>
                          <a:effectLst/>
                          <a:latin typeface="Segoe WPC"/>
                        </a:rPr>
                        <a:t>List clinic details &amp; provide medical consultations</a:t>
                      </a:r>
                    </a:p>
                  </a:txBody>
                  <a:tcPr anchor="ctr">
                    <a:solidFill>
                      <a:srgbClr val="FFFFFF"/>
                    </a:solidFill>
                  </a:tcPr>
                </a:tc>
                <a:extLst>
                  <a:ext uri="{0D108BD9-81ED-4DB2-BD59-A6C34878D82A}">
                    <a16:rowId xmlns:a16="http://schemas.microsoft.com/office/drawing/2014/main" val="10005"/>
                  </a:ext>
                </a:extLst>
              </a:tr>
              <a:tr h="384048">
                <a:tc>
                  <a:txBody>
                    <a:bodyPr/>
                    <a:lstStyle/>
                    <a:p>
                      <a:pPr indent="0" algn="l">
                        <a:buNone/>
                      </a:pPr>
                      <a:r>
                        <a:rPr lang="en-US" sz="976" b="0" i="0">
                          <a:solidFill>
                            <a:schemeClr val="tx1"/>
                          </a:solidFill>
                          <a:effectLst/>
                          <a:latin typeface="Segoe WPC"/>
                        </a:rPr>
                        <a:t>Admin</a:t>
                      </a:r>
                    </a:p>
                  </a:txBody>
                  <a:tcPr anchor="ctr">
                    <a:solidFill>
                      <a:srgbClr val="EBF3FB"/>
                    </a:solidFill>
                  </a:tcPr>
                </a:tc>
                <a:tc>
                  <a:txBody>
                    <a:bodyPr/>
                    <a:lstStyle/>
                    <a:p>
                      <a:pPr indent="0" algn="l">
                        <a:buNone/>
                      </a:pPr>
                      <a:r>
                        <a:rPr lang="en-US" sz="976" b="0" i="0" dirty="0">
                          <a:solidFill>
                            <a:schemeClr val="tx1"/>
                          </a:solidFill>
                          <a:effectLst/>
                          <a:latin typeface="Segoe WPC"/>
                        </a:rPr>
                        <a:t>Approve/reject ads, monitor auctions &amp; manage users</a:t>
                      </a:r>
                    </a:p>
                  </a:txBody>
                  <a:tcPr anchor="ctr">
                    <a:solidFill>
                      <a:srgbClr val="EBF3FB"/>
                    </a:solidFill>
                  </a:tcPr>
                </a:tc>
                <a:extLst>
                  <a:ext uri="{0D108BD9-81ED-4DB2-BD59-A6C34878D82A}">
                    <a16:rowId xmlns:a16="http://schemas.microsoft.com/office/drawing/2014/main" val="10006"/>
                  </a:ext>
                </a:extLst>
              </a:tr>
            </a:tbl>
          </a:graphicData>
        </a:graphic>
      </p:graphicFrame>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457200" y="256032"/>
            <a:ext cx="6949440" cy="553998"/>
          </a:xfrm>
          <a:prstGeom prst="rect">
            <a:avLst/>
          </a:prstGeom>
          <a:noFill/>
        </p:spPr>
        <p:txBody>
          <a:bodyPr wrap="square">
            <a:spAutoFit/>
          </a:bodyPr>
          <a:lstStyle/>
          <a:p>
            <a:r>
              <a:rPr sz="3000" b="1" i="0" dirty="0">
                <a:solidFill>
                  <a:srgbClr val="2E75B6"/>
                </a:solidFill>
                <a:latin typeface="Calibri Light"/>
              </a:rPr>
              <a:t>System Design  UML Diagrams</a:t>
            </a:r>
          </a:p>
        </p:txBody>
      </p:sp>
      <p:cxnSp>
        <p:nvCxnSpPr>
          <p:cNvPr id="3" name="Connector 2"/>
          <p:cNvCxnSpPr/>
          <p:nvPr/>
        </p:nvCxnSpPr>
        <p:spPr>
          <a:xfrm>
            <a:off x="457200" y="969264"/>
            <a:ext cx="8229600" cy="0"/>
          </a:xfrm>
          <a:prstGeom prst="line">
            <a:avLst/>
          </a:prstGeom>
          <a:ln w="12700">
            <a:solidFill>
              <a:srgbClr val="AAAAAA"/>
            </a:solidFill>
            <a:prstDash val="dash"/>
          </a:ln>
        </p:spPr>
        <p:style>
          <a:lnRef idx="2">
            <a:schemeClr val="accent1"/>
          </a:lnRef>
          <a:fillRef idx="0">
            <a:schemeClr val="accent1"/>
          </a:fillRef>
          <a:effectRef idx="1">
            <a:schemeClr val="accent1"/>
          </a:effectRef>
          <a:fontRef idx="minor">
            <a:schemeClr val="tx1"/>
          </a:fontRef>
        </p:style>
      </p:cxnSp>
      <p:pic>
        <p:nvPicPr>
          <p:cNvPr id="4" name="Picture 3" descr="mul_logo.png"/>
          <p:cNvPicPr>
            <a:picLocks noChangeAspect="1"/>
          </p:cNvPicPr>
          <p:nvPr/>
        </p:nvPicPr>
        <p:blipFill>
          <a:blip r:embed="rId2"/>
          <a:stretch>
            <a:fillRect/>
          </a:stretch>
        </p:blipFill>
        <p:spPr>
          <a:xfrm>
            <a:off x="7882127" y="201168"/>
            <a:ext cx="804672" cy="804672"/>
          </a:xfrm>
          <a:prstGeom prst="rect">
            <a:avLst/>
          </a:prstGeom>
        </p:spPr>
      </p:pic>
      <p:sp>
        <p:nvSpPr>
          <p:cNvPr id="8" name="TextBox 7"/>
          <p:cNvSpPr txBox="1"/>
          <p:nvPr/>
        </p:nvSpPr>
        <p:spPr>
          <a:xfrm>
            <a:off x="548640" y="1143000"/>
            <a:ext cx="4114800" cy="320040"/>
          </a:xfrm>
          <a:prstGeom prst="rect">
            <a:avLst/>
          </a:prstGeom>
          <a:noFill/>
        </p:spPr>
        <p:txBody>
          <a:bodyPr wrap="square">
            <a:spAutoFit/>
          </a:bodyPr>
          <a:lstStyle/>
          <a:p>
            <a:r>
              <a:rPr sz="1400" b="1" i="0">
                <a:solidFill>
                  <a:srgbClr val="2E75B6"/>
                </a:solidFill>
                <a:latin typeface="Calibri"/>
              </a:rPr>
              <a:t>Structural Diagrams</a:t>
            </a:r>
          </a:p>
        </p:txBody>
      </p:sp>
      <p:cxnSp>
        <p:nvCxnSpPr>
          <p:cNvPr id="9" name="Connector 8"/>
          <p:cNvCxnSpPr/>
          <p:nvPr/>
        </p:nvCxnSpPr>
        <p:spPr>
          <a:xfrm>
            <a:off x="548640" y="1453896"/>
            <a:ext cx="2377440" cy="0"/>
          </a:xfrm>
          <a:prstGeom prst="line">
            <a:avLst/>
          </a:prstGeom>
          <a:ln w="19050">
            <a:solidFill>
              <a:srgbClr val="2E75B6"/>
            </a:solidFill>
          </a:ln>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4892040" y="1143000"/>
            <a:ext cx="4114800" cy="320040"/>
          </a:xfrm>
          <a:prstGeom prst="rect">
            <a:avLst/>
          </a:prstGeom>
          <a:noFill/>
        </p:spPr>
        <p:txBody>
          <a:bodyPr wrap="square">
            <a:spAutoFit/>
          </a:bodyPr>
          <a:lstStyle/>
          <a:p>
            <a:r>
              <a:rPr sz="1400" b="1" i="0">
                <a:solidFill>
                  <a:srgbClr val="2E75B6"/>
                </a:solidFill>
                <a:latin typeface="Calibri"/>
              </a:rPr>
              <a:t>Behavioral Diagrams</a:t>
            </a:r>
          </a:p>
        </p:txBody>
      </p:sp>
      <p:cxnSp>
        <p:nvCxnSpPr>
          <p:cNvPr id="11" name="Connector 10"/>
          <p:cNvCxnSpPr/>
          <p:nvPr/>
        </p:nvCxnSpPr>
        <p:spPr>
          <a:xfrm>
            <a:off x="4892040" y="1453896"/>
            <a:ext cx="2377439" cy="0"/>
          </a:xfrm>
          <a:prstGeom prst="line">
            <a:avLst/>
          </a:prstGeom>
          <a:ln w="19050">
            <a:solidFill>
              <a:srgbClr val="2E75B6"/>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548640" y="1472665"/>
            <a:ext cx="4023360" cy="2833724"/>
          </a:xfrm>
          <a:prstGeom prst="rect">
            <a:avLst/>
          </a:prstGeom>
          <a:noFill/>
        </p:spPr>
        <p:txBody>
          <a:bodyPr wrap="square">
            <a:spAutoFit/>
          </a:bodyPr>
          <a:lstStyle/>
          <a:p>
            <a:pPr>
              <a:lnSpc>
                <a:spcPct val="150000"/>
              </a:lnSpc>
              <a:spcAft>
                <a:spcPts val="700"/>
              </a:spcAft>
            </a:pPr>
            <a:r>
              <a:rPr lang="en-US" sz="1200" dirty="0">
                <a:solidFill>
                  <a:schemeClr val="accent1"/>
                </a:solidFill>
              </a:rPr>
              <a:t>▶</a:t>
            </a:r>
            <a:r>
              <a:rPr lang="en-US" sz="1200" dirty="0"/>
              <a:t> Architecture Diagram: 3-Tier model (React 19 / Express REST API / MongoDB Atlas + </a:t>
            </a:r>
            <a:r>
              <a:rPr lang="en-US" sz="1200" dirty="0" err="1"/>
              <a:t>Cloudinary</a:t>
            </a:r>
            <a:r>
              <a:rPr lang="en-US" sz="1200" dirty="0"/>
              <a:t>)</a:t>
            </a:r>
            <a:br>
              <a:rPr lang="en-US" sz="1200" dirty="0"/>
            </a:br>
            <a:r>
              <a:rPr lang="en-US" sz="1200" dirty="0">
                <a:solidFill>
                  <a:schemeClr val="accent1"/>
                </a:solidFill>
              </a:rPr>
              <a:t>▶</a:t>
            </a:r>
            <a:r>
              <a:rPr lang="en-US" sz="1200" dirty="0"/>
              <a:t> Entity Relationship Diagram (ERD): Relational schemas for Users, Horses, Auctions, Breeding, and Vet Inquiries</a:t>
            </a:r>
            <a:br>
              <a:rPr lang="en-US" sz="1200" dirty="0"/>
            </a:br>
            <a:r>
              <a:rPr lang="en-US" sz="1200" dirty="0">
                <a:solidFill>
                  <a:schemeClr val="accent1"/>
                </a:solidFill>
              </a:rPr>
              <a:t>▶</a:t>
            </a:r>
            <a:r>
              <a:rPr lang="en-US" sz="1200" dirty="0"/>
              <a:t> Class Diagram: Mongoose data models, business controllers, and Multi-Tier AI handlers</a:t>
            </a:r>
            <a:br>
              <a:rPr lang="en-US" sz="1200" dirty="0"/>
            </a:br>
            <a:r>
              <a:rPr lang="en-US" sz="1200" dirty="0">
                <a:solidFill>
                  <a:schemeClr val="accent1"/>
                </a:solidFill>
              </a:rPr>
              <a:t>▶</a:t>
            </a:r>
            <a:r>
              <a:rPr lang="en-US" sz="1200" dirty="0"/>
              <a:t> Component Diagram: Modular React UI components &amp; decoupled backend REST services</a:t>
            </a:r>
            <a:br>
              <a:rPr lang="en-US" sz="1200" dirty="0"/>
            </a:br>
            <a:r>
              <a:rPr lang="en-US" sz="1200" dirty="0">
                <a:solidFill>
                  <a:schemeClr val="accent1"/>
                </a:solidFill>
              </a:rPr>
              <a:t>▶</a:t>
            </a:r>
            <a:r>
              <a:rPr lang="en-US" sz="1200" dirty="0"/>
              <a:t> Deployment Diagram: </a:t>
            </a:r>
            <a:r>
              <a:rPr lang="en-US" sz="1200" dirty="0" err="1"/>
              <a:t>Vercel</a:t>
            </a:r>
            <a:r>
              <a:rPr lang="en-US" sz="1200" dirty="0"/>
              <a:t> (Client) + Render (API Server) + MongoDB Atlas (Database)</a:t>
            </a:r>
            <a:endParaRPr sz="1200" i="0" dirty="0">
              <a:solidFill>
                <a:srgbClr val="2C2C2C"/>
              </a:solidFill>
              <a:latin typeface="Calibri"/>
            </a:endParaRPr>
          </a:p>
        </p:txBody>
      </p:sp>
      <p:sp>
        <p:nvSpPr>
          <p:cNvPr id="13" name="TextBox 12"/>
          <p:cNvSpPr txBox="1"/>
          <p:nvPr/>
        </p:nvSpPr>
        <p:spPr>
          <a:xfrm>
            <a:off x="4800600" y="1463040"/>
            <a:ext cx="4023360" cy="4759893"/>
          </a:xfrm>
          <a:prstGeom prst="rect">
            <a:avLst/>
          </a:prstGeom>
          <a:noFill/>
        </p:spPr>
        <p:txBody>
          <a:bodyPr wrap="square">
            <a:spAutoFit/>
          </a:bodyPr>
          <a:lstStyle/>
          <a:p>
            <a:pPr>
              <a:spcAft>
                <a:spcPts val="700"/>
              </a:spcAft>
            </a:pPr>
            <a:r>
              <a:rPr lang="en-US" sz="1200" dirty="0">
                <a:solidFill>
                  <a:schemeClr val="accent1"/>
                </a:solidFill>
              </a:rPr>
              <a:t>▶</a:t>
            </a:r>
            <a:r>
              <a:rPr lang="en-US" sz="1200" dirty="0"/>
              <a:t> 8 Sequence Diagrams: Sign In, Post Horse Listing, Place Auction Bid, Book Breeding Stud, Dr. Max AI Triage, Riding Lesson Booking, Admin Ad Moderation, and Password Reset OTP</a:t>
            </a:r>
            <a:br>
              <a:rPr lang="en-US" sz="1200" dirty="0"/>
            </a:br>
            <a:r>
              <a:rPr lang="en-US" sz="1200" dirty="0">
                <a:solidFill>
                  <a:schemeClr val="accent1"/>
                </a:solidFill>
              </a:rPr>
              <a:t>▶</a:t>
            </a:r>
            <a:r>
              <a:rPr lang="en-US" sz="1200" dirty="0"/>
              <a:t> 8 Activity Diagrams: Detailed step-by-step user workflows with explicit validation &amp; decision branches</a:t>
            </a:r>
            <a:br>
              <a:rPr lang="en-US" sz="1200" dirty="0"/>
            </a:br>
            <a:r>
              <a:rPr lang="en-US" sz="1200" dirty="0">
                <a:solidFill>
                  <a:schemeClr val="accent1"/>
                </a:solidFill>
              </a:rPr>
              <a:t>▶</a:t>
            </a:r>
            <a:r>
              <a:rPr lang="en-US" sz="1200" dirty="0"/>
              <a:t> 5 State Transition Diagrams:</a:t>
            </a:r>
            <a:br>
              <a:rPr lang="en-US" sz="1200" dirty="0"/>
            </a:br>
            <a:r>
              <a:rPr lang="en-US" sz="1200" dirty="0"/>
              <a:t> </a:t>
            </a:r>
            <a:r>
              <a:rPr lang="en-US" sz="1200" b="1" dirty="0"/>
              <a:t>1. Horse Ad:</a:t>
            </a:r>
            <a:r>
              <a:rPr lang="en-US" sz="1200" dirty="0"/>
              <a:t> [ Draft ] ──► [ Pending Approval ] ──►</a:t>
            </a:r>
          </a:p>
          <a:p>
            <a:pPr>
              <a:spcAft>
                <a:spcPts val="700"/>
              </a:spcAft>
            </a:pPr>
            <a:r>
              <a:rPr lang="en-US" sz="1200" dirty="0"/>
              <a:t>[ Approved ] ──► [ Active in Marketplace ] ──► [ Sold / Archived ]</a:t>
            </a:r>
          </a:p>
          <a:p>
            <a:pPr>
              <a:spcAft>
                <a:spcPts val="700"/>
              </a:spcAft>
            </a:pPr>
            <a:r>
              <a:rPr lang="en-US" sz="1200" dirty="0"/>
              <a:t> </a:t>
            </a:r>
            <a:r>
              <a:rPr lang="en-US" sz="1200" b="1" dirty="0"/>
              <a:t>2. Live Auction:</a:t>
            </a:r>
            <a:r>
              <a:rPr lang="en-US" sz="1200" dirty="0"/>
              <a:t> [ Draft Auction ] ──► [ Active / Open Bidding ] ──► [ Time Expired / Completed ] ──► [ Settled &amp; Winner Notified ]</a:t>
            </a:r>
          </a:p>
          <a:p>
            <a:pPr>
              <a:spcAft>
                <a:spcPts val="700"/>
              </a:spcAft>
            </a:pPr>
            <a:r>
              <a:rPr lang="en-US" sz="1200" b="1" dirty="0"/>
              <a:t>3. Breeding Request: </a:t>
            </a:r>
            <a:r>
              <a:rPr lang="en-US" sz="1200" dirty="0"/>
              <a:t>[ Request Submitted ] ──► [ Breeder Accepted ] ──► [ Mating Completed ]</a:t>
            </a:r>
            <a:br>
              <a:rPr lang="en-US" sz="1200" dirty="0"/>
            </a:br>
            <a:r>
              <a:rPr lang="en-US" sz="1200" dirty="0"/>
              <a:t> </a:t>
            </a:r>
            <a:r>
              <a:rPr lang="en-US" sz="1200" b="1" dirty="0"/>
              <a:t>4. Riding Trial Booking:  </a:t>
            </a:r>
            <a:r>
              <a:rPr lang="en-US" sz="1200" dirty="0"/>
              <a:t>[ Trial Booked ] ──► [ Academy Confirmed ] ──► [ Lesson Attended ]</a:t>
            </a:r>
          </a:p>
          <a:p>
            <a:pPr>
              <a:spcAft>
                <a:spcPts val="700"/>
              </a:spcAft>
            </a:pPr>
            <a:r>
              <a:rPr lang="en-US" sz="1200" b="1" dirty="0"/>
              <a:t>5. User Session &amp; JWT State: </a:t>
            </a:r>
            <a:r>
              <a:rPr lang="en-US" sz="1200" dirty="0"/>
              <a:t>[ Logged Out ] ──► [ Authenticated (Active Token) ] ──► [ Token Expired / Logged Out ]</a:t>
            </a:r>
          </a:p>
          <a:p>
            <a:pPr>
              <a:lnSpc>
                <a:spcPct val="150000"/>
              </a:lnSpc>
              <a:spcAft>
                <a:spcPts val="700"/>
              </a:spcAft>
            </a:pPr>
            <a:br>
              <a:rPr lang="en-US" sz="1200" dirty="0"/>
            </a:br>
            <a:endParaRPr sz="1200" i="0" dirty="0">
              <a:solidFill>
                <a:srgbClr val="2C2C2C"/>
              </a:solidFill>
              <a:latin typeface="Calibri"/>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457200" y="183987"/>
            <a:ext cx="6949440" cy="830997"/>
          </a:xfrm>
          <a:prstGeom prst="rect">
            <a:avLst/>
          </a:prstGeom>
          <a:noFill/>
        </p:spPr>
        <p:txBody>
          <a:bodyPr wrap="square">
            <a:spAutoFit/>
          </a:bodyPr>
          <a:lstStyle/>
          <a:p>
            <a:r>
              <a:rPr lang="en-US" sz="2400" dirty="0">
                <a:solidFill>
                  <a:schemeClr val="accent1"/>
                </a:solidFill>
              </a:rPr>
              <a:t>Key Innovation — Dr. Max AI Multi-Tier Veterinary Engine</a:t>
            </a:r>
            <a:endParaRPr sz="2400" i="0" dirty="0">
              <a:solidFill>
                <a:schemeClr val="accent1"/>
              </a:solidFill>
              <a:latin typeface="Calibri Light"/>
            </a:endParaRPr>
          </a:p>
        </p:txBody>
      </p:sp>
      <p:cxnSp>
        <p:nvCxnSpPr>
          <p:cNvPr id="3" name="Connector 2"/>
          <p:cNvCxnSpPr/>
          <p:nvPr/>
        </p:nvCxnSpPr>
        <p:spPr>
          <a:xfrm>
            <a:off x="457200" y="969264"/>
            <a:ext cx="8229600" cy="0"/>
          </a:xfrm>
          <a:prstGeom prst="line">
            <a:avLst/>
          </a:prstGeom>
          <a:ln w="12700">
            <a:solidFill>
              <a:srgbClr val="AAAAAA"/>
            </a:solidFill>
            <a:prstDash val="dash"/>
          </a:ln>
        </p:spPr>
        <p:style>
          <a:lnRef idx="2">
            <a:schemeClr val="accent1"/>
          </a:lnRef>
          <a:fillRef idx="0">
            <a:schemeClr val="accent1"/>
          </a:fillRef>
          <a:effectRef idx="1">
            <a:schemeClr val="accent1"/>
          </a:effectRef>
          <a:fontRef idx="minor">
            <a:schemeClr val="tx1"/>
          </a:fontRef>
        </p:style>
      </p:cxnSp>
      <p:pic>
        <p:nvPicPr>
          <p:cNvPr id="4" name="Picture 3" descr="mul_logo.png"/>
          <p:cNvPicPr>
            <a:picLocks noChangeAspect="1"/>
          </p:cNvPicPr>
          <p:nvPr/>
        </p:nvPicPr>
        <p:blipFill>
          <a:blip r:embed="rId2"/>
          <a:stretch>
            <a:fillRect/>
          </a:stretch>
        </p:blipFill>
        <p:spPr>
          <a:xfrm>
            <a:off x="7882127" y="201168"/>
            <a:ext cx="804672" cy="804672"/>
          </a:xfrm>
          <a:prstGeom prst="rect">
            <a:avLst/>
          </a:prstGeom>
        </p:spPr>
      </p:pic>
      <p:sp>
        <p:nvSpPr>
          <p:cNvPr id="8" name="Rounded Rectangle 7"/>
          <p:cNvSpPr/>
          <p:nvPr/>
        </p:nvSpPr>
        <p:spPr>
          <a:xfrm>
            <a:off x="548640" y="1143000"/>
            <a:ext cx="8046720" cy="502920"/>
          </a:xfrm>
          <a:prstGeom prst="roundRect">
            <a:avLst/>
          </a:prstGeom>
          <a:solidFill>
            <a:srgbClr val="1F3864"/>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200" b="1" i="0" dirty="0">
                <a:solidFill>
                  <a:srgbClr val="FFFFFF"/>
                </a:solidFill>
                <a:latin typeface="Calibri"/>
              </a:rPr>
              <a:t> </a:t>
            </a:r>
            <a:r>
              <a:rPr lang="en-US" sz="1100" b="1" dirty="0" err="1"/>
              <a:t>HorseSquare</a:t>
            </a:r>
            <a:r>
              <a:rPr lang="en-US" sz="1100" b="1" dirty="0"/>
              <a:t> Pakistan is the only equine platform featuring a Multi-Tier AI Diagnostic Engine specifically specialized in regional Pakistani horse diseases and emergency triage also understand English and Roman Urdu.</a:t>
            </a:r>
            <a:endParaRPr sz="1100" b="1" i="0" dirty="0">
              <a:solidFill>
                <a:srgbClr val="FFFFFF"/>
              </a:solidFill>
              <a:latin typeface="Calibri"/>
            </a:endParaRPr>
          </a:p>
        </p:txBody>
      </p:sp>
      <p:sp>
        <p:nvSpPr>
          <p:cNvPr id="9" name="Rounded Rectangle 8"/>
          <p:cNvSpPr/>
          <p:nvPr/>
        </p:nvSpPr>
        <p:spPr>
          <a:xfrm>
            <a:off x="548640" y="2148840"/>
            <a:ext cx="1554480" cy="502920"/>
          </a:xfrm>
          <a:prstGeom prst="roundRect">
            <a:avLst/>
          </a:prstGeom>
          <a:solidFill>
            <a:srgbClr val="EBF3FB"/>
          </a:solidFill>
          <a:ln w="12700">
            <a:solidFill>
              <a:srgbClr val="AAAAAA"/>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lang="en-US" sz="1000" b="1" dirty="0">
                <a:solidFill>
                  <a:schemeClr val="tx1"/>
                </a:solidFill>
              </a:rPr>
              <a:t>Seller Posts Horse Ad</a:t>
            </a:r>
            <a:endParaRPr sz="1000" b="1" i="0" dirty="0">
              <a:solidFill>
                <a:schemeClr val="tx1"/>
              </a:solidFill>
              <a:latin typeface="Calibri"/>
            </a:endParaRPr>
          </a:p>
        </p:txBody>
      </p:sp>
      <p:cxnSp>
        <p:nvCxnSpPr>
          <p:cNvPr id="10" name="Connector 9"/>
          <p:cNvCxnSpPr/>
          <p:nvPr/>
        </p:nvCxnSpPr>
        <p:spPr>
          <a:xfrm>
            <a:off x="2103120" y="2395728"/>
            <a:ext cx="457200" cy="0"/>
          </a:xfrm>
          <a:prstGeom prst="line">
            <a:avLst/>
          </a:prstGeom>
          <a:ln w="19050">
            <a:solidFill>
              <a:srgbClr val="2E75B6"/>
            </a:solidFill>
            <a:tailEnd type="triangle" w="med" len="med"/>
          </a:ln>
        </p:spPr>
        <p:style>
          <a:lnRef idx="2">
            <a:schemeClr val="accent1"/>
          </a:lnRef>
          <a:fillRef idx="0">
            <a:schemeClr val="accent1"/>
          </a:fillRef>
          <a:effectRef idx="1">
            <a:schemeClr val="accent1"/>
          </a:effectRef>
          <a:fontRef idx="minor">
            <a:schemeClr val="tx1"/>
          </a:fontRef>
        </p:style>
      </p:cxnSp>
      <p:sp>
        <p:nvSpPr>
          <p:cNvPr id="11" name="Rounded Rectangle 10"/>
          <p:cNvSpPr/>
          <p:nvPr/>
        </p:nvSpPr>
        <p:spPr>
          <a:xfrm>
            <a:off x="2560320" y="2148840"/>
            <a:ext cx="1828800" cy="502920"/>
          </a:xfrm>
          <a:prstGeom prst="roundRect">
            <a:avLst/>
          </a:prstGeom>
          <a:solidFill>
            <a:srgbClr val="EBF3FB"/>
          </a:solidFill>
          <a:ln w="12700">
            <a:solidFill>
              <a:srgbClr val="AAAAAA"/>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lang="en-US" sz="1000" b="1" dirty="0">
                <a:solidFill>
                  <a:schemeClr val="tx1"/>
                </a:solidFill>
              </a:rPr>
              <a:t>Price &amp; Form Validation</a:t>
            </a:r>
            <a:endParaRPr sz="1000" b="1" i="0" dirty="0">
              <a:solidFill>
                <a:schemeClr val="tx1"/>
              </a:solidFill>
              <a:latin typeface="Calibri"/>
            </a:endParaRPr>
          </a:p>
        </p:txBody>
      </p:sp>
      <p:cxnSp>
        <p:nvCxnSpPr>
          <p:cNvPr id="12" name="Connector 11"/>
          <p:cNvCxnSpPr/>
          <p:nvPr/>
        </p:nvCxnSpPr>
        <p:spPr>
          <a:xfrm>
            <a:off x="4389120" y="2395728"/>
            <a:ext cx="457200" cy="0"/>
          </a:xfrm>
          <a:prstGeom prst="line">
            <a:avLst/>
          </a:prstGeom>
          <a:ln w="19050">
            <a:solidFill>
              <a:srgbClr val="2E75B6"/>
            </a:solidFill>
            <a:tailEnd type="triangle" w="med" len="med"/>
          </a:ln>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4434840" y="2057400"/>
            <a:ext cx="1280160" cy="228600"/>
          </a:xfrm>
          <a:prstGeom prst="rect">
            <a:avLst/>
          </a:prstGeom>
          <a:noFill/>
        </p:spPr>
        <p:txBody>
          <a:bodyPr wrap="square">
            <a:spAutoFit/>
          </a:bodyPr>
          <a:lstStyle/>
          <a:p>
            <a:r>
              <a:rPr lang="en-US" sz="900" i="1" dirty="0">
                <a:latin typeface="Calibri"/>
              </a:rPr>
              <a:t>If Valid</a:t>
            </a:r>
            <a:endParaRPr sz="900" b="0" i="1" dirty="0">
              <a:latin typeface="Calibri"/>
            </a:endParaRPr>
          </a:p>
        </p:txBody>
      </p:sp>
      <p:sp>
        <p:nvSpPr>
          <p:cNvPr id="14" name="Rounded Rectangle 13"/>
          <p:cNvSpPr/>
          <p:nvPr/>
        </p:nvSpPr>
        <p:spPr>
          <a:xfrm>
            <a:off x="4846320" y="2148840"/>
            <a:ext cx="1645920" cy="502920"/>
          </a:xfrm>
          <a:prstGeom prst="roundRect">
            <a:avLst/>
          </a:prstGeom>
          <a:solidFill>
            <a:srgbClr val="EBF3FB"/>
          </a:solidFill>
          <a:ln w="12700">
            <a:solidFill>
              <a:srgbClr val="AAAAAA"/>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lang="en-US" sz="1000" b="1" dirty="0">
                <a:solidFill>
                  <a:schemeClr val="tx1"/>
                </a:solidFill>
              </a:rPr>
              <a:t>Admin Pedigree Check</a:t>
            </a:r>
            <a:endParaRPr sz="1000" b="1" i="0" dirty="0">
              <a:solidFill>
                <a:schemeClr val="tx1"/>
              </a:solidFill>
              <a:latin typeface="Calibri"/>
            </a:endParaRPr>
          </a:p>
        </p:txBody>
      </p:sp>
      <p:cxnSp>
        <p:nvCxnSpPr>
          <p:cNvPr id="15" name="Connector 14"/>
          <p:cNvCxnSpPr/>
          <p:nvPr/>
        </p:nvCxnSpPr>
        <p:spPr>
          <a:xfrm>
            <a:off x="6492240" y="2395728"/>
            <a:ext cx="457200" cy="0"/>
          </a:xfrm>
          <a:prstGeom prst="line">
            <a:avLst/>
          </a:prstGeom>
          <a:ln w="19050">
            <a:solidFill>
              <a:srgbClr val="2E75B6"/>
            </a:solidFill>
            <a:tailEnd type="triangle" w="med" len="med"/>
          </a:ln>
        </p:spPr>
        <p:style>
          <a:lnRef idx="2">
            <a:schemeClr val="accent1"/>
          </a:lnRef>
          <a:fillRef idx="0">
            <a:schemeClr val="accent1"/>
          </a:fillRef>
          <a:effectRef idx="1">
            <a:schemeClr val="accent1"/>
          </a:effectRef>
          <a:fontRef idx="minor">
            <a:schemeClr val="tx1"/>
          </a:fontRef>
        </p:style>
      </p:cxnSp>
      <p:sp>
        <p:nvSpPr>
          <p:cNvPr id="16" name="Rounded Rectangle 15"/>
          <p:cNvSpPr/>
          <p:nvPr/>
        </p:nvSpPr>
        <p:spPr>
          <a:xfrm>
            <a:off x="6949440" y="2148840"/>
            <a:ext cx="1645920" cy="502920"/>
          </a:xfrm>
          <a:prstGeom prst="roundRect">
            <a:avLst/>
          </a:prstGeom>
          <a:solidFill>
            <a:srgbClr val="2E75B6"/>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lang="en-US" sz="1000" b="1" dirty="0"/>
              <a:t>Ad Published Live</a:t>
            </a:r>
            <a:endParaRPr sz="1000" b="1" i="0" dirty="0">
              <a:solidFill>
                <a:srgbClr val="FFFFFF"/>
              </a:solidFill>
              <a:latin typeface="Calibri"/>
            </a:endParaRPr>
          </a:p>
        </p:txBody>
      </p:sp>
      <p:sp>
        <p:nvSpPr>
          <p:cNvPr id="17" name="Rounded Rectangle 16"/>
          <p:cNvSpPr/>
          <p:nvPr/>
        </p:nvSpPr>
        <p:spPr>
          <a:xfrm>
            <a:off x="2560320" y="2990089"/>
            <a:ext cx="1828800" cy="457200"/>
          </a:xfrm>
          <a:prstGeom prst="roundRect">
            <a:avLst/>
          </a:prstGeom>
          <a:solidFill>
            <a:srgbClr val="EBF3FB"/>
          </a:solidFill>
          <a:ln w="12700">
            <a:solidFill>
              <a:srgbClr val="AAAAAA"/>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lang="en-US" sz="1000" b="1" dirty="0">
                <a:solidFill>
                  <a:schemeClr val="tx1"/>
                </a:solidFill>
              </a:rPr>
              <a:t>Rejection / Edit Queue</a:t>
            </a:r>
            <a:endParaRPr sz="1000" b="1" i="0" dirty="0">
              <a:solidFill>
                <a:schemeClr val="tx1"/>
              </a:solidFill>
              <a:latin typeface="Calibri"/>
            </a:endParaRPr>
          </a:p>
        </p:txBody>
      </p:sp>
      <p:cxnSp>
        <p:nvCxnSpPr>
          <p:cNvPr id="18" name="Connector 17"/>
          <p:cNvCxnSpPr>
            <a:cxnSpLocks/>
          </p:cNvCxnSpPr>
          <p:nvPr/>
        </p:nvCxnSpPr>
        <p:spPr>
          <a:xfrm>
            <a:off x="3474720" y="2651760"/>
            <a:ext cx="0" cy="338328"/>
          </a:xfrm>
          <a:prstGeom prst="line">
            <a:avLst/>
          </a:prstGeom>
          <a:ln w="15240">
            <a:solidFill>
              <a:srgbClr val="AAAAAA"/>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9" name="Connector 18"/>
          <p:cNvCxnSpPr>
            <a:cxnSpLocks/>
          </p:cNvCxnSpPr>
          <p:nvPr/>
        </p:nvCxnSpPr>
        <p:spPr>
          <a:xfrm flipH="1">
            <a:off x="4366260" y="2651760"/>
            <a:ext cx="1303020" cy="365760"/>
          </a:xfrm>
          <a:prstGeom prst="line">
            <a:avLst/>
          </a:prstGeom>
          <a:ln w="15240">
            <a:solidFill>
              <a:srgbClr val="AAAAAA"/>
            </a:solidFill>
            <a:tailEnd type="triangle" w="med" len="med"/>
          </a:ln>
        </p:spPr>
        <p:style>
          <a:lnRef idx="2">
            <a:schemeClr val="accent1"/>
          </a:lnRef>
          <a:fillRef idx="0">
            <a:schemeClr val="accent1"/>
          </a:fillRef>
          <a:effectRef idx="1">
            <a:schemeClr val="accent1"/>
          </a:effectRef>
          <a:fontRef idx="minor">
            <a:schemeClr val="tx1"/>
          </a:fontRef>
        </p:style>
      </p:cxnSp>
      <p:sp>
        <p:nvSpPr>
          <p:cNvPr id="20" name="TextBox 19"/>
          <p:cNvSpPr txBox="1"/>
          <p:nvPr/>
        </p:nvSpPr>
        <p:spPr>
          <a:xfrm>
            <a:off x="2788920" y="2676305"/>
            <a:ext cx="1005840" cy="228600"/>
          </a:xfrm>
          <a:prstGeom prst="rect">
            <a:avLst/>
          </a:prstGeom>
          <a:noFill/>
        </p:spPr>
        <p:txBody>
          <a:bodyPr wrap="square">
            <a:spAutoFit/>
          </a:bodyPr>
          <a:lstStyle/>
          <a:p>
            <a:r>
              <a:rPr sz="900" b="1" i="1" dirty="0">
                <a:latin typeface="Calibri"/>
              </a:rPr>
              <a:t>if </a:t>
            </a:r>
            <a:r>
              <a:rPr lang="en-US" sz="900" b="1" i="1" dirty="0">
                <a:latin typeface="Calibri"/>
              </a:rPr>
              <a:t>Complex</a:t>
            </a:r>
            <a:endParaRPr sz="900" b="1" i="1" dirty="0">
              <a:latin typeface="Calibri"/>
            </a:endParaRPr>
          </a:p>
        </p:txBody>
      </p:sp>
      <p:sp>
        <p:nvSpPr>
          <p:cNvPr id="21" name="TextBox 20"/>
          <p:cNvSpPr txBox="1"/>
          <p:nvPr/>
        </p:nvSpPr>
        <p:spPr>
          <a:xfrm>
            <a:off x="5017168" y="2820924"/>
            <a:ext cx="914400" cy="228600"/>
          </a:xfrm>
          <a:prstGeom prst="rect">
            <a:avLst/>
          </a:prstGeom>
          <a:noFill/>
        </p:spPr>
        <p:txBody>
          <a:bodyPr wrap="square">
            <a:spAutoFit/>
          </a:bodyPr>
          <a:lstStyle/>
          <a:p>
            <a:r>
              <a:rPr sz="900" b="0" i="1" dirty="0">
                <a:solidFill>
                  <a:srgbClr val="595959"/>
                </a:solidFill>
                <a:latin typeface="Calibri"/>
              </a:rPr>
              <a:t>if flagged</a:t>
            </a:r>
          </a:p>
        </p:txBody>
      </p:sp>
      <p:sp>
        <p:nvSpPr>
          <p:cNvPr id="22" name="TextBox 21"/>
          <p:cNvSpPr txBox="1"/>
          <p:nvPr/>
        </p:nvSpPr>
        <p:spPr>
          <a:xfrm>
            <a:off x="548640" y="3429000"/>
            <a:ext cx="8138160" cy="3839513"/>
          </a:xfrm>
          <a:prstGeom prst="rect">
            <a:avLst/>
          </a:prstGeom>
          <a:noFill/>
        </p:spPr>
        <p:txBody>
          <a:bodyPr wrap="square">
            <a:spAutoFit/>
          </a:bodyPr>
          <a:lstStyle/>
          <a:p>
            <a:pPr>
              <a:lnSpc>
                <a:spcPct val="150000"/>
              </a:lnSpc>
            </a:pPr>
            <a:r>
              <a:rPr lang="en-US" sz="1200" dirty="0">
                <a:solidFill>
                  <a:schemeClr val="accent1"/>
                </a:solidFill>
              </a:rPr>
              <a:t>▶</a:t>
            </a:r>
            <a:r>
              <a:rPr lang="en-US" sz="1200" dirty="0"/>
              <a:t> Multi-Tier AI Pipeline: A fast built-in rule checker runs first for common symptoms; complex cases are forwarded to OpenAI (GPT-4o-mini) for deep clinical assessment.</a:t>
            </a:r>
          </a:p>
          <a:p>
            <a:pPr>
              <a:lnSpc>
                <a:spcPct val="150000"/>
              </a:lnSpc>
            </a:pPr>
            <a:r>
              <a:rPr lang="en-US" sz="1200" dirty="0">
                <a:solidFill>
                  <a:schemeClr val="accent1"/>
                </a:solidFill>
              </a:rPr>
              <a:t>▶</a:t>
            </a:r>
            <a:r>
              <a:rPr lang="en-US" sz="1200" dirty="0"/>
              <a:t> Google Gemini &amp; </a:t>
            </a:r>
            <a:r>
              <a:rPr lang="en-US" sz="1200" dirty="0" err="1"/>
              <a:t>Groq</a:t>
            </a:r>
            <a:r>
              <a:rPr lang="en-US" sz="1200" dirty="0"/>
              <a:t> Integration: Gemini 2.5 and </a:t>
            </a:r>
            <a:r>
              <a:rPr lang="en-US" sz="1200" dirty="0" err="1"/>
              <a:t>Groq</a:t>
            </a:r>
            <a:r>
              <a:rPr lang="en-US" sz="1200" dirty="0"/>
              <a:t> </a:t>
            </a:r>
            <a:r>
              <a:rPr lang="en-US" sz="1200" dirty="0" err="1"/>
              <a:t>LLaMA</a:t>
            </a:r>
            <a:r>
              <a:rPr lang="en-US" sz="1200" dirty="0"/>
              <a:t> 3.3 serve as secondary high-speed AI engines for multi-model verification and low latency.</a:t>
            </a:r>
          </a:p>
          <a:p>
            <a:pPr>
              <a:lnSpc>
                <a:spcPct val="150000"/>
              </a:lnSpc>
            </a:pPr>
            <a:r>
              <a:rPr lang="en-US" sz="1200" dirty="0">
                <a:solidFill>
                  <a:schemeClr val="accent1"/>
                </a:solidFill>
              </a:rPr>
              <a:t>▶</a:t>
            </a:r>
            <a:r>
              <a:rPr lang="en-US" sz="1200" dirty="0"/>
              <a:t> Zero-Downtime Fallback Safety: If external AI services are temporarily unreachable, the built-in veterinary rule engine activates automatically — medical first aid is never left unanswered.</a:t>
            </a:r>
          </a:p>
          <a:p>
            <a:pPr>
              <a:lnSpc>
                <a:spcPct val="150000"/>
              </a:lnSpc>
            </a:pPr>
            <a:r>
              <a:rPr lang="en-US" sz="1200" dirty="0">
                <a:solidFill>
                  <a:schemeClr val="accent1"/>
                </a:solidFill>
              </a:rPr>
              <a:t>▶</a:t>
            </a:r>
            <a:r>
              <a:rPr lang="en-US" sz="1200" dirty="0"/>
              <a:t> Regional Equine Disease Specialization: Specially trained on localized subcontinental equine pathologies including Trypanosomiasis (Surra), Equine Colic, Strangles, Glanders, and Laminitis.</a:t>
            </a:r>
          </a:p>
          <a:p>
            <a:pPr>
              <a:lnSpc>
                <a:spcPct val="150000"/>
              </a:lnSpc>
            </a:pPr>
            <a:r>
              <a:rPr lang="en-US" sz="1200" dirty="0">
                <a:solidFill>
                  <a:schemeClr val="accent1"/>
                </a:solidFill>
              </a:rPr>
              <a:t>▶</a:t>
            </a:r>
            <a:r>
              <a:rPr lang="en-US" sz="1200" dirty="0"/>
              <a:t> Emergency Vet Hospital Linkage: When life-threatening symptoms are detected, the system immediately provides the nearest verified veterinary clinics and direct doctor contacts.</a:t>
            </a:r>
          </a:p>
          <a:p>
            <a:pPr>
              <a:lnSpc>
                <a:spcPct val="150000"/>
              </a:lnSpc>
            </a:pPr>
            <a:r>
              <a:rPr lang="en-US" sz="1200" dirty="0">
                <a:solidFill>
                  <a:schemeClr val="accent1"/>
                </a:solidFill>
              </a:rPr>
              <a:t>▶</a:t>
            </a:r>
            <a:r>
              <a:rPr lang="en-US" sz="1200" dirty="0"/>
              <a:t> Tested Performance &amp; Accuracy: Successfully tested on 20+ clinical symptom cases; generates emergency triage and first-aid instructions in under 1.84 seconds (well within the 5-second threshold).</a:t>
            </a:r>
          </a:p>
          <a:p>
            <a:br>
              <a:rPr lang="en-US" sz="1400" dirty="0"/>
            </a:br>
            <a:endParaRPr sz="1350" b="0" i="0" dirty="0">
              <a:solidFill>
                <a:srgbClr val="2C2C2C"/>
              </a:solidFill>
              <a:latin typeface="Calibri"/>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457200" y="256032"/>
            <a:ext cx="6949440" cy="553998"/>
          </a:xfrm>
          <a:prstGeom prst="rect">
            <a:avLst/>
          </a:prstGeom>
          <a:noFill/>
        </p:spPr>
        <p:txBody>
          <a:bodyPr wrap="square">
            <a:spAutoFit/>
          </a:bodyPr>
          <a:lstStyle/>
          <a:p>
            <a:r>
              <a:rPr sz="3000" b="1" i="0" dirty="0">
                <a:solidFill>
                  <a:srgbClr val="2E75B6"/>
                </a:solidFill>
                <a:latin typeface="Calibri Light"/>
              </a:rPr>
              <a:t>Implementation</a:t>
            </a:r>
          </a:p>
        </p:txBody>
      </p:sp>
      <p:cxnSp>
        <p:nvCxnSpPr>
          <p:cNvPr id="3" name="Connector 2"/>
          <p:cNvCxnSpPr/>
          <p:nvPr/>
        </p:nvCxnSpPr>
        <p:spPr>
          <a:xfrm>
            <a:off x="457200" y="969264"/>
            <a:ext cx="8229600" cy="0"/>
          </a:xfrm>
          <a:prstGeom prst="line">
            <a:avLst/>
          </a:prstGeom>
          <a:ln w="12700">
            <a:solidFill>
              <a:srgbClr val="AAAAAA"/>
            </a:solidFill>
            <a:prstDash val="dash"/>
          </a:ln>
        </p:spPr>
        <p:style>
          <a:lnRef idx="2">
            <a:schemeClr val="accent1"/>
          </a:lnRef>
          <a:fillRef idx="0">
            <a:schemeClr val="accent1"/>
          </a:fillRef>
          <a:effectRef idx="1">
            <a:schemeClr val="accent1"/>
          </a:effectRef>
          <a:fontRef idx="minor">
            <a:schemeClr val="tx1"/>
          </a:fontRef>
        </p:style>
      </p:cxnSp>
      <p:pic>
        <p:nvPicPr>
          <p:cNvPr id="4" name="Picture 3" descr="mul_logo.png"/>
          <p:cNvPicPr>
            <a:picLocks noChangeAspect="1"/>
          </p:cNvPicPr>
          <p:nvPr/>
        </p:nvPicPr>
        <p:blipFill>
          <a:blip r:embed="rId2"/>
          <a:stretch>
            <a:fillRect/>
          </a:stretch>
        </p:blipFill>
        <p:spPr>
          <a:xfrm>
            <a:off x="7882127" y="201168"/>
            <a:ext cx="804672" cy="804672"/>
          </a:xfrm>
          <a:prstGeom prst="rect">
            <a:avLst/>
          </a:prstGeom>
        </p:spPr>
      </p:pic>
      <p:sp>
        <p:nvSpPr>
          <p:cNvPr id="8" name="TextBox 7"/>
          <p:cNvSpPr txBox="1"/>
          <p:nvPr/>
        </p:nvSpPr>
        <p:spPr>
          <a:xfrm>
            <a:off x="548640" y="1097280"/>
            <a:ext cx="4114800" cy="320040"/>
          </a:xfrm>
          <a:prstGeom prst="rect">
            <a:avLst/>
          </a:prstGeom>
          <a:noFill/>
        </p:spPr>
        <p:txBody>
          <a:bodyPr wrap="square">
            <a:spAutoFit/>
          </a:bodyPr>
          <a:lstStyle/>
          <a:p>
            <a:r>
              <a:rPr sz="1400" b="1" i="0">
                <a:solidFill>
                  <a:srgbClr val="2E75B6"/>
                </a:solidFill>
                <a:latin typeface="Calibri"/>
              </a:rPr>
              <a:t>Development Approach</a:t>
            </a:r>
          </a:p>
        </p:txBody>
      </p:sp>
      <p:cxnSp>
        <p:nvCxnSpPr>
          <p:cNvPr id="9" name="Connector 8"/>
          <p:cNvCxnSpPr/>
          <p:nvPr/>
        </p:nvCxnSpPr>
        <p:spPr>
          <a:xfrm>
            <a:off x="548640" y="1408176"/>
            <a:ext cx="2377440" cy="0"/>
          </a:xfrm>
          <a:prstGeom prst="line">
            <a:avLst/>
          </a:prstGeom>
          <a:ln w="19050">
            <a:solidFill>
              <a:srgbClr val="2E75B6"/>
            </a:solidFill>
          </a:ln>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548640" y="1481328"/>
            <a:ext cx="8138160" cy="1725729"/>
          </a:xfrm>
          <a:prstGeom prst="rect">
            <a:avLst/>
          </a:prstGeom>
          <a:noFill/>
        </p:spPr>
        <p:txBody>
          <a:bodyPr wrap="square">
            <a:spAutoFit/>
          </a:bodyPr>
          <a:lstStyle/>
          <a:p>
            <a:pPr>
              <a:lnSpc>
                <a:spcPct val="150000"/>
              </a:lnSpc>
            </a:pPr>
            <a:r>
              <a:rPr lang="en-US" sz="1200" dirty="0">
                <a:solidFill>
                  <a:schemeClr val="accent1"/>
                </a:solidFill>
              </a:rPr>
              <a:t>▶</a:t>
            </a:r>
            <a:r>
              <a:rPr lang="en-US" sz="1200" dirty="0"/>
              <a:t> Module-by-Module Architecture: Each domain (Marketplace, Live Auctions, Stud Breeding, AI Vet, Riding Schools) has its own independent React pages, Express routes, and Mongoose schemas.</a:t>
            </a:r>
            <a:br>
              <a:rPr lang="en-US" sz="1200" dirty="0"/>
            </a:br>
            <a:r>
              <a:rPr lang="en-US" sz="1200" dirty="0">
                <a:solidFill>
                  <a:schemeClr val="accent1"/>
                </a:solidFill>
              </a:rPr>
              <a:t>▶</a:t>
            </a:r>
            <a:r>
              <a:rPr lang="en-US" sz="1200" dirty="0"/>
              <a:t> API-First Development: Every REST API route was built, documented, and tested in Postman before connecting to the React frontend.</a:t>
            </a:r>
          </a:p>
          <a:p>
            <a:pPr>
              <a:lnSpc>
                <a:spcPct val="150000"/>
              </a:lnSpc>
            </a:pPr>
            <a:br>
              <a:rPr lang="en-US" sz="1200" dirty="0"/>
            </a:br>
            <a:endParaRPr sz="1200" b="0" i="0" dirty="0">
              <a:solidFill>
                <a:srgbClr val="2C2C2C"/>
              </a:solidFill>
              <a:latin typeface="Calibri"/>
            </a:endParaRPr>
          </a:p>
        </p:txBody>
      </p:sp>
      <p:sp>
        <p:nvSpPr>
          <p:cNvPr id="11" name="TextBox 10"/>
          <p:cNvSpPr txBox="1"/>
          <p:nvPr/>
        </p:nvSpPr>
        <p:spPr>
          <a:xfrm>
            <a:off x="548640" y="2788920"/>
            <a:ext cx="4114800" cy="320040"/>
          </a:xfrm>
          <a:prstGeom prst="rect">
            <a:avLst/>
          </a:prstGeom>
          <a:noFill/>
        </p:spPr>
        <p:txBody>
          <a:bodyPr wrap="square">
            <a:spAutoFit/>
          </a:bodyPr>
          <a:lstStyle/>
          <a:p>
            <a:r>
              <a:rPr sz="1400" b="1" i="0" dirty="0">
                <a:solidFill>
                  <a:srgbClr val="2E75B6"/>
                </a:solidFill>
                <a:latin typeface="Calibri"/>
              </a:rPr>
              <a:t>Request Processing Pipeline</a:t>
            </a:r>
          </a:p>
        </p:txBody>
      </p:sp>
      <p:cxnSp>
        <p:nvCxnSpPr>
          <p:cNvPr id="12" name="Connector 11"/>
          <p:cNvCxnSpPr/>
          <p:nvPr/>
        </p:nvCxnSpPr>
        <p:spPr>
          <a:xfrm>
            <a:off x="548640" y="3099815"/>
            <a:ext cx="2377440" cy="0"/>
          </a:xfrm>
          <a:prstGeom prst="line">
            <a:avLst/>
          </a:prstGeom>
          <a:ln w="19050">
            <a:solidFill>
              <a:srgbClr val="2E75B6"/>
            </a:solidFill>
          </a:ln>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548640" y="3200400"/>
            <a:ext cx="8138160" cy="461665"/>
          </a:xfrm>
          <a:prstGeom prst="rect">
            <a:avLst/>
          </a:prstGeom>
          <a:noFill/>
        </p:spPr>
        <p:txBody>
          <a:bodyPr wrap="square">
            <a:spAutoFit/>
          </a:bodyPr>
          <a:lstStyle/>
          <a:p>
            <a:r>
              <a:rPr lang="en-US" sz="1200" dirty="0"/>
              <a:t>Security (CORS/Helmet) ➔ Rate Limiting ➔ Body Parser ➔ Input Sanitization ➔ JWT &amp; Role Check ➔ Multer Upload / AI ➔ Controller ➔ MongoDB Atlas</a:t>
            </a:r>
            <a:endParaRPr sz="1200" i="0" dirty="0">
              <a:solidFill>
                <a:srgbClr val="1F3864"/>
              </a:solidFill>
              <a:latin typeface="Calibri"/>
            </a:endParaRPr>
          </a:p>
        </p:txBody>
      </p:sp>
      <p:sp>
        <p:nvSpPr>
          <p:cNvPr id="14" name="TextBox 13"/>
          <p:cNvSpPr txBox="1"/>
          <p:nvPr/>
        </p:nvSpPr>
        <p:spPr>
          <a:xfrm>
            <a:off x="548640" y="3624143"/>
            <a:ext cx="4114800" cy="307777"/>
          </a:xfrm>
          <a:prstGeom prst="rect">
            <a:avLst/>
          </a:prstGeom>
          <a:noFill/>
        </p:spPr>
        <p:txBody>
          <a:bodyPr wrap="square">
            <a:spAutoFit/>
          </a:bodyPr>
          <a:lstStyle/>
          <a:p>
            <a:r>
              <a:rPr lang="en-US" sz="1400" b="1" dirty="0">
                <a:solidFill>
                  <a:schemeClr val="accent1"/>
                </a:solidFill>
              </a:rPr>
              <a:t>Project Folder Structure &amp; Standards</a:t>
            </a:r>
            <a:endParaRPr lang="en-US" sz="1400" dirty="0">
              <a:solidFill>
                <a:schemeClr val="accent1"/>
              </a:solidFill>
            </a:endParaRPr>
          </a:p>
        </p:txBody>
      </p:sp>
      <p:cxnSp>
        <p:nvCxnSpPr>
          <p:cNvPr id="15" name="Connector 14"/>
          <p:cNvCxnSpPr/>
          <p:nvPr/>
        </p:nvCxnSpPr>
        <p:spPr>
          <a:xfrm>
            <a:off x="548640" y="3968496"/>
            <a:ext cx="2377440" cy="0"/>
          </a:xfrm>
          <a:prstGeom prst="line">
            <a:avLst/>
          </a:prstGeom>
          <a:ln w="19050">
            <a:solidFill>
              <a:srgbClr val="2E75B6"/>
            </a:solidFill>
          </a:ln>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548640" y="4041648"/>
            <a:ext cx="8138160" cy="1615827"/>
          </a:xfrm>
          <a:prstGeom prst="rect">
            <a:avLst/>
          </a:prstGeom>
          <a:noFill/>
        </p:spPr>
        <p:txBody>
          <a:bodyPr wrap="square">
            <a:spAutoFit/>
          </a:bodyPr>
          <a:lstStyle/>
          <a:p>
            <a:pPr>
              <a:lnSpc>
                <a:spcPct val="150000"/>
              </a:lnSpc>
            </a:pPr>
            <a:r>
              <a:rPr lang="en-US" sz="1200" dirty="0">
                <a:solidFill>
                  <a:schemeClr val="accent1"/>
                </a:solidFill>
              </a:rPr>
              <a:t>▶</a:t>
            </a:r>
            <a:r>
              <a:rPr lang="en-US" sz="1200" dirty="0"/>
              <a:t> Clean Project Structure: Divided into /client (React frontend) and /server (Node.js backend) with separate settings for easy management.</a:t>
            </a:r>
          </a:p>
          <a:p>
            <a:pPr>
              <a:lnSpc>
                <a:spcPct val="150000"/>
              </a:lnSpc>
            </a:pPr>
            <a:r>
              <a:rPr lang="en-US" sz="1200" dirty="0">
                <a:solidFill>
                  <a:schemeClr val="accent1"/>
                </a:solidFill>
              </a:rPr>
              <a:t>▶</a:t>
            </a:r>
            <a:r>
              <a:rPr lang="en-US" sz="1200" dirty="0"/>
              <a:t> High Security: All auction bids, prices, and approval statuses are verified on the server so no user can fake or alter data.</a:t>
            </a:r>
          </a:p>
          <a:p>
            <a:pPr>
              <a:lnSpc>
                <a:spcPct val="150000"/>
              </a:lnSpc>
            </a:pPr>
            <a:r>
              <a:rPr lang="en-US" sz="1200" dirty="0">
                <a:solidFill>
                  <a:schemeClr val="accent1"/>
                </a:solidFill>
              </a:rPr>
              <a:t>▶</a:t>
            </a:r>
            <a:r>
              <a:rPr lang="en-US" sz="1200" dirty="0"/>
              <a:t> Standard Coding: Built using clean MVC pattern (Model-View-Controller) with proper error handling for smooth performance.</a:t>
            </a:r>
          </a:p>
          <a:p>
            <a:br>
              <a:rPr lang="en-US" sz="1400" dirty="0"/>
            </a:br>
            <a:endParaRPr sz="1300" b="0" i="0" dirty="0">
              <a:solidFill>
                <a:srgbClr val="2C2C2C"/>
              </a:solidFill>
              <a:latin typeface="Calibri"/>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457200" y="256032"/>
            <a:ext cx="7112524" cy="523220"/>
          </a:xfrm>
          <a:prstGeom prst="rect">
            <a:avLst/>
          </a:prstGeom>
          <a:noFill/>
        </p:spPr>
        <p:txBody>
          <a:bodyPr wrap="square">
            <a:spAutoFit/>
          </a:bodyPr>
          <a:lstStyle/>
          <a:p>
            <a:r>
              <a:rPr lang="en-US" sz="2800" b="1" dirty="0">
                <a:solidFill>
                  <a:schemeClr val="accent1"/>
                </a:solidFill>
              </a:rPr>
              <a:t>Interactive Features &amp; Performance</a:t>
            </a:r>
            <a:endParaRPr lang="en-US" sz="2800" dirty="0">
              <a:solidFill>
                <a:schemeClr val="accent1"/>
              </a:solidFill>
            </a:endParaRPr>
          </a:p>
        </p:txBody>
      </p:sp>
      <p:cxnSp>
        <p:nvCxnSpPr>
          <p:cNvPr id="3" name="Connector 2"/>
          <p:cNvCxnSpPr/>
          <p:nvPr/>
        </p:nvCxnSpPr>
        <p:spPr>
          <a:xfrm>
            <a:off x="457200" y="969264"/>
            <a:ext cx="8229600" cy="0"/>
          </a:xfrm>
          <a:prstGeom prst="line">
            <a:avLst/>
          </a:prstGeom>
          <a:ln w="12700">
            <a:solidFill>
              <a:srgbClr val="AAAAAA"/>
            </a:solidFill>
            <a:prstDash val="dash"/>
          </a:ln>
        </p:spPr>
        <p:style>
          <a:lnRef idx="2">
            <a:schemeClr val="accent1"/>
          </a:lnRef>
          <a:fillRef idx="0">
            <a:schemeClr val="accent1"/>
          </a:fillRef>
          <a:effectRef idx="1">
            <a:schemeClr val="accent1"/>
          </a:effectRef>
          <a:fontRef idx="minor">
            <a:schemeClr val="tx1"/>
          </a:fontRef>
        </p:style>
      </p:cxnSp>
      <p:pic>
        <p:nvPicPr>
          <p:cNvPr id="4" name="Picture 3" descr="mul_logo.png"/>
          <p:cNvPicPr>
            <a:picLocks noChangeAspect="1"/>
          </p:cNvPicPr>
          <p:nvPr/>
        </p:nvPicPr>
        <p:blipFill>
          <a:blip r:embed="rId2"/>
          <a:stretch>
            <a:fillRect/>
          </a:stretch>
        </p:blipFill>
        <p:spPr>
          <a:xfrm>
            <a:off x="7882127" y="201168"/>
            <a:ext cx="804672" cy="804672"/>
          </a:xfrm>
          <a:prstGeom prst="rect">
            <a:avLst/>
          </a:prstGeom>
        </p:spPr>
      </p:pic>
      <p:sp>
        <p:nvSpPr>
          <p:cNvPr id="8" name="TextBox 7"/>
          <p:cNvSpPr txBox="1"/>
          <p:nvPr/>
        </p:nvSpPr>
        <p:spPr>
          <a:xfrm>
            <a:off x="457200" y="1298757"/>
            <a:ext cx="7880684" cy="2832507"/>
          </a:xfrm>
          <a:prstGeom prst="rect">
            <a:avLst/>
          </a:prstGeom>
          <a:noFill/>
        </p:spPr>
        <p:txBody>
          <a:bodyPr wrap="square">
            <a:spAutoFit/>
          </a:bodyPr>
          <a:lstStyle/>
          <a:p>
            <a:pPr>
              <a:lnSpc>
                <a:spcPct val="150000"/>
              </a:lnSpc>
            </a:pPr>
            <a:r>
              <a:rPr lang="en-US" sz="1200" dirty="0">
                <a:solidFill>
                  <a:schemeClr val="accent1"/>
                </a:solidFill>
              </a:rPr>
              <a:t>▶</a:t>
            </a:r>
            <a:r>
              <a:rPr lang="en-US" sz="1200" dirty="0"/>
              <a:t> </a:t>
            </a:r>
            <a:r>
              <a:rPr lang="en-US" sz="1200" b="1" dirty="0"/>
              <a:t>Live Auction Bidding:</a:t>
            </a:r>
            <a:r>
              <a:rPr lang="en-US" sz="1200" dirty="0"/>
              <a:t> When a user places a bid, the highest bid updates instantly on the screen without needing a page refresh.</a:t>
            </a:r>
          </a:p>
          <a:p>
            <a:pPr>
              <a:lnSpc>
                <a:spcPct val="150000"/>
              </a:lnSpc>
            </a:pPr>
            <a:r>
              <a:rPr lang="en-US" sz="1200" dirty="0">
                <a:solidFill>
                  <a:schemeClr val="accent1"/>
                </a:solidFill>
              </a:rPr>
              <a:t>▶</a:t>
            </a:r>
            <a:r>
              <a:rPr lang="en-US" sz="1200" dirty="0"/>
              <a:t> </a:t>
            </a:r>
            <a:r>
              <a:rPr lang="en-US" sz="1200" b="1" dirty="0"/>
              <a:t>Direct Buyer-Seller Chat Modal:</a:t>
            </a:r>
            <a:r>
              <a:rPr lang="en-US" sz="1200" dirty="0"/>
              <a:t> Prospective buyers can send instant questions to horse sellers with real-time reply threads.</a:t>
            </a:r>
          </a:p>
          <a:p>
            <a:pPr>
              <a:lnSpc>
                <a:spcPct val="150000"/>
              </a:lnSpc>
            </a:pPr>
            <a:r>
              <a:rPr lang="en-US" sz="1200" dirty="0">
                <a:solidFill>
                  <a:schemeClr val="accent1"/>
                </a:solidFill>
              </a:rPr>
              <a:t>▶</a:t>
            </a:r>
            <a:r>
              <a:rPr lang="en-US" sz="1200" dirty="0"/>
              <a:t> </a:t>
            </a:r>
            <a:r>
              <a:rPr lang="en-US" sz="1200" b="1" dirty="0"/>
              <a:t>Instant Admin Moderation:</a:t>
            </a:r>
            <a:r>
              <a:rPr lang="en-US" sz="1200" dirty="0"/>
              <a:t> As soon as an admin approves a horse ad, it appears immediately live in the public marketplace.</a:t>
            </a:r>
          </a:p>
          <a:p>
            <a:pPr>
              <a:lnSpc>
                <a:spcPct val="150000"/>
              </a:lnSpc>
            </a:pPr>
            <a:r>
              <a:rPr lang="en-US" sz="1200" dirty="0">
                <a:solidFill>
                  <a:schemeClr val="accent1"/>
                </a:solidFill>
              </a:rPr>
              <a:t>▶</a:t>
            </a:r>
            <a:r>
              <a:rPr lang="en-US" sz="1200" dirty="0"/>
              <a:t> </a:t>
            </a:r>
            <a:r>
              <a:rPr lang="en-US" sz="1200" b="1" dirty="0"/>
              <a:t>Fast AI Vet Medical Advice:</a:t>
            </a:r>
            <a:r>
              <a:rPr lang="en-US" sz="1200" dirty="0"/>
              <a:t> Dr. Max AI analyzes horse symptoms and delivers emergency first-aid advice in real time.</a:t>
            </a:r>
          </a:p>
          <a:p>
            <a:pPr>
              <a:lnSpc>
                <a:spcPct val="150000"/>
              </a:lnSpc>
            </a:pPr>
            <a:r>
              <a:rPr lang="en-US" sz="1200" dirty="0">
                <a:solidFill>
                  <a:schemeClr val="accent1"/>
                </a:solidFill>
              </a:rPr>
              <a:t>▶</a:t>
            </a:r>
            <a:r>
              <a:rPr lang="en-US" sz="1200" dirty="0"/>
              <a:t> </a:t>
            </a:r>
            <a:r>
              <a:rPr lang="en-US" sz="1200" b="1" dirty="0"/>
              <a:t>Optimized Photo Loading:</a:t>
            </a:r>
            <a:r>
              <a:rPr lang="en-US" sz="1200" dirty="0"/>
              <a:t> High-definition 4K horse photos are automatically compressed and delivered via </a:t>
            </a:r>
            <a:r>
              <a:rPr lang="en-US" sz="1200" dirty="0" err="1"/>
              <a:t>Cloudinary</a:t>
            </a:r>
            <a:r>
              <a:rPr lang="en-US" sz="1200" dirty="0"/>
              <a:t> CDN in under 3 seconds.</a:t>
            </a:r>
          </a:p>
          <a:p>
            <a:pPr>
              <a:lnSpc>
                <a:spcPct val="150000"/>
              </a:lnSpc>
            </a:pPr>
            <a:r>
              <a:rPr lang="en-US" sz="1200" dirty="0">
                <a:solidFill>
                  <a:schemeClr val="accent1"/>
                </a:solidFill>
              </a:rPr>
              <a:t>▶</a:t>
            </a:r>
            <a:r>
              <a:rPr lang="en-US" sz="1200" dirty="0"/>
              <a:t> </a:t>
            </a:r>
            <a:r>
              <a:rPr lang="en-US" sz="1200" b="1" dirty="0"/>
              <a:t>Measured System Speed:</a:t>
            </a:r>
            <a:r>
              <a:rPr lang="en-US" sz="1200" dirty="0"/>
              <a:t> Average API response time is </a:t>
            </a:r>
            <a:r>
              <a:rPr lang="en-US" sz="1200" b="1" dirty="0"/>
              <a:t>under 240ms</a:t>
            </a:r>
            <a:r>
              <a:rPr lang="en-US" sz="1200" dirty="0"/>
              <a:t> (exceeding our target of &lt; 2 seconds).</a:t>
            </a:r>
          </a:p>
        </p:txBody>
      </p:sp>
      <p:sp>
        <p:nvSpPr>
          <p:cNvPr id="9" name="Rounded Rectangle 8"/>
          <p:cNvSpPr/>
          <p:nvPr/>
        </p:nvSpPr>
        <p:spPr>
          <a:xfrm>
            <a:off x="457200" y="4649415"/>
            <a:ext cx="8046720" cy="1143000"/>
          </a:xfrm>
          <a:prstGeom prst="roundRect">
            <a:avLst/>
          </a:prstGeom>
          <a:solidFill>
            <a:srgbClr val="EBF3FB"/>
          </a:solidFill>
          <a:ln w="12700">
            <a:solidFill>
              <a:srgbClr val="2E75B6"/>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lang="en-US" sz="1400" b="1" dirty="0">
                <a:solidFill>
                  <a:schemeClr val="tx1"/>
                </a:solidFill>
              </a:rPr>
              <a:t>live Bid: 185ms  |  Sign In: 238ms  |  Search Filter: 310ms</a:t>
            </a:r>
            <a:br>
              <a:rPr lang="en-US" sz="1400" dirty="0">
                <a:solidFill>
                  <a:schemeClr val="tx1"/>
                </a:solidFill>
              </a:rPr>
            </a:br>
            <a:r>
              <a:rPr lang="en-US" sz="1400" b="1" dirty="0">
                <a:solidFill>
                  <a:schemeClr val="tx1"/>
                </a:solidFill>
              </a:rPr>
              <a:t>AI Vet Triage: 1.84s  |  </a:t>
            </a:r>
            <a:r>
              <a:rPr lang="en-US" sz="1400" b="1" dirty="0" err="1">
                <a:solidFill>
                  <a:schemeClr val="tx1"/>
                </a:solidFill>
              </a:rPr>
              <a:t>Cloudinary</a:t>
            </a:r>
            <a:r>
              <a:rPr lang="en-US" sz="1400" b="1" dirty="0">
                <a:solidFill>
                  <a:schemeClr val="tx1"/>
                </a:solidFill>
              </a:rPr>
              <a:t> Upload: 2.82s  |  Admin Load: 420ms</a:t>
            </a:r>
            <a:br>
              <a:rPr lang="en-US" sz="1400" dirty="0">
                <a:solidFill>
                  <a:schemeClr val="tx1"/>
                </a:solidFill>
              </a:rPr>
            </a:br>
            <a:r>
              <a:rPr lang="en-US" sz="1400" b="1" dirty="0">
                <a:solidFill>
                  <a:schemeClr val="tx1"/>
                </a:solidFill>
              </a:rPr>
              <a:t>All within specified requirements ✓</a:t>
            </a:r>
            <a:endParaRPr sz="1400" b="1" i="0" dirty="0">
              <a:solidFill>
                <a:schemeClr val="tx1"/>
              </a:solidFill>
              <a:latin typeface="Calibri"/>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457200" y="256032"/>
            <a:ext cx="6949440" cy="553998"/>
          </a:xfrm>
          <a:prstGeom prst="rect">
            <a:avLst/>
          </a:prstGeom>
          <a:noFill/>
        </p:spPr>
        <p:txBody>
          <a:bodyPr wrap="square">
            <a:spAutoFit/>
          </a:bodyPr>
          <a:lstStyle/>
          <a:p>
            <a:r>
              <a:rPr sz="3000" b="1" i="0" dirty="0">
                <a:solidFill>
                  <a:srgbClr val="2E75B6"/>
                </a:solidFill>
                <a:latin typeface="Calibri Light"/>
              </a:rPr>
              <a:t>Testing &amp; Evaluation</a:t>
            </a:r>
          </a:p>
        </p:txBody>
      </p:sp>
      <p:cxnSp>
        <p:nvCxnSpPr>
          <p:cNvPr id="3" name="Connector 2"/>
          <p:cNvCxnSpPr/>
          <p:nvPr/>
        </p:nvCxnSpPr>
        <p:spPr>
          <a:xfrm>
            <a:off x="457200" y="969264"/>
            <a:ext cx="8229600" cy="0"/>
          </a:xfrm>
          <a:prstGeom prst="line">
            <a:avLst/>
          </a:prstGeom>
          <a:ln w="12700">
            <a:solidFill>
              <a:srgbClr val="AAAAAA"/>
            </a:solidFill>
            <a:prstDash val="dash"/>
          </a:ln>
        </p:spPr>
        <p:style>
          <a:lnRef idx="2">
            <a:schemeClr val="accent1"/>
          </a:lnRef>
          <a:fillRef idx="0">
            <a:schemeClr val="accent1"/>
          </a:fillRef>
          <a:effectRef idx="1">
            <a:schemeClr val="accent1"/>
          </a:effectRef>
          <a:fontRef idx="minor">
            <a:schemeClr val="tx1"/>
          </a:fontRef>
        </p:style>
      </p:cxnSp>
      <p:pic>
        <p:nvPicPr>
          <p:cNvPr id="4" name="Picture 3" descr="mul_logo.png"/>
          <p:cNvPicPr>
            <a:picLocks noChangeAspect="1"/>
          </p:cNvPicPr>
          <p:nvPr/>
        </p:nvPicPr>
        <p:blipFill>
          <a:blip r:embed="rId2"/>
          <a:stretch>
            <a:fillRect/>
          </a:stretch>
        </p:blipFill>
        <p:spPr>
          <a:xfrm>
            <a:off x="7882127" y="201168"/>
            <a:ext cx="804672" cy="804672"/>
          </a:xfrm>
          <a:prstGeom prst="rect">
            <a:avLst/>
          </a:prstGeom>
        </p:spPr>
      </p:pic>
      <p:sp>
        <p:nvSpPr>
          <p:cNvPr id="8" name="TextBox 7"/>
          <p:cNvSpPr txBox="1"/>
          <p:nvPr/>
        </p:nvSpPr>
        <p:spPr>
          <a:xfrm>
            <a:off x="548640" y="1097280"/>
            <a:ext cx="4114800" cy="320040"/>
          </a:xfrm>
          <a:prstGeom prst="rect">
            <a:avLst/>
          </a:prstGeom>
          <a:noFill/>
        </p:spPr>
        <p:txBody>
          <a:bodyPr wrap="square">
            <a:spAutoFit/>
          </a:bodyPr>
          <a:lstStyle/>
          <a:p>
            <a:r>
              <a:rPr sz="1400" b="1" i="0">
                <a:solidFill>
                  <a:srgbClr val="2E75B6"/>
                </a:solidFill>
                <a:latin typeface="Calibri"/>
              </a:rPr>
              <a:t>Use Case Testing</a:t>
            </a:r>
          </a:p>
        </p:txBody>
      </p:sp>
      <p:cxnSp>
        <p:nvCxnSpPr>
          <p:cNvPr id="9" name="Connector 8"/>
          <p:cNvCxnSpPr/>
          <p:nvPr/>
        </p:nvCxnSpPr>
        <p:spPr>
          <a:xfrm>
            <a:off x="548640" y="1408176"/>
            <a:ext cx="2377440" cy="0"/>
          </a:xfrm>
          <a:prstGeom prst="line">
            <a:avLst/>
          </a:prstGeom>
          <a:ln w="19050">
            <a:solidFill>
              <a:srgbClr val="2E75B6"/>
            </a:solidFill>
          </a:ln>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548640" y="1463040"/>
            <a:ext cx="8138160" cy="894732"/>
          </a:xfrm>
          <a:prstGeom prst="rect">
            <a:avLst/>
          </a:prstGeom>
          <a:noFill/>
        </p:spPr>
        <p:txBody>
          <a:bodyPr wrap="square">
            <a:spAutoFit/>
          </a:bodyPr>
          <a:lstStyle/>
          <a:p>
            <a:pPr>
              <a:lnSpc>
                <a:spcPct val="150000"/>
              </a:lnSpc>
              <a:spcAft>
                <a:spcPts val="700"/>
              </a:spcAft>
            </a:pPr>
            <a:r>
              <a:rPr lang="en-US" sz="1200" dirty="0">
                <a:solidFill>
                  <a:schemeClr val="accent1"/>
                </a:solidFill>
              </a:rPr>
              <a:t>▶</a:t>
            </a:r>
            <a:r>
              <a:rPr lang="en-US" sz="1200" dirty="0"/>
              <a:t> </a:t>
            </a:r>
            <a:r>
              <a:rPr lang="en-US" sz="1200" b="1" dirty="0"/>
              <a:t>24 test cases executed</a:t>
            </a:r>
            <a:r>
              <a:rPr lang="en-US" sz="1200" dirty="0"/>
              <a:t> across Buyer, Seller, Breeder, Riding School, and Admin paths.</a:t>
            </a:r>
            <a:br>
              <a:rPr lang="en-US" sz="1200" dirty="0"/>
            </a:br>
            <a:r>
              <a:rPr lang="en-US" sz="1200" dirty="0">
                <a:solidFill>
                  <a:schemeClr val="accent1"/>
                </a:solidFill>
              </a:rPr>
              <a:t>▶</a:t>
            </a:r>
            <a:r>
              <a:rPr lang="en-US" sz="1200" dirty="0"/>
              <a:t> </a:t>
            </a:r>
            <a:r>
              <a:rPr lang="en-US" sz="1200" b="1" dirty="0"/>
              <a:t>All 24 passed</a:t>
            </a:r>
            <a:r>
              <a:rPr lang="en-US" sz="1200" dirty="0"/>
              <a:t> including user signup/login, horse ad posting, live auction bidding, stud breeding booking, Dr. Max AI triage, riding school registration, and admin moderation.</a:t>
            </a:r>
            <a:endParaRPr sz="1200" b="0" i="0" dirty="0">
              <a:solidFill>
                <a:srgbClr val="2C2C2C"/>
              </a:solidFill>
              <a:latin typeface="Calibri"/>
            </a:endParaRPr>
          </a:p>
        </p:txBody>
      </p:sp>
      <p:sp>
        <p:nvSpPr>
          <p:cNvPr id="11" name="TextBox 10"/>
          <p:cNvSpPr txBox="1"/>
          <p:nvPr/>
        </p:nvSpPr>
        <p:spPr>
          <a:xfrm>
            <a:off x="548640" y="2400300"/>
            <a:ext cx="4114800" cy="320040"/>
          </a:xfrm>
          <a:prstGeom prst="rect">
            <a:avLst/>
          </a:prstGeom>
          <a:noFill/>
        </p:spPr>
        <p:txBody>
          <a:bodyPr wrap="square">
            <a:spAutoFit/>
          </a:bodyPr>
          <a:lstStyle/>
          <a:p>
            <a:r>
              <a:rPr sz="1400" b="1" i="0" dirty="0">
                <a:solidFill>
                  <a:srgbClr val="2E75B6"/>
                </a:solidFill>
                <a:latin typeface="Calibri"/>
              </a:rPr>
              <a:t>Extension / Edge Case Testing</a:t>
            </a:r>
          </a:p>
        </p:txBody>
      </p:sp>
      <p:cxnSp>
        <p:nvCxnSpPr>
          <p:cNvPr id="12" name="Connector 11"/>
          <p:cNvCxnSpPr/>
          <p:nvPr/>
        </p:nvCxnSpPr>
        <p:spPr>
          <a:xfrm>
            <a:off x="548640" y="2720340"/>
            <a:ext cx="2377440" cy="0"/>
          </a:xfrm>
          <a:prstGeom prst="line">
            <a:avLst/>
          </a:prstGeom>
          <a:ln w="19050">
            <a:solidFill>
              <a:srgbClr val="2E75B6"/>
            </a:solidFill>
          </a:ln>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548639" y="2834595"/>
            <a:ext cx="8138160" cy="1910395"/>
          </a:xfrm>
          <a:prstGeom prst="rect">
            <a:avLst/>
          </a:prstGeom>
          <a:noFill/>
        </p:spPr>
        <p:txBody>
          <a:bodyPr wrap="square">
            <a:spAutoFit/>
          </a:bodyPr>
          <a:lstStyle/>
          <a:p>
            <a:r>
              <a:rPr lang="en-US" sz="1200" dirty="0">
                <a:solidFill>
                  <a:schemeClr val="accent1"/>
                </a:solidFill>
              </a:rPr>
              <a:t>▶</a:t>
            </a:r>
            <a:r>
              <a:rPr lang="en-US" sz="1200" dirty="0"/>
              <a:t> </a:t>
            </a:r>
            <a:r>
              <a:rPr lang="en-US" sz="1200" b="1" dirty="0"/>
              <a:t>14 extension scenarios tested — all passed.</a:t>
            </a:r>
            <a:endParaRPr lang="en-US" sz="1200" dirty="0"/>
          </a:p>
          <a:p>
            <a:pPr marL="171450" lvl="0" indent="-171450">
              <a:lnSpc>
                <a:spcPct val="150000"/>
              </a:lnSpc>
              <a:buFont typeface="Arial" panose="020B0604020202020204" pitchFamily="34" charset="0"/>
              <a:buChar char="•"/>
            </a:pPr>
            <a:r>
              <a:rPr lang="en-US" sz="1200" dirty="0"/>
              <a:t>Placing a bid lower than current highest price (strictly rejected).</a:t>
            </a:r>
          </a:p>
          <a:p>
            <a:pPr marL="171450" lvl="0" indent="-171450">
              <a:lnSpc>
                <a:spcPct val="150000"/>
              </a:lnSpc>
              <a:buFont typeface="Arial" panose="020B0604020202020204" pitchFamily="34" charset="0"/>
              <a:buChar char="•"/>
            </a:pPr>
            <a:r>
              <a:rPr lang="en-US" sz="1200" dirty="0"/>
              <a:t>Bidding on an expired or closed auction (automatically blocked).</a:t>
            </a:r>
          </a:p>
          <a:p>
            <a:pPr marL="171450" lvl="0" indent="-171450">
              <a:lnSpc>
                <a:spcPct val="150000"/>
              </a:lnSpc>
              <a:buFont typeface="Arial" panose="020B0604020202020204" pitchFamily="34" charset="0"/>
              <a:buChar char="•"/>
            </a:pPr>
            <a:r>
              <a:rPr lang="en-US" sz="1200" dirty="0"/>
              <a:t>Duplicate breeding booking request for same date (prevented).</a:t>
            </a:r>
          </a:p>
          <a:p>
            <a:pPr marL="171450" lvl="0" indent="-171450">
              <a:lnSpc>
                <a:spcPct val="150000"/>
              </a:lnSpc>
              <a:buFont typeface="Arial" panose="020B0604020202020204" pitchFamily="34" charset="0"/>
              <a:buChar char="•"/>
            </a:pPr>
            <a:r>
              <a:rPr lang="en-US" sz="1200" dirty="0"/>
              <a:t>Unauthorized user trying to access admin panel (access denied / 403 Forbidden).</a:t>
            </a:r>
          </a:p>
          <a:p>
            <a:pPr marL="171450" lvl="0" indent="-171450">
              <a:lnSpc>
                <a:spcPct val="150000"/>
              </a:lnSpc>
              <a:buFont typeface="Arial" panose="020B0604020202020204" pitchFamily="34" charset="0"/>
              <a:buChar char="•"/>
            </a:pPr>
            <a:r>
              <a:rPr lang="en-US" sz="1200" dirty="0"/>
              <a:t>Dr. Max AI offline fallback (static veterinary rules activate when cloud AI APIs are down).</a:t>
            </a:r>
          </a:p>
          <a:p>
            <a:pPr marL="171450" lvl="0" indent="-171450">
              <a:lnSpc>
                <a:spcPct val="150000"/>
              </a:lnSpc>
              <a:buFont typeface="Arial" panose="020B0604020202020204" pitchFamily="34" charset="0"/>
              <a:buChar char="•"/>
            </a:pPr>
            <a:r>
              <a:rPr lang="en-US" sz="1200" dirty="0"/>
              <a:t>Rate limiter blocking brute-force spam requests.</a:t>
            </a:r>
          </a:p>
        </p:txBody>
      </p:sp>
      <p:sp>
        <p:nvSpPr>
          <p:cNvPr id="14" name="TextBox 13"/>
          <p:cNvSpPr txBox="1"/>
          <p:nvPr/>
        </p:nvSpPr>
        <p:spPr>
          <a:xfrm>
            <a:off x="548640" y="4777367"/>
            <a:ext cx="4114800" cy="320040"/>
          </a:xfrm>
          <a:prstGeom prst="rect">
            <a:avLst/>
          </a:prstGeom>
          <a:noFill/>
        </p:spPr>
        <p:txBody>
          <a:bodyPr wrap="square">
            <a:spAutoFit/>
          </a:bodyPr>
          <a:lstStyle/>
          <a:p>
            <a:r>
              <a:rPr sz="1400" b="1" i="0" dirty="0">
                <a:solidFill>
                  <a:srgbClr val="2E75B6"/>
                </a:solidFill>
                <a:latin typeface="Calibri"/>
              </a:rPr>
              <a:t>Boundary Value Analysis</a:t>
            </a:r>
          </a:p>
        </p:txBody>
      </p:sp>
      <p:cxnSp>
        <p:nvCxnSpPr>
          <p:cNvPr id="15" name="Connector 14"/>
          <p:cNvCxnSpPr/>
          <p:nvPr/>
        </p:nvCxnSpPr>
        <p:spPr>
          <a:xfrm>
            <a:off x="548640" y="5157084"/>
            <a:ext cx="2377440" cy="0"/>
          </a:xfrm>
          <a:prstGeom prst="line">
            <a:avLst/>
          </a:prstGeom>
          <a:ln w="19050">
            <a:solidFill>
              <a:srgbClr val="2E75B6"/>
            </a:solidFill>
          </a:ln>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457200" y="5247941"/>
            <a:ext cx="8138160" cy="894732"/>
          </a:xfrm>
          <a:prstGeom prst="rect">
            <a:avLst/>
          </a:prstGeom>
          <a:noFill/>
        </p:spPr>
        <p:txBody>
          <a:bodyPr wrap="square">
            <a:spAutoFit/>
          </a:bodyPr>
          <a:lstStyle/>
          <a:p>
            <a:pPr>
              <a:lnSpc>
                <a:spcPct val="150000"/>
              </a:lnSpc>
              <a:spcAft>
                <a:spcPts val="700"/>
              </a:spcAft>
            </a:pPr>
            <a:r>
              <a:rPr lang="en-US" sz="1200" dirty="0">
                <a:solidFill>
                  <a:schemeClr val="accent1"/>
                </a:solidFill>
              </a:rPr>
              <a:t>▶</a:t>
            </a:r>
            <a:r>
              <a:rPr lang="en-US" sz="1200" dirty="0"/>
              <a:t> </a:t>
            </a:r>
            <a:r>
              <a:rPr lang="en-US" sz="1200" b="1" dirty="0"/>
              <a:t>16 field boundaries tested — all passed.</a:t>
            </a:r>
            <a:br>
              <a:rPr lang="en-US" sz="1200" dirty="0"/>
            </a:br>
            <a:r>
              <a:rPr lang="en-US" sz="1200" dirty="0"/>
              <a:t>Including: empty form validation, duplicate emails, photo upload size limit (10MB), horse height boundaries (10.0 to 18.2 hands), horse age limits (0 to 35 years), price range limits, and stripping malicious characters ($ and script injection).</a:t>
            </a:r>
            <a:endParaRPr sz="1200" b="0" i="0" dirty="0">
              <a:solidFill>
                <a:srgbClr val="2C2C2C"/>
              </a:solidFill>
              <a:latin typeface="Calibri"/>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457200" y="256032"/>
            <a:ext cx="6949440" cy="553998"/>
          </a:xfrm>
          <a:prstGeom prst="rect">
            <a:avLst/>
          </a:prstGeom>
          <a:noFill/>
        </p:spPr>
        <p:txBody>
          <a:bodyPr wrap="square">
            <a:spAutoFit/>
          </a:bodyPr>
          <a:lstStyle/>
          <a:p>
            <a:r>
              <a:rPr sz="3000" b="1" i="0" dirty="0">
                <a:solidFill>
                  <a:srgbClr val="2E75B6"/>
                </a:solidFill>
                <a:latin typeface="Calibri Light"/>
              </a:rPr>
              <a:t>Performance Testing Results</a:t>
            </a:r>
          </a:p>
        </p:txBody>
      </p:sp>
      <p:cxnSp>
        <p:nvCxnSpPr>
          <p:cNvPr id="3" name="Connector 2"/>
          <p:cNvCxnSpPr/>
          <p:nvPr/>
        </p:nvCxnSpPr>
        <p:spPr>
          <a:xfrm>
            <a:off x="457200" y="969264"/>
            <a:ext cx="8229600" cy="0"/>
          </a:xfrm>
          <a:prstGeom prst="line">
            <a:avLst/>
          </a:prstGeom>
          <a:ln w="12700">
            <a:solidFill>
              <a:srgbClr val="AAAAAA"/>
            </a:solidFill>
            <a:prstDash val="dash"/>
          </a:ln>
        </p:spPr>
        <p:style>
          <a:lnRef idx="2">
            <a:schemeClr val="accent1"/>
          </a:lnRef>
          <a:fillRef idx="0">
            <a:schemeClr val="accent1"/>
          </a:fillRef>
          <a:effectRef idx="1">
            <a:schemeClr val="accent1"/>
          </a:effectRef>
          <a:fontRef idx="minor">
            <a:schemeClr val="tx1"/>
          </a:fontRef>
        </p:style>
      </p:cxnSp>
      <p:pic>
        <p:nvPicPr>
          <p:cNvPr id="4" name="Picture 3" descr="mul_logo.png"/>
          <p:cNvPicPr>
            <a:picLocks noChangeAspect="1"/>
          </p:cNvPicPr>
          <p:nvPr/>
        </p:nvPicPr>
        <p:blipFill>
          <a:blip r:embed="rId2"/>
          <a:stretch>
            <a:fillRect/>
          </a:stretch>
        </p:blipFill>
        <p:spPr>
          <a:xfrm>
            <a:off x="7882127" y="201168"/>
            <a:ext cx="804672" cy="804672"/>
          </a:xfrm>
          <a:prstGeom prst="rect">
            <a:avLst/>
          </a:prstGeom>
        </p:spPr>
      </p:pic>
      <p:graphicFrame>
        <p:nvGraphicFramePr>
          <p:cNvPr id="8" name="Table 7"/>
          <p:cNvGraphicFramePr>
            <a:graphicFrameLocks noGrp="1"/>
          </p:cNvGraphicFramePr>
          <p:nvPr>
            <p:extLst>
              <p:ext uri="{D42A27DB-BD31-4B8C-83A1-F6EECF244321}">
                <p14:modId xmlns:p14="http://schemas.microsoft.com/office/powerpoint/2010/main" val="3966869033"/>
              </p:ext>
            </p:extLst>
          </p:nvPr>
        </p:nvGraphicFramePr>
        <p:xfrm>
          <a:off x="548640" y="1188720"/>
          <a:ext cx="8321040" cy="2816352"/>
        </p:xfrm>
        <a:graphic>
          <a:graphicData uri="http://schemas.openxmlformats.org/drawingml/2006/table">
            <a:tbl>
              <a:tblPr firstRow="1" bandRow="1">
                <a:tableStyleId>{5C22544A-7EE6-4342-B048-85BDC9FD1C3A}</a:tableStyleId>
              </a:tblPr>
              <a:tblGrid>
                <a:gridCol w="2743200">
                  <a:extLst>
                    <a:ext uri="{9D8B030D-6E8A-4147-A177-3AD203B41FA5}">
                      <a16:colId xmlns:a16="http://schemas.microsoft.com/office/drawing/2014/main" val="20000"/>
                    </a:ext>
                  </a:extLst>
                </a:gridCol>
                <a:gridCol w="1737360">
                  <a:extLst>
                    <a:ext uri="{9D8B030D-6E8A-4147-A177-3AD203B41FA5}">
                      <a16:colId xmlns:a16="http://schemas.microsoft.com/office/drawing/2014/main" val="20001"/>
                    </a:ext>
                  </a:extLst>
                </a:gridCol>
                <a:gridCol w="2286000">
                  <a:extLst>
                    <a:ext uri="{9D8B030D-6E8A-4147-A177-3AD203B41FA5}">
                      <a16:colId xmlns:a16="http://schemas.microsoft.com/office/drawing/2014/main" val="20002"/>
                    </a:ext>
                  </a:extLst>
                </a:gridCol>
                <a:gridCol w="1554480">
                  <a:extLst>
                    <a:ext uri="{9D8B030D-6E8A-4147-A177-3AD203B41FA5}">
                      <a16:colId xmlns:a16="http://schemas.microsoft.com/office/drawing/2014/main" val="20003"/>
                    </a:ext>
                  </a:extLst>
                </a:gridCol>
              </a:tblGrid>
              <a:tr h="402336">
                <a:tc>
                  <a:txBody>
                    <a:bodyPr/>
                    <a:lstStyle/>
                    <a:p>
                      <a:r>
                        <a:rPr sz="1200" b="1" i="0">
                          <a:solidFill>
                            <a:srgbClr val="FFFFFF"/>
                          </a:solidFill>
                          <a:latin typeface="Calibri"/>
                        </a:rPr>
                        <a:t>Test Case</a:t>
                      </a:r>
                    </a:p>
                  </a:txBody>
                  <a:tcPr marT="25400" marB="25400" anchor="ctr">
                    <a:solidFill>
                      <a:srgbClr val="2E75B6"/>
                    </a:solidFill>
                  </a:tcPr>
                </a:tc>
                <a:tc>
                  <a:txBody>
                    <a:bodyPr/>
                    <a:lstStyle/>
                    <a:p>
                      <a:pPr algn="ctr"/>
                      <a:r>
                        <a:rPr sz="1200" b="1" i="0">
                          <a:solidFill>
                            <a:srgbClr val="FFFFFF"/>
                          </a:solidFill>
                          <a:latin typeface="Calibri"/>
                        </a:rPr>
                        <a:t>Requirement</a:t>
                      </a:r>
                    </a:p>
                  </a:txBody>
                  <a:tcPr marT="25400" marB="25400" anchor="ctr">
                    <a:solidFill>
                      <a:srgbClr val="2E75B6"/>
                    </a:solidFill>
                  </a:tcPr>
                </a:tc>
                <a:tc>
                  <a:txBody>
                    <a:bodyPr/>
                    <a:lstStyle/>
                    <a:p>
                      <a:pPr algn="ctr"/>
                      <a:r>
                        <a:rPr sz="1200" b="1" i="0">
                          <a:solidFill>
                            <a:srgbClr val="FFFFFF"/>
                          </a:solidFill>
                          <a:latin typeface="Calibri"/>
                        </a:rPr>
                        <a:t>Measured Result</a:t>
                      </a:r>
                    </a:p>
                  </a:txBody>
                  <a:tcPr marT="25400" marB="25400" anchor="ctr">
                    <a:solidFill>
                      <a:srgbClr val="2E75B6"/>
                    </a:solidFill>
                  </a:tcPr>
                </a:tc>
                <a:tc>
                  <a:txBody>
                    <a:bodyPr/>
                    <a:lstStyle/>
                    <a:p>
                      <a:pPr algn="ctr"/>
                      <a:r>
                        <a:rPr sz="1200" b="1" i="0">
                          <a:solidFill>
                            <a:srgbClr val="FFFFFF"/>
                          </a:solidFill>
                          <a:latin typeface="Calibri"/>
                        </a:rPr>
                        <a:t>Result</a:t>
                      </a:r>
                    </a:p>
                  </a:txBody>
                  <a:tcPr marT="25400" marB="25400" anchor="ctr">
                    <a:solidFill>
                      <a:srgbClr val="2E75B6"/>
                    </a:solidFill>
                  </a:tcPr>
                </a:tc>
                <a:extLst>
                  <a:ext uri="{0D108BD9-81ED-4DB2-BD59-A6C34878D82A}">
                    <a16:rowId xmlns:a16="http://schemas.microsoft.com/office/drawing/2014/main" val="10000"/>
                  </a:ext>
                </a:extLst>
              </a:tr>
              <a:tr h="402336">
                <a:tc>
                  <a:txBody>
                    <a:bodyPr/>
                    <a:lstStyle/>
                    <a:p>
                      <a:pPr indent="0" algn="l">
                        <a:buNone/>
                      </a:pPr>
                      <a:r>
                        <a:rPr lang="en-US" sz="976" b="0" i="0">
                          <a:solidFill>
                            <a:schemeClr val="tx1"/>
                          </a:solidFill>
                          <a:effectLst/>
                          <a:latin typeface="Segoe WPC"/>
                        </a:rPr>
                        <a:t>Sign In Response (JWT Auth)</a:t>
                      </a:r>
                    </a:p>
                  </a:txBody>
                  <a:tcPr anchor="ctr">
                    <a:solidFill>
                      <a:srgbClr val="FFFFFF"/>
                    </a:solidFill>
                  </a:tcPr>
                </a:tc>
                <a:tc>
                  <a:txBody>
                    <a:bodyPr/>
                    <a:lstStyle/>
                    <a:p>
                      <a:pPr indent="0" algn="ctr">
                        <a:buNone/>
                      </a:pPr>
                      <a:r>
                        <a:rPr lang="en-US" sz="976" b="0" i="0">
                          <a:solidFill>
                            <a:schemeClr val="tx1"/>
                          </a:solidFill>
                          <a:effectLst/>
                          <a:latin typeface="Segoe WPC"/>
                        </a:rPr>
                        <a:t>&lt; 3 seconds</a:t>
                      </a:r>
                    </a:p>
                  </a:txBody>
                  <a:tcPr anchor="ctr">
                    <a:solidFill>
                      <a:srgbClr val="FFFFFF"/>
                    </a:solidFill>
                  </a:tcPr>
                </a:tc>
                <a:tc>
                  <a:txBody>
                    <a:bodyPr/>
                    <a:lstStyle/>
                    <a:p>
                      <a:pPr indent="0" algn="ctr">
                        <a:buNone/>
                      </a:pPr>
                      <a:r>
                        <a:rPr lang="en-US" sz="976" b="0" i="0">
                          <a:solidFill>
                            <a:schemeClr val="tx1"/>
                          </a:solidFill>
                          <a:effectLst/>
                          <a:latin typeface="Segoe WPC"/>
                        </a:rPr>
                        <a:t>238ms (0.24s)</a:t>
                      </a:r>
                    </a:p>
                  </a:txBody>
                  <a:tcPr anchor="ctr">
                    <a:solidFill>
                      <a:srgbClr val="FFFFFF"/>
                    </a:solidFill>
                  </a:tcPr>
                </a:tc>
                <a:tc>
                  <a:txBody>
                    <a:bodyPr/>
                    <a:lstStyle/>
                    <a:p>
                      <a:pPr indent="0" algn="ctr">
                        <a:buNone/>
                      </a:pPr>
                      <a:r>
                        <a:rPr lang="en-US" sz="976" b="0" i="0">
                          <a:solidFill>
                            <a:schemeClr val="tx1"/>
                          </a:solidFill>
                          <a:effectLst/>
                          <a:latin typeface="Segoe WPC"/>
                        </a:rPr>
                        <a:t>PASS</a:t>
                      </a:r>
                    </a:p>
                  </a:txBody>
                  <a:tcPr anchor="ctr">
                    <a:solidFill>
                      <a:srgbClr val="FFFFFF"/>
                    </a:solidFill>
                  </a:tcPr>
                </a:tc>
                <a:extLst>
                  <a:ext uri="{0D108BD9-81ED-4DB2-BD59-A6C34878D82A}">
                    <a16:rowId xmlns:a16="http://schemas.microsoft.com/office/drawing/2014/main" val="10001"/>
                  </a:ext>
                </a:extLst>
              </a:tr>
              <a:tr h="402336">
                <a:tc>
                  <a:txBody>
                    <a:bodyPr/>
                    <a:lstStyle/>
                    <a:p>
                      <a:pPr indent="0" algn="l">
                        <a:buNone/>
                      </a:pPr>
                      <a:r>
                        <a:rPr lang="en-US" sz="976" b="0" i="0">
                          <a:solidFill>
                            <a:schemeClr val="tx1"/>
                          </a:solidFill>
                          <a:effectLst/>
                          <a:latin typeface="Segoe WPC"/>
                        </a:rPr>
                        <a:t>Marketplace Search &amp; Breed Filter</a:t>
                      </a:r>
                    </a:p>
                  </a:txBody>
                  <a:tcPr anchor="ctr">
                    <a:solidFill>
                      <a:srgbClr val="EBF3FB"/>
                    </a:solidFill>
                  </a:tcPr>
                </a:tc>
                <a:tc>
                  <a:txBody>
                    <a:bodyPr/>
                    <a:lstStyle/>
                    <a:p>
                      <a:pPr indent="0" algn="ctr">
                        <a:buNone/>
                      </a:pPr>
                      <a:r>
                        <a:rPr lang="en-US" sz="976" b="0" i="0">
                          <a:solidFill>
                            <a:schemeClr val="tx1"/>
                          </a:solidFill>
                          <a:effectLst/>
                          <a:latin typeface="Segoe WPC"/>
                        </a:rPr>
                        <a:t>&lt; 3 seconds</a:t>
                      </a:r>
                    </a:p>
                  </a:txBody>
                  <a:tcPr anchor="ctr">
                    <a:solidFill>
                      <a:srgbClr val="EBF3FB"/>
                    </a:solidFill>
                  </a:tcPr>
                </a:tc>
                <a:tc>
                  <a:txBody>
                    <a:bodyPr/>
                    <a:lstStyle/>
                    <a:p>
                      <a:pPr indent="0" algn="ctr">
                        <a:buNone/>
                      </a:pPr>
                      <a:r>
                        <a:rPr lang="en-US" sz="976" b="0" i="0">
                          <a:solidFill>
                            <a:schemeClr val="tx1"/>
                          </a:solidFill>
                          <a:effectLst/>
                          <a:latin typeface="Segoe WPC"/>
                        </a:rPr>
                        <a:t>310ms (0.31s)</a:t>
                      </a:r>
                    </a:p>
                  </a:txBody>
                  <a:tcPr anchor="ctr">
                    <a:solidFill>
                      <a:srgbClr val="EBF3FB"/>
                    </a:solidFill>
                  </a:tcPr>
                </a:tc>
                <a:tc>
                  <a:txBody>
                    <a:bodyPr/>
                    <a:lstStyle/>
                    <a:p>
                      <a:pPr indent="0" algn="ctr">
                        <a:buNone/>
                      </a:pPr>
                      <a:r>
                        <a:rPr lang="en-US" sz="976" b="0" i="0">
                          <a:solidFill>
                            <a:schemeClr val="tx1"/>
                          </a:solidFill>
                          <a:effectLst/>
                          <a:latin typeface="Segoe WPC"/>
                        </a:rPr>
                        <a:t>PASS</a:t>
                      </a:r>
                    </a:p>
                  </a:txBody>
                  <a:tcPr anchor="ctr">
                    <a:solidFill>
                      <a:srgbClr val="EBF3FB"/>
                    </a:solidFill>
                  </a:tcPr>
                </a:tc>
                <a:extLst>
                  <a:ext uri="{0D108BD9-81ED-4DB2-BD59-A6C34878D82A}">
                    <a16:rowId xmlns:a16="http://schemas.microsoft.com/office/drawing/2014/main" val="10002"/>
                  </a:ext>
                </a:extLst>
              </a:tr>
              <a:tr h="402336">
                <a:tc>
                  <a:txBody>
                    <a:bodyPr/>
                    <a:lstStyle/>
                    <a:p>
                      <a:pPr indent="0" algn="l">
                        <a:buNone/>
                      </a:pPr>
                      <a:r>
                        <a:rPr lang="en-US" sz="976" b="0" i="0">
                          <a:solidFill>
                            <a:schemeClr val="tx1"/>
                          </a:solidFill>
                          <a:effectLst/>
                          <a:latin typeface="Segoe WPC"/>
                        </a:rPr>
                        <a:t>Live Auction Bid Placement</a:t>
                      </a:r>
                    </a:p>
                  </a:txBody>
                  <a:tcPr anchor="ctr">
                    <a:solidFill>
                      <a:srgbClr val="FFFFFF"/>
                    </a:solidFill>
                  </a:tcPr>
                </a:tc>
                <a:tc>
                  <a:txBody>
                    <a:bodyPr/>
                    <a:lstStyle/>
                    <a:p>
                      <a:pPr indent="0" algn="ctr">
                        <a:buNone/>
                      </a:pPr>
                      <a:r>
                        <a:rPr lang="en-US" sz="976" b="0" i="0">
                          <a:solidFill>
                            <a:schemeClr val="tx1"/>
                          </a:solidFill>
                          <a:effectLst/>
                          <a:latin typeface="Segoe WPC"/>
                        </a:rPr>
                        <a:t>&lt; 1 second</a:t>
                      </a:r>
                    </a:p>
                  </a:txBody>
                  <a:tcPr anchor="ctr">
                    <a:solidFill>
                      <a:srgbClr val="FFFFFF"/>
                    </a:solidFill>
                  </a:tcPr>
                </a:tc>
                <a:tc>
                  <a:txBody>
                    <a:bodyPr/>
                    <a:lstStyle/>
                    <a:p>
                      <a:pPr indent="0" algn="ctr">
                        <a:buNone/>
                      </a:pPr>
                      <a:r>
                        <a:rPr lang="en-US" sz="976" b="0" i="0">
                          <a:solidFill>
                            <a:schemeClr val="tx1"/>
                          </a:solidFill>
                          <a:effectLst/>
                          <a:latin typeface="Segoe WPC"/>
                        </a:rPr>
                        <a:t>185ms (0.19s)</a:t>
                      </a:r>
                    </a:p>
                  </a:txBody>
                  <a:tcPr anchor="ctr">
                    <a:solidFill>
                      <a:srgbClr val="FFFFFF"/>
                    </a:solidFill>
                  </a:tcPr>
                </a:tc>
                <a:tc>
                  <a:txBody>
                    <a:bodyPr/>
                    <a:lstStyle/>
                    <a:p>
                      <a:pPr indent="0" algn="ctr">
                        <a:buNone/>
                      </a:pPr>
                      <a:r>
                        <a:rPr lang="en-US" sz="976" b="0" i="0">
                          <a:solidFill>
                            <a:schemeClr val="tx1"/>
                          </a:solidFill>
                          <a:effectLst/>
                          <a:latin typeface="Segoe WPC"/>
                        </a:rPr>
                        <a:t>PASS</a:t>
                      </a:r>
                    </a:p>
                  </a:txBody>
                  <a:tcPr anchor="ctr">
                    <a:solidFill>
                      <a:srgbClr val="FFFFFF"/>
                    </a:solidFill>
                  </a:tcPr>
                </a:tc>
                <a:extLst>
                  <a:ext uri="{0D108BD9-81ED-4DB2-BD59-A6C34878D82A}">
                    <a16:rowId xmlns:a16="http://schemas.microsoft.com/office/drawing/2014/main" val="10003"/>
                  </a:ext>
                </a:extLst>
              </a:tr>
              <a:tr h="402336">
                <a:tc>
                  <a:txBody>
                    <a:bodyPr/>
                    <a:lstStyle/>
                    <a:p>
                      <a:pPr indent="0" algn="l">
                        <a:buNone/>
                      </a:pPr>
                      <a:r>
                        <a:rPr lang="en-US" sz="976" b="0" i="0">
                          <a:solidFill>
                            <a:schemeClr val="tx1"/>
                          </a:solidFill>
                          <a:effectLst/>
                          <a:latin typeface="Segoe WPC"/>
                        </a:rPr>
                        <a:t>Dr. Max AI Vet Triage Response</a:t>
                      </a:r>
                    </a:p>
                  </a:txBody>
                  <a:tcPr anchor="ctr">
                    <a:solidFill>
                      <a:srgbClr val="EBF3FB"/>
                    </a:solidFill>
                  </a:tcPr>
                </a:tc>
                <a:tc>
                  <a:txBody>
                    <a:bodyPr/>
                    <a:lstStyle/>
                    <a:p>
                      <a:pPr indent="0" algn="ctr">
                        <a:buNone/>
                      </a:pPr>
                      <a:r>
                        <a:rPr lang="en-US" sz="976" b="0" i="0">
                          <a:solidFill>
                            <a:schemeClr val="tx1"/>
                          </a:solidFill>
                          <a:effectLst/>
                          <a:latin typeface="Segoe WPC"/>
                        </a:rPr>
                        <a:t>&lt; 5 seconds</a:t>
                      </a:r>
                    </a:p>
                  </a:txBody>
                  <a:tcPr anchor="ctr">
                    <a:solidFill>
                      <a:srgbClr val="EBF3FB"/>
                    </a:solidFill>
                  </a:tcPr>
                </a:tc>
                <a:tc>
                  <a:txBody>
                    <a:bodyPr/>
                    <a:lstStyle/>
                    <a:p>
                      <a:pPr indent="0" algn="ctr">
                        <a:buNone/>
                      </a:pPr>
                      <a:r>
                        <a:rPr lang="en-US" sz="976" b="0" i="0">
                          <a:solidFill>
                            <a:schemeClr val="tx1"/>
                          </a:solidFill>
                          <a:effectLst/>
                          <a:latin typeface="Segoe WPC"/>
                        </a:rPr>
                        <a:t>1,840ms (1.84s)</a:t>
                      </a:r>
                    </a:p>
                  </a:txBody>
                  <a:tcPr anchor="ctr">
                    <a:solidFill>
                      <a:srgbClr val="EBF3FB"/>
                    </a:solidFill>
                  </a:tcPr>
                </a:tc>
                <a:tc>
                  <a:txBody>
                    <a:bodyPr/>
                    <a:lstStyle/>
                    <a:p>
                      <a:pPr indent="0" algn="ctr">
                        <a:buNone/>
                      </a:pPr>
                      <a:r>
                        <a:rPr lang="en-US" sz="976" b="0" i="0">
                          <a:solidFill>
                            <a:schemeClr val="tx1"/>
                          </a:solidFill>
                          <a:effectLst/>
                          <a:latin typeface="Segoe WPC"/>
                        </a:rPr>
                        <a:t>PASS</a:t>
                      </a:r>
                    </a:p>
                  </a:txBody>
                  <a:tcPr anchor="ctr">
                    <a:solidFill>
                      <a:srgbClr val="EBF3FB"/>
                    </a:solidFill>
                  </a:tcPr>
                </a:tc>
                <a:extLst>
                  <a:ext uri="{0D108BD9-81ED-4DB2-BD59-A6C34878D82A}">
                    <a16:rowId xmlns:a16="http://schemas.microsoft.com/office/drawing/2014/main" val="10004"/>
                  </a:ext>
                </a:extLst>
              </a:tr>
              <a:tr h="402336">
                <a:tc>
                  <a:txBody>
                    <a:bodyPr/>
                    <a:lstStyle/>
                    <a:p>
                      <a:pPr indent="0" algn="l">
                        <a:buNone/>
                      </a:pPr>
                      <a:r>
                        <a:rPr lang="en-US" sz="976" b="0" i="0">
                          <a:solidFill>
                            <a:schemeClr val="tx1"/>
                          </a:solidFill>
                          <a:effectLst/>
                          <a:latin typeface="Segoe WPC"/>
                        </a:rPr>
                        <a:t>Admin Dashboard Analytics Query</a:t>
                      </a:r>
                    </a:p>
                  </a:txBody>
                  <a:tcPr anchor="ctr">
                    <a:solidFill>
                      <a:srgbClr val="FFFFFF"/>
                    </a:solidFill>
                  </a:tcPr>
                </a:tc>
                <a:tc>
                  <a:txBody>
                    <a:bodyPr/>
                    <a:lstStyle/>
                    <a:p>
                      <a:pPr indent="0" algn="ctr">
                        <a:buNone/>
                      </a:pPr>
                      <a:r>
                        <a:rPr lang="en-US" sz="976" b="0" i="0">
                          <a:solidFill>
                            <a:schemeClr val="tx1"/>
                          </a:solidFill>
                          <a:effectLst/>
                          <a:latin typeface="Segoe WPC"/>
                        </a:rPr>
                        <a:t>&lt; 2 seconds</a:t>
                      </a:r>
                    </a:p>
                  </a:txBody>
                  <a:tcPr anchor="ctr">
                    <a:solidFill>
                      <a:srgbClr val="FFFFFF"/>
                    </a:solidFill>
                  </a:tcPr>
                </a:tc>
                <a:tc>
                  <a:txBody>
                    <a:bodyPr/>
                    <a:lstStyle/>
                    <a:p>
                      <a:pPr indent="0" algn="ctr">
                        <a:buNone/>
                      </a:pPr>
                      <a:r>
                        <a:rPr lang="en-US" sz="976" b="0" i="0">
                          <a:solidFill>
                            <a:schemeClr val="tx1"/>
                          </a:solidFill>
                          <a:effectLst/>
                          <a:latin typeface="Segoe WPC"/>
                        </a:rPr>
                        <a:t>420ms (0.42s)</a:t>
                      </a:r>
                    </a:p>
                  </a:txBody>
                  <a:tcPr anchor="ctr">
                    <a:solidFill>
                      <a:srgbClr val="FFFFFF"/>
                    </a:solidFill>
                  </a:tcPr>
                </a:tc>
                <a:tc>
                  <a:txBody>
                    <a:bodyPr/>
                    <a:lstStyle/>
                    <a:p>
                      <a:pPr indent="0" algn="ctr">
                        <a:buNone/>
                      </a:pPr>
                      <a:r>
                        <a:rPr lang="en-US" sz="976" b="0" i="0">
                          <a:solidFill>
                            <a:schemeClr val="tx1"/>
                          </a:solidFill>
                          <a:effectLst/>
                          <a:latin typeface="Segoe WPC"/>
                        </a:rPr>
                        <a:t>PASS</a:t>
                      </a:r>
                    </a:p>
                  </a:txBody>
                  <a:tcPr anchor="ctr">
                    <a:solidFill>
                      <a:srgbClr val="FFFFFF"/>
                    </a:solidFill>
                  </a:tcPr>
                </a:tc>
                <a:extLst>
                  <a:ext uri="{0D108BD9-81ED-4DB2-BD59-A6C34878D82A}">
                    <a16:rowId xmlns:a16="http://schemas.microsoft.com/office/drawing/2014/main" val="10005"/>
                  </a:ext>
                </a:extLst>
              </a:tr>
              <a:tr h="402336">
                <a:tc>
                  <a:txBody>
                    <a:bodyPr/>
                    <a:lstStyle/>
                    <a:p>
                      <a:pPr indent="0" algn="l">
                        <a:buNone/>
                      </a:pPr>
                      <a:r>
                        <a:rPr lang="en-US" sz="976" b="0" i="0">
                          <a:solidFill>
                            <a:schemeClr val="tx1"/>
                          </a:solidFill>
                          <a:effectLst/>
                          <a:latin typeface="Segoe WPC"/>
                        </a:rPr>
                        <a:t>Cloudinary Multi-Photo Upload (4 Images)</a:t>
                      </a:r>
                    </a:p>
                  </a:txBody>
                  <a:tcPr anchor="ctr">
                    <a:solidFill>
                      <a:srgbClr val="EBF3FB"/>
                    </a:solidFill>
                  </a:tcPr>
                </a:tc>
                <a:tc>
                  <a:txBody>
                    <a:bodyPr/>
                    <a:lstStyle/>
                    <a:p>
                      <a:pPr indent="0" algn="ctr">
                        <a:buNone/>
                      </a:pPr>
                      <a:r>
                        <a:rPr lang="en-US" sz="976" b="0" i="0">
                          <a:solidFill>
                            <a:schemeClr val="tx1"/>
                          </a:solidFill>
                          <a:effectLst/>
                          <a:latin typeface="Segoe WPC"/>
                        </a:rPr>
                        <a:t>&lt; 8 seconds</a:t>
                      </a:r>
                    </a:p>
                  </a:txBody>
                  <a:tcPr anchor="ctr">
                    <a:solidFill>
                      <a:srgbClr val="EBF3FB"/>
                    </a:solidFill>
                  </a:tcPr>
                </a:tc>
                <a:tc>
                  <a:txBody>
                    <a:bodyPr/>
                    <a:lstStyle/>
                    <a:p>
                      <a:pPr indent="0" algn="ctr">
                        <a:buNone/>
                      </a:pPr>
                      <a:r>
                        <a:rPr lang="en-US" sz="976" b="0" i="0">
                          <a:solidFill>
                            <a:schemeClr val="tx1"/>
                          </a:solidFill>
                          <a:effectLst/>
                          <a:latin typeface="Segoe WPC"/>
                        </a:rPr>
                        <a:t>2,820ms (2.82s)</a:t>
                      </a:r>
                    </a:p>
                  </a:txBody>
                  <a:tcPr anchor="ctr">
                    <a:solidFill>
                      <a:srgbClr val="EBF3FB"/>
                    </a:solidFill>
                  </a:tcPr>
                </a:tc>
                <a:tc>
                  <a:txBody>
                    <a:bodyPr/>
                    <a:lstStyle/>
                    <a:p>
                      <a:pPr indent="0" algn="ctr">
                        <a:buNone/>
                      </a:pPr>
                      <a:r>
                        <a:rPr lang="en-US" sz="976" b="0" i="0" dirty="0">
                          <a:solidFill>
                            <a:schemeClr val="tx1"/>
                          </a:solidFill>
                          <a:effectLst/>
                          <a:latin typeface="Segoe WPC"/>
                        </a:rPr>
                        <a:t>PASS</a:t>
                      </a:r>
                    </a:p>
                  </a:txBody>
                  <a:tcPr anchor="ctr">
                    <a:solidFill>
                      <a:srgbClr val="EBF3FB"/>
                    </a:solidFill>
                  </a:tcPr>
                </a:tc>
                <a:extLst>
                  <a:ext uri="{0D108BD9-81ED-4DB2-BD59-A6C34878D82A}">
                    <a16:rowId xmlns:a16="http://schemas.microsoft.com/office/drawing/2014/main" val="10006"/>
                  </a:ext>
                </a:extLst>
              </a:tr>
            </a:tbl>
          </a:graphicData>
        </a:graphic>
      </p:graphicFrame>
      <p:sp>
        <p:nvSpPr>
          <p:cNvPr id="9" name="TextBox 8"/>
          <p:cNvSpPr txBox="1"/>
          <p:nvPr/>
        </p:nvSpPr>
        <p:spPr>
          <a:xfrm>
            <a:off x="548640" y="4069080"/>
            <a:ext cx="8046720" cy="617733"/>
          </a:xfrm>
          <a:prstGeom prst="rect">
            <a:avLst/>
          </a:prstGeom>
          <a:noFill/>
        </p:spPr>
        <p:txBody>
          <a:bodyPr wrap="square">
            <a:spAutoFit/>
          </a:bodyPr>
          <a:lstStyle/>
          <a:p>
            <a:pPr>
              <a:lnSpc>
                <a:spcPct val="150000"/>
              </a:lnSpc>
            </a:pPr>
            <a:r>
              <a:rPr lang="en-US" sz="1200" i="1" dirty="0"/>
              <a:t>All measurements taken via browser </a:t>
            </a:r>
            <a:r>
              <a:rPr lang="en-US" sz="1200" b="1" i="1" dirty="0" err="1"/>
              <a:t>DevTools</a:t>
            </a:r>
            <a:r>
              <a:rPr lang="en-US" sz="1200" b="1" i="1" dirty="0"/>
              <a:t> Network tab</a:t>
            </a:r>
            <a:r>
              <a:rPr lang="en-US" sz="1200" i="1" dirty="0"/>
              <a:t> on the deployed production system (</a:t>
            </a:r>
            <a:r>
              <a:rPr lang="en-US" sz="1200" b="1" i="1" dirty="0" err="1"/>
              <a:t>Vercel</a:t>
            </a:r>
            <a:r>
              <a:rPr lang="en-US" sz="1200" b="1" i="1" dirty="0"/>
              <a:t> + Render</a:t>
            </a:r>
            <a:r>
              <a:rPr lang="en-US" sz="1200" i="1" dirty="0"/>
              <a:t>), not on localhost.</a:t>
            </a:r>
            <a:endParaRPr sz="1200" b="0" i="1" dirty="0">
              <a:solidFill>
                <a:srgbClr val="595959"/>
              </a:solidFill>
              <a:latin typeface="Calibri"/>
            </a:endParaRPr>
          </a:p>
        </p:txBody>
      </p:sp>
      <p:sp>
        <p:nvSpPr>
          <p:cNvPr id="10" name="TextBox 9"/>
          <p:cNvSpPr txBox="1"/>
          <p:nvPr/>
        </p:nvSpPr>
        <p:spPr>
          <a:xfrm>
            <a:off x="548640" y="4627376"/>
            <a:ext cx="4114800" cy="320040"/>
          </a:xfrm>
          <a:prstGeom prst="rect">
            <a:avLst/>
          </a:prstGeom>
          <a:noFill/>
        </p:spPr>
        <p:txBody>
          <a:bodyPr wrap="square">
            <a:spAutoFit/>
          </a:bodyPr>
          <a:lstStyle/>
          <a:p>
            <a:r>
              <a:rPr sz="1400" b="1" i="0" dirty="0">
                <a:solidFill>
                  <a:srgbClr val="2E75B6"/>
                </a:solidFill>
                <a:latin typeface="Calibri"/>
              </a:rPr>
              <a:t>Stress Testing</a:t>
            </a:r>
          </a:p>
        </p:txBody>
      </p:sp>
      <p:cxnSp>
        <p:nvCxnSpPr>
          <p:cNvPr id="11" name="Connector 10"/>
          <p:cNvCxnSpPr/>
          <p:nvPr/>
        </p:nvCxnSpPr>
        <p:spPr>
          <a:xfrm>
            <a:off x="548640" y="4947897"/>
            <a:ext cx="2377440" cy="0"/>
          </a:xfrm>
          <a:prstGeom prst="line">
            <a:avLst/>
          </a:prstGeom>
          <a:ln w="19050">
            <a:solidFill>
              <a:srgbClr val="2E75B6"/>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502920" y="4937760"/>
            <a:ext cx="8138160" cy="1171731"/>
          </a:xfrm>
          <a:prstGeom prst="rect">
            <a:avLst/>
          </a:prstGeom>
          <a:noFill/>
        </p:spPr>
        <p:txBody>
          <a:bodyPr wrap="square">
            <a:spAutoFit/>
          </a:bodyPr>
          <a:lstStyle/>
          <a:p>
            <a:pPr>
              <a:lnSpc>
                <a:spcPct val="150000"/>
              </a:lnSpc>
              <a:spcAft>
                <a:spcPts val="700"/>
              </a:spcAft>
            </a:pPr>
            <a:r>
              <a:rPr lang="en-US" sz="1200" dirty="0">
                <a:solidFill>
                  <a:schemeClr val="accent1"/>
                </a:solidFill>
              </a:rPr>
              <a:t>▶</a:t>
            </a:r>
            <a:r>
              <a:rPr lang="en-US" sz="1200" dirty="0"/>
              <a:t> </a:t>
            </a:r>
            <a:r>
              <a:rPr lang="en-US" sz="1200" b="1" dirty="0"/>
              <a:t>10 stress scenarios tested — all passed ✓.</a:t>
            </a:r>
            <a:br>
              <a:rPr lang="en-US" sz="1200" dirty="0"/>
            </a:br>
            <a:r>
              <a:rPr lang="en-US" sz="1200" dirty="0"/>
              <a:t>Including: multiple users bidding simultaneously in live auctions (atomic increments preserved, zero lost bids); concurrent multi-photo uploads; high-traffic breed text search indexing; and AI fallback activation under simulated network outage without crashing.</a:t>
            </a:r>
            <a:endParaRPr sz="1200" b="0" i="0" dirty="0">
              <a:solidFill>
                <a:srgbClr val="2C2C2C"/>
              </a:solidFill>
              <a:latin typeface="Calibri"/>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457200" y="256032"/>
            <a:ext cx="6949440" cy="553998"/>
          </a:xfrm>
          <a:prstGeom prst="rect">
            <a:avLst/>
          </a:prstGeom>
          <a:noFill/>
        </p:spPr>
        <p:txBody>
          <a:bodyPr wrap="square">
            <a:spAutoFit/>
          </a:bodyPr>
          <a:lstStyle/>
          <a:p>
            <a:r>
              <a:rPr sz="3000" b="1" i="0" dirty="0">
                <a:solidFill>
                  <a:srgbClr val="2E75B6"/>
                </a:solidFill>
                <a:latin typeface="Calibri Light"/>
              </a:rPr>
              <a:t>Project Demo</a:t>
            </a:r>
          </a:p>
        </p:txBody>
      </p:sp>
      <p:cxnSp>
        <p:nvCxnSpPr>
          <p:cNvPr id="3" name="Connector 2"/>
          <p:cNvCxnSpPr/>
          <p:nvPr/>
        </p:nvCxnSpPr>
        <p:spPr>
          <a:xfrm>
            <a:off x="457200" y="969264"/>
            <a:ext cx="8229600" cy="0"/>
          </a:xfrm>
          <a:prstGeom prst="line">
            <a:avLst/>
          </a:prstGeom>
          <a:ln w="12700">
            <a:solidFill>
              <a:srgbClr val="AAAAAA"/>
            </a:solidFill>
            <a:prstDash val="dash"/>
          </a:ln>
        </p:spPr>
        <p:style>
          <a:lnRef idx="2">
            <a:schemeClr val="accent1"/>
          </a:lnRef>
          <a:fillRef idx="0">
            <a:schemeClr val="accent1"/>
          </a:fillRef>
          <a:effectRef idx="1">
            <a:schemeClr val="accent1"/>
          </a:effectRef>
          <a:fontRef idx="minor">
            <a:schemeClr val="tx1"/>
          </a:fontRef>
        </p:style>
      </p:cxnSp>
      <p:pic>
        <p:nvPicPr>
          <p:cNvPr id="4" name="Picture 3" descr="mul_logo.png"/>
          <p:cNvPicPr>
            <a:picLocks noChangeAspect="1"/>
          </p:cNvPicPr>
          <p:nvPr/>
        </p:nvPicPr>
        <p:blipFill>
          <a:blip r:embed="rId2"/>
          <a:stretch>
            <a:fillRect/>
          </a:stretch>
        </p:blipFill>
        <p:spPr>
          <a:xfrm>
            <a:off x="7882127" y="201168"/>
            <a:ext cx="804672" cy="804672"/>
          </a:xfrm>
          <a:prstGeom prst="rect">
            <a:avLst/>
          </a:prstGeom>
        </p:spPr>
      </p:pic>
      <p:sp>
        <p:nvSpPr>
          <p:cNvPr id="8" name="TextBox 7"/>
          <p:cNvSpPr txBox="1"/>
          <p:nvPr/>
        </p:nvSpPr>
        <p:spPr>
          <a:xfrm>
            <a:off x="640080" y="1463040"/>
            <a:ext cx="7863840" cy="822960"/>
          </a:xfrm>
          <a:prstGeom prst="rect">
            <a:avLst/>
          </a:prstGeom>
          <a:noFill/>
        </p:spPr>
        <p:txBody>
          <a:bodyPr wrap="square">
            <a:spAutoFit/>
          </a:bodyPr>
          <a:lstStyle/>
          <a:p>
            <a:pPr algn="ctr"/>
            <a:r>
              <a:rPr sz="3600" b="1" i="0">
                <a:solidFill>
                  <a:srgbClr val="2E75B6"/>
                </a:solidFill>
                <a:latin typeface="Calibri"/>
              </a:rPr>
              <a:t>[ LIVE DEMONSTRATION ]</a:t>
            </a:r>
          </a:p>
        </p:txBody>
      </p:sp>
      <p:sp>
        <p:nvSpPr>
          <p:cNvPr id="9" name="TextBox 8"/>
          <p:cNvSpPr txBox="1"/>
          <p:nvPr/>
        </p:nvSpPr>
        <p:spPr>
          <a:xfrm>
            <a:off x="640080" y="2468880"/>
            <a:ext cx="7863840" cy="457200"/>
          </a:xfrm>
          <a:prstGeom prst="rect">
            <a:avLst/>
          </a:prstGeom>
          <a:noFill/>
        </p:spPr>
        <p:txBody>
          <a:bodyPr wrap="square">
            <a:spAutoFit/>
          </a:bodyPr>
          <a:lstStyle/>
          <a:p>
            <a:pPr algn="ctr"/>
            <a:r>
              <a:rPr sz="1800" b="0" i="0">
                <a:solidFill>
                  <a:srgbClr val="2C2C2C"/>
                </a:solidFill>
                <a:latin typeface="Calibri"/>
              </a:rPr>
              <a:t>We will now demonstrate the following live on the deployed system:</a:t>
            </a:r>
          </a:p>
        </p:txBody>
      </p:sp>
      <p:sp>
        <p:nvSpPr>
          <p:cNvPr id="10" name="TextBox 9"/>
          <p:cNvSpPr txBox="1"/>
          <p:nvPr/>
        </p:nvSpPr>
        <p:spPr>
          <a:xfrm>
            <a:off x="1463040" y="3108960"/>
            <a:ext cx="6217920" cy="1997919"/>
          </a:xfrm>
          <a:prstGeom prst="rect">
            <a:avLst/>
          </a:prstGeom>
          <a:noFill/>
        </p:spPr>
        <p:txBody>
          <a:bodyPr wrap="square">
            <a:spAutoFit/>
          </a:bodyPr>
          <a:lstStyle/>
          <a:p>
            <a:pPr marL="228600" lvl="0" indent="-228600">
              <a:lnSpc>
                <a:spcPct val="150000"/>
              </a:lnSpc>
              <a:buFont typeface="+mj-lt"/>
              <a:buAutoNum type="arabicPeriod"/>
            </a:pPr>
            <a:r>
              <a:rPr lang="en-US" sz="1400" dirty="0"/>
              <a:t>User Sign-In &amp; Role-Based Dashboard Overview</a:t>
            </a:r>
          </a:p>
          <a:p>
            <a:pPr marL="228600" lvl="0" indent="-228600">
              <a:lnSpc>
                <a:spcPct val="150000"/>
              </a:lnSpc>
              <a:buFont typeface="+mj-lt"/>
              <a:buAutoNum type="arabicPeriod"/>
            </a:pPr>
            <a:r>
              <a:rPr lang="en-US" sz="1400" dirty="0"/>
              <a:t>Posting a Horse Listing with Photos (Admin Approval Queue)</a:t>
            </a:r>
          </a:p>
          <a:p>
            <a:pPr marL="228600" lvl="0" indent="-228600">
              <a:lnSpc>
                <a:spcPct val="150000"/>
              </a:lnSpc>
              <a:buFont typeface="+mj-lt"/>
              <a:buAutoNum type="arabicPeriod"/>
            </a:pPr>
            <a:r>
              <a:rPr lang="en-US" sz="1400" dirty="0"/>
              <a:t>Exploring Marketplace with Dual Price Sliders &amp; Breed Filters</a:t>
            </a:r>
          </a:p>
          <a:p>
            <a:pPr marL="228600" lvl="0" indent="-228600">
              <a:lnSpc>
                <a:spcPct val="150000"/>
              </a:lnSpc>
              <a:buFont typeface="+mj-lt"/>
              <a:buAutoNum type="arabicPeriod"/>
            </a:pPr>
            <a:r>
              <a:rPr lang="en-US" sz="1400" dirty="0"/>
              <a:t>Placing Live Auction Bids with Real-Time High-Bid Sync</a:t>
            </a:r>
          </a:p>
          <a:p>
            <a:pPr marL="228600" lvl="0" indent="-228600">
              <a:lnSpc>
                <a:spcPct val="150000"/>
              </a:lnSpc>
              <a:buFont typeface="+mj-lt"/>
              <a:buAutoNum type="arabicPeriod"/>
            </a:pPr>
            <a:r>
              <a:rPr lang="en-US" sz="1400" dirty="0"/>
              <a:t>Dr. Max AI Veterinary Consultation (Equine Symptoms &amp; First-Aid)</a:t>
            </a:r>
          </a:p>
          <a:p>
            <a:pPr marL="228600" lvl="0" indent="-228600">
              <a:lnSpc>
                <a:spcPct val="150000"/>
              </a:lnSpc>
              <a:buFont typeface="+mj-lt"/>
              <a:buAutoNum type="arabicPeriod"/>
            </a:pPr>
            <a:r>
              <a:rPr lang="en-US" sz="1400" dirty="0"/>
              <a:t>Certified Stud Breeding Booking &amp; Riding Academy Trial</a:t>
            </a:r>
          </a:p>
        </p:txBody>
      </p:sp>
      <p:sp>
        <p:nvSpPr>
          <p:cNvPr id="11" name="Rounded Rectangle 10"/>
          <p:cNvSpPr/>
          <p:nvPr/>
        </p:nvSpPr>
        <p:spPr>
          <a:xfrm>
            <a:off x="1828800" y="5795368"/>
            <a:ext cx="5486400" cy="731520"/>
          </a:xfrm>
          <a:prstGeom prst="roundRect">
            <a:avLst/>
          </a:prstGeom>
          <a:solidFill>
            <a:srgbClr val="EBF3FB"/>
          </a:solidFill>
          <a:ln>
            <a:solidFill>
              <a:srgbClr val="2E75B6"/>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lang="en-US" sz="1200" b="1" dirty="0">
                <a:solidFill>
                  <a:schemeClr val="tx1"/>
                </a:solidFill>
              </a:rPr>
              <a:t>Live URL:</a:t>
            </a:r>
            <a:r>
              <a:rPr lang="en-US" sz="1200" dirty="0">
                <a:solidFill>
                  <a:schemeClr val="tx1"/>
                </a:solidFill>
              </a:rPr>
              <a:t> </a:t>
            </a:r>
            <a:r>
              <a:rPr lang="en-US" sz="1200" dirty="0">
                <a:solidFill>
                  <a:schemeClr val="tx2"/>
                </a:solidFill>
                <a:hlinkClick r:id="rId3">
                  <a:extLst>
                    <a:ext uri="{A12FA001-AC4F-418D-AE19-62706E023703}">
                      <ahyp:hlinkClr xmlns:ahyp="http://schemas.microsoft.com/office/drawing/2018/hyperlinkcolor" val="tx"/>
                    </a:ext>
                  </a:extLst>
                </a:hlinkClick>
              </a:rPr>
              <a:t>https://hose-square-pakistan.vercel.app</a:t>
            </a:r>
            <a:br>
              <a:rPr lang="en-US" sz="1200" dirty="0">
                <a:solidFill>
                  <a:schemeClr val="tx1"/>
                </a:solidFill>
              </a:rPr>
            </a:br>
            <a:r>
              <a:rPr lang="en-US" sz="1200" b="1" dirty="0">
                <a:solidFill>
                  <a:schemeClr val="tx1"/>
                </a:solidFill>
              </a:rPr>
              <a:t>All modules are live, integrated, and functional on the production deployment.</a:t>
            </a:r>
            <a:endParaRPr sz="1200" b="0" i="1" dirty="0">
              <a:solidFill>
                <a:schemeClr val="tx1"/>
              </a:solidFill>
              <a:latin typeface="Calibri"/>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457200" y="256032"/>
            <a:ext cx="6949440" cy="553998"/>
          </a:xfrm>
          <a:prstGeom prst="rect">
            <a:avLst/>
          </a:prstGeom>
          <a:noFill/>
        </p:spPr>
        <p:txBody>
          <a:bodyPr wrap="square">
            <a:spAutoFit/>
          </a:bodyPr>
          <a:lstStyle/>
          <a:p>
            <a:r>
              <a:rPr sz="3000" b="1" i="0" dirty="0">
                <a:solidFill>
                  <a:srgbClr val="2E75B6"/>
                </a:solidFill>
                <a:latin typeface="Calibri Light"/>
              </a:rPr>
              <a:t>Conclusion &amp; Limitations</a:t>
            </a:r>
          </a:p>
        </p:txBody>
      </p:sp>
      <p:cxnSp>
        <p:nvCxnSpPr>
          <p:cNvPr id="3" name="Connector 2"/>
          <p:cNvCxnSpPr/>
          <p:nvPr/>
        </p:nvCxnSpPr>
        <p:spPr>
          <a:xfrm>
            <a:off x="457200" y="969264"/>
            <a:ext cx="8229600" cy="0"/>
          </a:xfrm>
          <a:prstGeom prst="line">
            <a:avLst/>
          </a:prstGeom>
          <a:ln w="12700">
            <a:solidFill>
              <a:srgbClr val="AAAAAA"/>
            </a:solidFill>
            <a:prstDash val="dash"/>
          </a:ln>
        </p:spPr>
        <p:style>
          <a:lnRef idx="2">
            <a:schemeClr val="accent1"/>
          </a:lnRef>
          <a:fillRef idx="0">
            <a:schemeClr val="accent1"/>
          </a:fillRef>
          <a:effectRef idx="1">
            <a:schemeClr val="accent1"/>
          </a:effectRef>
          <a:fontRef idx="minor">
            <a:schemeClr val="tx1"/>
          </a:fontRef>
        </p:style>
      </p:cxnSp>
      <p:pic>
        <p:nvPicPr>
          <p:cNvPr id="4" name="Picture 3" descr="mul_logo.png"/>
          <p:cNvPicPr>
            <a:picLocks noChangeAspect="1"/>
          </p:cNvPicPr>
          <p:nvPr/>
        </p:nvPicPr>
        <p:blipFill>
          <a:blip r:embed="rId2"/>
          <a:stretch>
            <a:fillRect/>
          </a:stretch>
        </p:blipFill>
        <p:spPr>
          <a:xfrm>
            <a:off x="7882127" y="201168"/>
            <a:ext cx="804672" cy="804672"/>
          </a:xfrm>
          <a:prstGeom prst="rect">
            <a:avLst/>
          </a:prstGeom>
        </p:spPr>
      </p:pic>
      <p:sp>
        <p:nvSpPr>
          <p:cNvPr id="8" name="TextBox 7"/>
          <p:cNvSpPr txBox="1"/>
          <p:nvPr/>
        </p:nvSpPr>
        <p:spPr>
          <a:xfrm>
            <a:off x="548640" y="1097280"/>
            <a:ext cx="4114800" cy="320040"/>
          </a:xfrm>
          <a:prstGeom prst="rect">
            <a:avLst/>
          </a:prstGeom>
          <a:noFill/>
        </p:spPr>
        <p:txBody>
          <a:bodyPr wrap="square">
            <a:spAutoFit/>
          </a:bodyPr>
          <a:lstStyle/>
          <a:p>
            <a:r>
              <a:rPr sz="1400" b="1" i="0" dirty="0">
                <a:solidFill>
                  <a:srgbClr val="2E75B6"/>
                </a:solidFill>
                <a:latin typeface="Calibri"/>
              </a:rPr>
              <a:t>Conclusion</a:t>
            </a:r>
          </a:p>
        </p:txBody>
      </p:sp>
      <p:cxnSp>
        <p:nvCxnSpPr>
          <p:cNvPr id="9" name="Connector 8"/>
          <p:cNvCxnSpPr/>
          <p:nvPr/>
        </p:nvCxnSpPr>
        <p:spPr>
          <a:xfrm>
            <a:off x="548640" y="1408176"/>
            <a:ext cx="2377440" cy="0"/>
          </a:xfrm>
          <a:prstGeom prst="line">
            <a:avLst/>
          </a:prstGeom>
          <a:ln w="19050">
            <a:solidFill>
              <a:srgbClr val="2E75B6"/>
            </a:solidFill>
          </a:ln>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548640" y="1463040"/>
            <a:ext cx="8138160" cy="2279727"/>
          </a:xfrm>
          <a:prstGeom prst="rect">
            <a:avLst/>
          </a:prstGeom>
          <a:noFill/>
        </p:spPr>
        <p:txBody>
          <a:bodyPr wrap="square">
            <a:spAutoFit/>
          </a:bodyPr>
          <a:lstStyle/>
          <a:p>
            <a:pPr>
              <a:lnSpc>
                <a:spcPct val="150000"/>
              </a:lnSpc>
              <a:spcAft>
                <a:spcPts val="700"/>
              </a:spcAft>
            </a:pPr>
            <a:r>
              <a:rPr lang="en-US" sz="1200" dirty="0">
                <a:solidFill>
                  <a:schemeClr val="accent1"/>
                </a:solidFill>
              </a:rPr>
              <a:t>▶</a:t>
            </a:r>
            <a:r>
              <a:rPr lang="en-US" sz="1200" dirty="0"/>
              <a:t> </a:t>
            </a:r>
            <a:r>
              <a:rPr lang="en-US" sz="1200" b="1" dirty="0"/>
              <a:t>Horse Square Pakistan</a:t>
            </a:r>
            <a:r>
              <a:rPr lang="en-US" sz="1200" dirty="0"/>
              <a:t> successfully delivers a verified, secure, and all-in-one digital platform for Pakistan's horse community.</a:t>
            </a:r>
            <a:br>
              <a:rPr lang="en-US" sz="1200" dirty="0"/>
            </a:br>
            <a:r>
              <a:rPr lang="en-US" sz="1200" dirty="0">
                <a:solidFill>
                  <a:schemeClr val="accent1"/>
                </a:solidFill>
              </a:rPr>
              <a:t>▶</a:t>
            </a:r>
            <a:r>
              <a:rPr lang="en-US" sz="1200" dirty="0"/>
              <a:t> </a:t>
            </a:r>
            <a:r>
              <a:rPr lang="en-US" sz="1200" b="1" dirty="0"/>
              <a:t>All 16 modules</a:t>
            </a:r>
            <a:r>
              <a:rPr lang="en-US" sz="1200" dirty="0"/>
              <a:t> are fully built, integrated, and deployed live on production (accessible on all desktop and mobile devices).</a:t>
            </a:r>
            <a:br>
              <a:rPr lang="en-US" sz="1200" dirty="0"/>
            </a:br>
            <a:r>
              <a:rPr lang="en-US" sz="1200" dirty="0">
                <a:solidFill>
                  <a:schemeClr val="accent1"/>
                </a:solidFill>
              </a:rPr>
              <a:t>▶</a:t>
            </a:r>
            <a:r>
              <a:rPr lang="en-US" sz="1200" dirty="0"/>
              <a:t> </a:t>
            </a:r>
            <a:r>
              <a:rPr lang="en-US" sz="1200" b="1" dirty="0"/>
              <a:t>Dr. Max AI Vet Doctor</a:t>
            </a:r>
            <a:r>
              <a:rPr lang="en-US" sz="1200" dirty="0"/>
              <a:t> provides instant, life-saving triage for lethal equine diseases (Surra, Colic, Strangles) with reliable offline fallback safety.</a:t>
            </a:r>
            <a:br>
              <a:rPr lang="en-US" sz="1200" dirty="0"/>
            </a:br>
            <a:r>
              <a:rPr lang="en-US" sz="1200" dirty="0">
                <a:solidFill>
                  <a:schemeClr val="accent1"/>
                </a:solidFill>
              </a:rPr>
              <a:t>▶</a:t>
            </a:r>
            <a:r>
              <a:rPr lang="en-US" sz="1200" dirty="0"/>
              <a:t> </a:t>
            </a:r>
            <a:r>
              <a:rPr lang="en-US" sz="1200" b="1" dirty="0"/>
              <a:t>All performance targets were exceeded;</a:t>
            </a:r>
            <a:r>
              <a:rPr lang="en-US" sz="1200" dirty="0"/>
              <a:t> all 24 use cases, 14 edge scenarios, and 16 boundary tests passed with 100% success.</a:t>
            </a:r>
            <a:br>
              <a:rPr lang="en-US" sz="1200" dirty="0"/>
            </a:br>
            <a:r>
              <a:rPr lang="en-US" sz="1200" dirty="0">
                <a:solidFill>
                  <a:schemeClr val="accent1"/>
                </a:solidFill>
              </a:rPr>
              <a:t>▶</a:t>
            </a:r>
            <a:r>
              <a:rPr lang="en-US" sz="1200" dirty="0"/>
              <a:t> </a:t>
            </a:r>
            <a:r>
              <a:rPr lang="en-US" sz="1200" b="1" dirty="0"/>
              <a:t>Fills a Major National Gap:</a:t>
            </a:r>
            <a:r>
              <a:rPr lang="en-US" sz="1200" dirty="0"/>
              <a:t> Replaces disorganized, fraud-prone social media horse groups with a structured, verified marketplace and auction system.</a:t>
            </a:r>
            <a:endParaRPr sz="1200" b="0" i="0" dirty="0">
              <a:solidFill>
                <a:srgbClr val="2C2C2C"/>
              </a:solidFill>
              <a:latin typeface="Calibri"/>
            </a:endParaRPr>
          </a:p>
        </p:txBody>
      </p:sp>
      <p:sp>
        <p:nvSpPr>
          <p:cNvPr id="11" name="TextBox 10"/>
          <p:cNvSpPr txBox="1"/>
          <p:nvPr/>
        </p:nvSpPr>
        <p:spPr>
          <a:xfrm>
            <a:off x="548640" y="4206240"/>
            <a:ext cx="4114800" cy="320040"/>
          </a:xfrm>
          <a:prstGeom prst="rect">
            <a:avLst/>
          </a:prstGeom>
          <a:noFill/>
        </p:spPr>
        <p:txBody>
          <a:bodyPr wrap="square">
            <a:spAutoFit/>
          </a:bodyPr>
          <a:lstStyle/>
          <a:p>
            <a:r>
              <a:rPr sz="1400" b="1" i="0">
                <a:solidFill>
                  <a:srgbClr val="2E75B6"/>
                </a:solidFill>
                <a:latin typeface="Calibri"/>
              </a:rPr>
              <a:t>Current Limitations</a:t>
            </a:r>
          </a:p>
        </p:txBody>
      </p:sp>
      <p:cxnSp>
        <p:nvCxnSpPr>
          <p:cNvPr id="12" name="Connector 11"/>
          <p:cNvCxnSpPr/>
          <p:nvPr/>
        </p:nvCxnSpPr>
        <p:spPr>
          <a:xfrm>
            <a:off x="548640" y="4517136"/>
            <a:ext cx="2377440" cy="0"/>
          </a:xfrm>
          <a:prstGeom prst="line">
            <a:avLst/>
          </a:prstGeom>
          <a:ln w="19050">
            <a:solidFill>
              <a:srgbClr val="2E75B6"/>
            </a:solidFill>
          </a:ln>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548640" y="4572000"/>
            <a:ext cx="8138160" cy="2002728"/>
          </a:xfrm>
          <a:prstGeom prst="rect">
            <a:avLst/>
          </a:prstGeom>
          <a:noFill/>
        </p:spPr>
        <p:txBody>
          <a:bodyPr wrap="square">
            <a:spAutoFit/>
          </a:bodyPr>
          <a:lstStyle/>
          <a:p>
            <a:pPr>
              <a:lnSpc>
                <a:spcPct val="150000"/>
              </a:lnSpc>
              <a:spcAft>
                <a:spcPts val="700"/>
              </a:spcAft>
            </a:pPr>
            <a:r>
              <a:rPr lang="en-US" sz="1200" dirty="0">
                <a:solidFill>
                  <a:schemeClr val="accent1"/>
                </a:solidFill>
              </a:rPr>
              <a:t>▶</a:t>
            </a:r>
            <a:r>
              <a:rPr lang="en-US" sz="1200" dirty="0"/>
              <a:t> </a:t>
            </a:r>
            <a:r>
              <a:rPr lang="en-US" sz="1200" b="1" dirty="0"/>
              <a:t>Payment Handling:</a:t>
            </a:r>
            <a:r>
              <a:rPr lang="en-US" sz="1200" dirty="0"/>
              <a:t> Currently operates via direct bank transfer and cash on physical inspection (integrated online digital escrow is in progress).</a:t>
            </a:r>
            <a:br>
              <a:rPr lang="en-US" sz="1200" dirty="0"/>
            </a:br>
            <a:r>
              <a:rPr lang="en-US" sz="1200" dirty="0">
                <a:solidFill>
                  <a:schemeClr val="accent1"/>
                </a:solidFill>
              </a:rPr>
              <a:t>▶</a:t>
            </a:r>
            <a:r>
              <a:rPr lang="en-US" sz="1200" dirty="0"/>
              <a:t> </a:t>
            </a:r>
            <a:r>
              <a:rPr lang="en-US" sz="1200" b="1" dirty="0"/>
              <a:t>Transport Tracking:</a:t>
            </a:r>
            <a:r>
              <a:rPr lang="en-US" sz="1200" dirty="0"/>
              <a:t> Live GPS tracking for horse transit trailers/floats is not yet connected.</a:t>
            </a:r>
            <a:br>
              <a:rPr lang="en-US" sz="1200" dirty="0"/>
            </a:br>
            <a:r>
              <a:rPr lang="en-US" sz="1200" dirty="0">
                <a:solidFill>
                  <a:schemeClr val="accent1"/>
                </a:solidFill>
              </a:rPr>
              <a:t>▶</a:t>
            </a:r>
            <a:r>
              <a:rPr lang="en-US" sz="1200" dirty="0"/>
              <a:t> </a:t>
            </a:r>
            <a:r>
              <a:rPr lang="en-US" sz="1200" b="1" dirty="0"/>
              <a:t>Government Database Link:</a:t>
            </a:r>
            <a:r>
              <a:rPr lang="en-US" sz="1200" dirty="0"/>
              <a:t> Official government DNA and microchip databases are not yet digitally linked via API.</a:t>
            </a:r>
            <a:br>
              <a:rPr lang="en-US" sz="1200" dirty="0"/>
            </a:br>
            <a:r>
              <a:rPr lang="en-US" sz="1200" dirty="0">
                <a:solidFill>
                  <a:schemeClr val="accent1"/>
                </a:solidFill>
              </a:rPr>
              <a:t>▶</a:t>
            </a:r>
            <a:r>
              <a:rPr lang="en-US" sz="1200" dirty="0"/>
              <a:t> </a:t>
            </a:r>
            <a:r>
              <a:rPr lang="en-US" sz="1200" b="1" dirty="0"/>
              <a:t>Language Support:</a:t>
            </a:r>
            <a:r>
              <a:rPr lang="en-US" sz="1200" dirty="0"/>
              <a:t> Platform is currently in English (Urdu localization is planned for future regional release).</a:t>
            </a:r>
            <a:br>
              <a:rPr lang="en-US" sz="1200" dirty="0"/>
            </a:br>
            <a:r>
              <a:rPr lang="en-US" sz="1200" dirty="0">
                <a:solidFill>
                  <a:schemeClr val="accent1"/>
                </a:solidFill>
              </a:rPr>
              <a:t>▶</a:t>
            </a:r>
            <a:r>
              <a:rPr lang="en-US" sz="1200" dirty="0"/>
              <a:t> </a:t>
            </a:r>
            <a:r>
              <a:rPr lang="en-US" sz="1200" b="1" dirty="0"/>
              <a:t>Testing Scope:</a:t>
            </a:r>
            <a:r>
              <a:rPr lang="en-US" sz="1200" dirty="0"/>
              <a:t> System testing was manual and functional; automated CI/CD unit testing is recommended before large-scale commercial expansion.</a:t>
            </a:r>
            <a:endParaRPr sz="1200" b="0" i="0" dirty="0">
              <a:solidFill>
                <a:srgbClr val="2C2C2C"/>
              </a:solidFill>
              <a:latin typeface="Calibri"/>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457200" y="256032"/>
            <a:ext cx="6949440" cy="553998"/>
          </a:xfrm>
          <a:prstGeom prst="rect">
            <a:avLst/>
          </a:prstGeom>
          <a:noFill/>
        </p:spPr>
        <p:txBody>
          <a:bodyPr wrap="square">
            <a:spAutoFit/>
          </a:bodyPr>
          <a:lstStyle/>
          <a:p>
            <a:r>
              <a:rPr sz="3000" b="1" i="0" dirty="0">
                <a:solidFill>
                  <a:srgbClr val="2E75B6"/>
                </a:solidFill>
                <a:latin typeface="Calibri Light"/>
              </a:rPr>
              <a:t>Future Work &amp; References</a:t>
            </a:r>
          </a:p>
        </p:txBody>
      </p:sp>
      <p:cxnSp>
        <p:nvCxnSpPr>
          <p:cNvPr id="3" name="Connector 2"/>
          <p:cNvCxnSpPr/>
          <p:nvPr/>
        </p:nvCxnSpPr>
        <p:spPr>
          <a:xfrm>
            <a:off x="457200" y="969264"/>
            <a:ext cx="8229600" cy="0"/>
          </a:xfrm>
          <a:prstGeom prst="line">
            <a:avLst/>
          </a:prstGeom>
          <a:ln w="12700">
            <a:solidFill>
              <a:srgbClr val="AAAAAA"/>
            </a:solidFill>
            <a:prstDash val="dash"/>
          </a:ln>
        </p:spPr>
        <p:style>
          <a:lnRef idx="2">
            <a:schemeClr val="accent1"/>
          </a:lnRef>
          <a:fillRef idx="0">
            <a:schemeClr val="accent1"/>
          </a:fillRef>
          <a:effectRef idx="1">
            <a:schemeClr val="accent1"/>
          </a:effectRef>
          <a:fontRef idx="minor">
            <a:schemeClr val="tx1"/>
          </a:fontRef>
        </p:style>
      </p:cxnSp>
      <p:pic>
        <p:nvPicPr>
          <p:cNvPr id="4" name="Picture 3" descr="mul_logo.png"/>
          <p:cNvPicPr>
            <a:picLocks noChangeAspect="1"/>
          </p:cNvPicPr>
          <p:nvPr/>
        </p:nvPicPr>
        <p:blipFill>
          <a:blip r:embed="rId2"/>
          <a:stretch>
            <a:fillRect/>
          </a:stretch>
        </p:blipFill>
        <p:spPr>
          <a:xfrm>
            <a:off x="7882127" y="201168"/>
            <a:ext cx="804672" cy="804672"/>
          </a:xfrm>
          <a:prstGeom prst="rect">
            <a:avLst/>
          </a:prstGeom>
        </p:spPr>
      </p:pic>
      <p:sp>
        <p:nvSpPr>
          <p:cNvPr id="8" name="TextBox 7"/>
          <p:cNvSpPr txBox="1"/>
          <p:nvPr/>
        </p:nvSpPr>
        <p:spPr>
          <a:xfrm>
            <a:off x="548640" y="1097280"/>
            <a:ext cx="4114800" cy="320040"/>
          </a:xfrm>
          <a:prstGeom prst="rect">
            <a:avLst/>
          </a:prstGeom>
          <a:noFill/>
        </p:spPr>
        <p:txBody>
          <a:bodyPr wrap="square">
            <a:spAutoFit/>
          </a:bodyPr>
          <a:lstStyle/>
          <a:p>
            <a:r>
              <a:rPr sz="1400" b="1" i="0">
                <a:solidFill>
                  <a:srgbClr val="2E75B6"/>
                </a:solidFill>
                <a:latin typeface="Calibri"/>
              </a:rPr>
              <a:t>Planned Improvements</a:t>
            </a:r>
          </a:p>
        </p:txBody>
      </p:sp>
      <p:cxnSp>
        <p:nvCxnSpPr>
          <p:cNvPr id="9" name="Connector 8"/>
          <p:cNvCxnSpPr/>
          <p:nvPr/>
        </p:nvCxnSpPr>
        <p:spPr>
          <a:xfrm>
            <a:off x="548640" y="1408176"/>
            <a:ext cx="2377440" cy="0"/>
          </a:xfrm>
          <a:prstGeom prst="line">
            <a:avLst/>
          </a:prstGeom>
          <a:ln w="19050">
            <a:solidFill>
              <a:srgbClr val="2E75B6"/>
            </a:solidFill>
          </a:ln>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457200" y="1463039"/>
            <a:ext cx="4206240" cy="4495718"/>
          </a:xfrm>
          <a:prstGeom prst="rect">
            <a:avLst/>
          </a:prstGeom>
          <a:noFill/>
        </p:spPr>
        <p:txBody>
          <a:bodyPr wrap="square">
            <a:spAutoFit/>
          </a:bodyPr>
          <a:lstStyle/>
          <a:p>
            <a:pPr>
              <a:lnSpc>
                <a:spcPct val="150000"/>
              </a:lnSpc>
              <a:spcAft>
                <a:spcPts val="700"/>
              </a:spcAft>
            </a:pPr>
            <a:r>
              <a:rPr lang="en-US" sz="1200" dirty="0">
                <a:solidFill>
                  <a:schemeClr val="accent1"/>
                </a:solidFill>
              </a:rPr>
              <a:t>▶</a:t>
            </a:r>
            <a:r>
              <a:rPr lang="en-US" sz="1200" dirty="0"/>
              <a:t> Integrated Digital Escrow &amp; Payment Gateway: Seamless online payments via </a:t>
            </a:r>
            <a:r>
              <a:rPr lang="en-US" sz="1200" dirty="0" err="1"/>
              <a:t>EasyPaisa</a:t>
            </a:r>
            <a:r>
              <a:rPr lang="en-US" sz="1200" dirty="0"/>
              <a:t>, </a:t>
            </a:r>
            <a:r>
              <a:rPr lang="en-US" sz="1200" dirty="0" err="1"/>
              <a:t>JazzCash</a:t>
            </a:r>
            <a:r>
              <a:rPr lang="en-US" sz="1200" dirty="0"/>
              <a:t>, </a:t>
            </a:r>
            <a:r>
              <a:rPr lang="en-US" sz="1200" dirty="0" err="1"/>
              <a:t>Raast</a:t>
            </a:r>
            <a:r>
              <a:rPr lang="en-US" sz="1200" dirty="0"/>
              <a:t> &amp; Stripe to hold funds safely until horse delivery and health clearance.</a:t>
            </a:r>
            <a:br>
              <a:rPr lang="en-US" sz="1200" dirty="0"/>
            </a:br>
            <a:r>
              <a:rPr lang="en-US" sz="1200" dirty="0">
                <a:solidFill>
                  <a:schemeClr val="accent1"/>
                </a:solidFill>
              </a:rPr>
              <a:t>▶</a:t>
            </a:r>
            <a:r>
              <a:rPr lang="en-US" sz="1200" dirty="0"/>
              <a:t> Real-Time IoT GPS Horse Trailer Tracking: Live location tracking for horse transit vehicles on a Google Map during inter-city deliveries.</a:t>
            </a:r>
            <a:br>
              <a:rPr lang="en-US" sz="1200" dirty="0"/>
            </a:br>
            <a:r>
              <a:rPr lang="en-US" sz="1200" dirty="0">
                <a:solidFill>
                  <a:schemeClr val="accent1"/>
                </a:solidFill>
              </a:rPr>
              <a:t>▶</a:t>
            </a:r>
            <a:r>
              <a:rPr lang="en-US" sz="1200" dirty="0"/>
              <a:t> Dedicated Mobile Applications: Native mobile apps for iOS and Android built with React Native.</a:t>
            </a:r>
            <a:br>
              <a:rPr lang="en-US" sz="1200" dirty="0"/>
            </a:br>
            <a:r>
              <a:rPr lang="en-US" sz="1200" dirty="0">
                <a:solidFill>
                  <a:schemeClr val="accent1"/>
                </a:solidFill>
              </a:rPr>
              <a:t>▶</a:t>
            </a:r>
            <a:r>
              <a:rPr lang="en-US" sz="1200" dirty="0"/>
              <a:t> Blockchain Pedigree &amp; Microchip Registry: Tamper-proof, immutable decentralized records for certified purebred champion bloodlines.</a:t>
            </a:r>
            <a:br>
              <a:rPr lang="en-US" sz="1200" dirty="0"/>
            </a:br>
            <a:r>
              <a:rPr lang="en-US" sz="1200" dirty="0">
                <a:solidFill>
                  <a:schemeClr val="accent1"/>
                </a:solidFill>
              </a:rPr>
              <a:t>▶</a:t>
            </a:r>
            <a:r>
              <a:rPr lang="en-US" sz="1200" dirty="0"/>
              <a:t> Automated CI/CD Testing Pipeline: Comprehensive unit, integration, and end-to-end automated testing suite with Jest &amp; Playwright.</a:t>
            </a:r>
            <a:br>
              <a:rPr lang="en-US" sz="1200" dirty="0"/>
            </a:br>
            <a:r>
              <a:rPr lang="en-US" sz="1200" dirty="0">
                <a:solidFill>
                  <a:schemeClr val="accent1"/>
                </a:solidFill>
              </a:rPr>
              <a:t>▶</a:t>
            </a:r>
            <a:r>
              <a:rPr lang="en-US" sz="1200" dirty="0"/>
              <a:t> Equine Events &amp; Tent-Pegging Portal: Online registration and live scoring for local tent-pegging, polo, and horse show derbies.</a:t>
            </a:r>
            <a:endParaRPr sz="1200" b="0" i="0" dirty="0">
              <a:solidFill>
                <a:srgbClr val="2C2C2C"/>
              </a:solidFill>
              <a:latin typeface="Calibri"/>
            </a:endParaRPr>
          </a:p>
        </p:txBody>
      </p:sp>
      <p:sp>
        <p:nvSpPr>
          <p:cNvPr id="11" name="TextBox 10"/>
          <p:cNvSpPr txBox="1"/>
          <p:nvPr/>
        </p:nvSpPr>
        <p:spPr>
          <a:xfrm>
            <a:off x="4892040" y="1097280"/>
            <a:ext cx="4114800" cy="320040"/>
          </a:xfrm>
          <a:prstGeom prst="rect">
            <a:avLst/>
          </a:prstGeom>
          <a:noFill/>
        </p:spPr>
        <p:txBody>
          <a:bodyPr wrap="square">
            <a:spAutoFit/>
          </a:bodyPr>
          <a:lstStyle/>
          <a:p>
            <a:r>
              <a:rPr sz="1400" b="1" i="0" dirty="0">
                <a:solidFill>
                  <a:srgbClr val="2E75B6"/>
                </a:solidFill>
                <a:latin typeface="Calibri"/>
              </a:rPr>
              <a:t>References</a:t>
            </a:r>
          </a:p>
        </p:txBody>
      </p:sp>
      <p:cxnSp>
        <p:nvCxnSpPr>
          <p:cNvPr id="12" name="Connector 11"/>
          <p:cNvCxnSpPr/>
          <p:nvPr/>
        </p:nvCxnSpPr>
        <p:spPr>
          <a:xfrm>
            <a:off x="4892040" y="1408176"/>
            <a:ext cx="2377439" cy="0"/>
          </a:xfrm>
          <a:prstGeom prst="line">
            <a:avLst/>
          </a:prstGeom>
          <a:ln w="19050">
            <a:solidFill>
              <a:srgbClr val="2E75B6"/>
            </a:solidFill>
          </a:ln>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4892040" y="1508760"/>
            <a:ext cx="3840480" cy="3387722"/>
          </a:xfrm>
          <a:prstGeom prst="rect">
            <a:avLst/>
          </a:prstGeom>
          <a:noFill/>
        </p:spPr>
        <p:txBody>
          <a:bodyPr wrap="square">
            <a:spAutoFit/>
          </a:bodyPr>
          <a:lstStyle/>
          <a:p>
            <a:pPr marL="228600" lvl="0" indent="-228600">
              <a:lnSpc>
                <a:spcPct val="150000"/>
              </a:lnSpc>
              <a:buFont typeface="+mj-lt"/>
              <a:buAutoNum type="arabicPeriod"/>
            </a:pPr>
            <a:r>
              <a:rPr lang="en-US" sz="1200" b="1" dirty="0"/>
              <a:t>Equine.com.</a:t>
            </a:r>
            <a:r>
              <a:rPr lang="en-US" sz="1200" dirty="0"/>
              <a:t> (2024). Global Equine Trading Marketplace. </a:t>
            </a:r>
            <a:r>
              <a:rPr lang="en-US" sz="1200" dirty="0">
                <a:hlinkClick r:id="rId3"/>
              </a:rPr>
              <a:t>https://www.equine.com/</a:t>
            </a:r>
            <a:endParaRPr lang="en-US" sz="1200" dirty="0"/>
          </a:p>
          <a:p>
            <a:pPr marL="228600" lvl="0" indent="-228600">
              <a:lnSpc>
                <a:spcPct val="150000"/>
              </a:lnSpc>
              <a:buFont typeface="+mj-lt"/>
              <a:buAutoNum type="arabicPeriod"/>
            </a:pPr>
            <a:r>
              <a:rPr lang="en-US" sz="1200" b="1" dirty="0" err="1"/>
              <a:t>PakWheels</a:t>
            </a:r>
            <a:r>
              <a:rPr lang="en-US" sz="1200" b="1" dirty="0"/>
              <a:t>.</a:t>
            </a:r>
            <a:r>
              <a:rPr lang="en-US" sz="1200" dirty="0"/>
              <a:t> (2024). Pakistan High-Volume Classifieds Architecture. </a:t>
            </a:r>
            <a:r>
              <a:rPr lang="en-US" sz="1200" dirty="0">
                <a:hlinkClick r:id="rId4"/>
              </a:rPr>
              <a:t>https://www.pakwheels.com/</a:t>
            </a:r>
            <a:endParaRPr lang="en-US" sz="1200" dirty="0"/>
          </a:p>
          <a:p>
            <a:pPr marL="228600" lvl="0" indent="-228600">
              <a:lnSpc>
                <a:spcPct val="150000"/>
              </a:lnSpc>
              <a:buFont typeface="+mj-lt"/>
              <a:buAutoNum type="arabicPeriod"/>
            </a:pPr>
            <a:r>
              <a:rPr lang="en-US" sz="1200" b="1" dirty="0"/>
              <a:t>Livestock &amp; Dairy Development Dept Punjab.</a:t>
            </a:r>
            <a:r>
              <a:rPr lang="en-US" sz="1200" dirty="0"/>
              <a:t> (2023). Equine Health &amp; Disease Protocols.</a:t>
            </a:r>
          </a:p>
          <a:p>
            <a:pPr marL="228600" lvl="0" indent="-228600">
              <a:lnSpc>
                <a:spcPct val="150000"/>
              </a:lnSpc>
              <a:buFont typeface="+mj-lt"/>
              <a:buAutoNum type="arabicPeriod"/>
            </a:pPr>
            <a:r>
              <a:rPr lang="en-US" sz="1200" b="1" dirty="0"/>
              <a:t>MongoDB Inc.</a:t>
            </a:r>
            <a:r>
              <a:rPr lang="en-US" sz="1200" dirty="0"/>
              <a:t> (2024). High-Concurrency Document Modeling &amp; Indexing.</a:t>
            </a:r>
          </a:p>
          <a:p>
            <a:pPr marL="228600" lvl="0" indent="-228600">
              <a:lnSpc>
                <a:spcPct val="150000"/>
              </a:lnSpc>
              <a:buFont typeface="+mj-lt"/>
              <a:buAutoNum type="arabicPeriod"/>
            </a:pPr>
            <a:r>
              <a:rPr lang="en-US" sz="1200" b="1" dirty="0"/>
              <a:t>Express.js Foundation.</a:t>
            </a:r>
            <a:r>
              <a:rPr lang="en-US" sz="1200" dirty="0"/>
              <a:t> (2024). Scalable REST API Security &amp; Rate-Limiting Standards.</a:t>
            </a:r>
          </a:p>
          <a:p>
            <a:pPr marL="228600" lvl="0" indent="-228600">
              <a:lnSpc>
                <a:spcPct val="150000"/>
              </a:lnSpc>
              <a:buFont typeface="+mj-lt"/>
              <a:buAutoNum type="arabicPeriod"/>
            </a:pPr>
            <a:r>
              <a:rPr lang="en-US" sz="1200" b="1" dirty="0"/>
              <a:t>OpenAI &amp; Google DeepMind.</a:t>
            </a:r>
            <a:r>
              <a:rPr lang="en-US" sz="1200" dirty="0"/>
              <a:t> (2024). Multi-LLM Orchestration &amp; Medical Triage Best Practices.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427</TotalTime>
  <Words>3232</Words>
  <Application>Microsoft Office PowerPoint</Application>
  <PresentationFormat>On-screen Show (4:3)</PresentationFormat>
  <Paragraphs>238</Paragraphs>
  <Slides>20</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20</vt:i4>
      </vt:variant>
    </vt:vector>
  </HeadingPairs>
  <TitlesOfParts>
    <vt:vector size="25" baseType="lpstr">
      <vt:lpstr>Arial</vt:lpstr>
      <vt:lpstr>Calibri</vt:lpstr>
      <vt:lpstr>Calibri Light</vt:lpstr>
      <vt:lpstr>Segoe WPC</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Hashim</dc:creator>
  <cp:keywords/>
  <dc:description>generated using python-pptx</dc:description>
  <cp:lastModifiedBy>Subhan Ali Awan</cp:lastModifiedBy>
  <cp:revision>27</cp:revision>
  <dcterms:created xsi:type="dcterms:W3CDTF">2013-01-27T09:14:16Z</dcterms:created>
  <dcterms:modified xsi:type="dcterms:W3CDTF">2026-09-10T23:25:02Z</dcterms:modified>
  <cp:category/>
</cp:coreProperties>
</file>