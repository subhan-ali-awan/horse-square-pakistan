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68" r:id="rId15"/>
    <p:sldId id="269" r:id="rId16"/>
    <p:sldId id="270" r:id="rId17"/>
    <p:sldId id="273" r:id="rId18"/>
    <p:sldId id="274" r:id="rId19"/>
    <p:sldId id="275" r:id="rId20"/>
    <p:sldId id="276"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106" d="100"/>
          <a:sy n="106" d="100"/>
        </p:scale>
        <p:origin x="180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campus-connect-kappa-liart.vercel.app/login"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mul_logo.png"/>
          <p:cNvPicPr>
            <a:picLocks noChangeAspect="1"/>
          </p:cNvPicPr>
          <p:nvPr/>
        </p:nvPicPr>
        <p:blipFill>
          <a:blip r:embed="rId2"/>
          <a:stretch>
            <a:fillRect/>
          </a:stretch>
        </p:blipFill>
        <p:spPr>
          <a:xfrm>
            <a:off x="3886200" y="228600"/>
            <a:ext cx="1371600" cy="1371600"/>
          </a:xfrm>
          <a:prstGeom prst="rect">
            <a:avLst/>
          </a:prstGeom>
        </p:spPr>
      </p:pic>
      <p:sp>
        <p:nvSpPr>
          <p:cNvPr id="4" name="TextBox 3"/>
          <p:cNvSpPr txBox="1"/>
          <p:nvPr/>
        </p:nvSpPr>
        <p:spPr>
          <a:xfrm>
            <a:off x="640080" y="1828800"/>
            <a:ext cx="7863840" cy="1191736"/>
          </a:xfrm>
          <a:prstGeom prst="rect">
            <a:avLst/>
          </a:prstGeom>
          <a:noFill/>
        </p:spPr>
        <p:txBody>
          <a:bodyPr wrap="square">
            <a:spAutoFit/>
          </a:bodyPr>
          <a:lstStyle/>
          <a:p>
            <a:pPr algn="ctr">
              <a:lnSpc>
                <a:spcPct val="115000"/>
              </a:lnSpc>
            </a:pPr>
            <a:r>
              <a:rPr sz="3200" b="1" i="0" dirty="0">
                <a:solidFill>
                  <a:srgbClr val="1F3864"/>
                </a:solidFill>
                <a:latin typeface="Calibri"/>
              </a:rPr>
              <a:t>CampusConnect: A Unified Platform for Student Forums</a:t>
            </a:r>
            <a:r>
              <a:rPr lang="en-US" sz="3200" b="1" i="0" dirty="0">
                <a:solidFill>
                  <a:srgbClr val="1F3864"/>
                </a:solidFill>
                <a:latin typeface="Calibri"/>
              </a:rPr>
              <a:t> </a:t>
            </a:r>
            <a:r>
              <a:rPr sz="3200" b="1" i="0" dirty="0">
                <a:solidFill>
                  <a:srgbClr val="1F3864"/>
                </a:solidFill>
                <a:latin typeface="Calibri"/>
              </a:rPr>
              <a:t>and Campus Services</a:t>
            </a:r>
          </a:p>
        </p:txBody>
      </p:sp>
      <p:sp>
        <p:nvSpPr>
          <p:cNvPr id="5" name="TextBox 4"/>
          <p:cNvSpPr txBox="1"/>
          <p:nvPr/>
        </p:nvSpPr>
        <p:spPr>
          <a:xfrm>
            <a:off x="640080" y="3247628"/>
            <a:ext cx="7863840" cy="1661993"/>
          </a:xfrm>
          <a:prstGeom prst="rect">
            <a:avLst/>
          </a:prstGeom>
          <a:noFill/>
        </p:spPr>
        <p:txBody>
          <a:bodyPr wrap="square">
            <a:spAutoFit/>
          </a:bodyPr>
          <a:lstStyle/>
          <a:p>
            <a:pPr algn="ctr"/>
            <a:r>
              <a:rPr sz="1400" b="0" i="0" dirty="0">
                <a:solidFill>
                  <a:srgbClr val="2C2C2C"/>
                </a:solidFill>
                <a:latin typeface="Calibri"/>
              </a:rPr>
              <a:t>Presented By:</a:t>
            </a:r>
          </a:p>
          <a:p>
            <a:pPr algn="ctr">
              <a:spcBef>
                <a:spcPts val="600"/>
              </a:spcBef>
            </a:pPr>
            <a:r>
              <a:rPr sz="1400" b="1" i="0" dirty="0">
                <a:solidFill>
                  <a:srgbClr val="2C2C2C"/>
                </a:solidFill>
                <a:latin typeface="Calibri"/>
              </a:rPr>
              <a:t>SHUJAAT ALI HASHIM          SAGHEER AHMAD</a:t>
            </a:r>
            <a:endParaRPr lang="en-US" sz="1400" b="1" dirty="0">
              <a:solidFill>
                <a:srgbClr val="2C2C2C"/>
              </a:solidFill>
              <a:latin typeface="Calibri"/>
            </a:endParaRPr>
          </a:p>
          <a:p>
            <a:pPr algn="ctr">
              <a:spcBef>
                <a:spcPts val="600"/>
              </a:spcBef>
            </a:pPr>
            <a:r>
              <a:rPr lang="en-US" sz="1300" b="0" i="0" dirty="0">
                <a:solidFill>
                  <a:srgbClr val="2C2C2C"/>
                </a:solidFill>
                <a:latin typeface="Calibri"/>
              </a:rPr>
              <a:t>2022f-mulbscs-093                  2022f-mulbscs-104</a:t>
            </a:r>
          </a:p>
          <a:p>
            <a:pPr algn="ctr">
              <a:spcBef>
                <a:spcPts val="1000"/>
              </a:spcBef>
            </a:pPr>
            <a:r>
              <a:rPr sz="1400" b="0" i="0" dirty="0">
                <a:solidFill>
                  <a:srgbClr val="2C2C2C"/>
                </a:solidFill>
                <a:latin typeface="Calibri"/>
              </a:rPr>
              <a:t>Supervised By:</a:t>
            </a:r>
          </a:p>
          <a:p>
            <a:pPr algn="ctr">
              <a:spcBef>
                <a:spcPts val="200"/>
              </a:spcBef>
            </a:pPr>
            <a:r>
              <a:rPr sz="1400" b="1" i="0" dirty="0">
                <a:solidFill>
                  <a:srgbClr val="2C2C2C"/>
                </a:solidFill>
                <a:latin typeface="Calibri"/>
              </a:rPr>
              <a:t>Muhammad Mohsin Saeed</a:t>
            </a:r>
          </a:p>
          <a:p>
            <a:pPr algn="ctr"/>
            <a:r>
              <a:rPr sz="1300" b="0" i="0" dirty="0">
                <a:solidFill>
                  <a:srgbClr val="2C2C2C"/>
                </a:solidFill>
                <a:latin typeface="Calibri"/>
              </a:rPr>
              <a:t>Lecturer, School of Computer Science</a:t>
            </a:r>
          </a:p>
        </p:txBody>
      </p:sp>
      <p:sp>
        <p:nvSpPr>
          <p:cNvPr id="6" name="Rectangle 5"/>
          <p:cNvSpPr/>
          <p:nvPr/>
        </p:nvSpPr>
        <p:spPr>
          <a:xfrm>
            <a:off x="0" y="5303520"/>
            <a:ext cx="9144000" cy="1554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5303521"/>
            <a:ext cx="182880" cy="1554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5669280"/>
            <a:ext cx="8229600" cy="1463040"/>
          </a:xfrm>
          <a:prstGeom prst="rect">
            <a:avLst/>
          </a:prstGeom>
          <a:noFill/>
        </p:spPr>
        <p:txBody>
          <a:bodyPr wrap="square">
            <a:spAutoFit/>
          </a:bodyPr>
          <a:lstStyle/>
          <a:p>
            <a:pPr algn="ctr"/>
            <a:r>
              <a:rPr sz="1800" b="1" i="0" dirty="0">
                <a:solidFill>
                  <a:srgbClr val="FFFFFF"/>
                </a:solidFill>
                <a:latin typeface="Calibri"/>
              </a:rPr>
              <a:t>School of Computer Science</a:t>
            </a:r>
          </a:p>
          <a:p>
            <a:pPr algn="ctr">
              <a:spcBef>
                <a:spcPts val="400"/>
              </a:spcBef>
            </a:pPr>
            <a:r>
              <a:rPr sz="1800" b="1" i="0" dirty="0">
                <a:solidFill>
                  <a:srgbClr val="FFFFFF"/>
                </a:solidFill>
                <a:latin typeface="Calibri"/>
              </a:rPr>
              <a:t>MINHAJ UNIVERSITY LAHORE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Table of Contents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1371600"/>
            <a:ext cx="6400800" cy="4095032"/>
          </a:xfrm>
          <a:prstGeom prst="rect">
            <a:avLst/>
          </a:prstGeom>
          <a:noFill/>
        </p:spPr>
        <p:txBody>
          <a:bodyPr wrap="square">
            <a:spAutoFit/>
          </a:bodyPr>
          <a:lstStyle/>
          <a:p>
            <a:pPr>
              <a:lnSpc>
                <a:spcPct val="150000"/>
              </a:lnSpc>
              <a:spcAft>
                <a:spcPts val="400"/>
              </a:spcAft>
            </a:pPr>
            <a:r>
              <a:rPr sz="2000" b="0" i="0" dirty="0">
                <a:solidFill>
                  <a:srgbClr val="2C2C2C"/>
                </a:solidFill>
                <a:latin typeface="Calibri"/>
              </a:rPr>
              <a:t>1. Introduction &amp; Background</a:t>
            </a:r>
          </a:p>
          <a:p>
            <a:pPr>
              <a:lnSpc>
                <a:spcPct val="150000"/>
              </a:lnSpc>
              <a:spcAft>
                <a:spcPts val="400"/>
              </a:spcAft>
            </a:pPr>
            <a:r>
              <a:rPr sz="2000" b="0" i="0" dirty="0">
                <a:solidFill>
                  <a:srgbClr val="2C2C2C"/>
                </a:solidFill>
                <a:latin typeface="Calibri"/>
              </a:rPr>
              <a:t>2. Problem Statement</a:t>
            </a:r>
          </a:p>
          <a:p>
            <a:pPr>
              <a:lnSpc>
                <a:spcPct val="150000"/>
              </a:lnSpc>
              <a:spcAft>
                <a:spcPts val="400"/>
              </a:spcAft>
            </a:pPr>
            <a:r>
              <a:rPr sz="2000" b="0" i="0" dirty="0">
                <a:solidFill>
                  <a:srgbClr val="2C2C2C"/>
                </a:solidFill>
                <a:latin typeface="Calibri"/>
              </a:rPr>
              <a:t>3. Literature Review &amp; Gap Analysis</a:t>
            </a:r>
          </a:p>
          <a:p>
            <a:pPr>
              <a:lnSpc>
                <a:spcPct val="150000"/>
              </a:lnSpc>
              <a:spcAft>
                <a:spcPts val="400"/>
              </a:spcAft>
            </a:pPr>
            <a:r>
              <a:rPr sz="2000" b="0" i="0" dirty="0">
                <a:solidFill>
                  <a:srgbClr val="2C2C2C"/>
                </a:solidFill>
                <a:latin typeface="Calibri"/>
              </a:rPr>
              <a:t>4. System Requirements &amp; Objectives</a:t>
            </a:r>
          </a:p>
          <a:p>
            <a:pPr>
              <a:lnSpc>
                <a:spcPct val="150000"/>
              </a:lnSpc>
              <a:spcAft>
                <a:spcPts val="400"/>
              </a:spcAft>
            </a:pPr>
            <a:r>
              <a:rPr sz="2000" b="0" i="0" dirty="0">
                <a:solidFill>
                  <a:srgbClr val="2C2C2C"/>
                </a:solidFill>
                <a:latin typeface="Calibri"/>
              </a:rPr>
              <a:t>5. System Architecture &amp; Design</a:t>
            </a:r>
          </a:p>
          <a:p>
            <a:pPr>
              <a:lnSpc>
                <a:spcPct val="150000"/>
              </a:lnSpc>
              <a:spcAft>
                <a:spcPts val="400"/>
              </a:spcAft>
            </a:pPr>
            <a:r>
              <a:rPr sz="2000" b="0" i="0" dirty="0">
                <a:solidFill>
                  <a:srgbClr val="2C2C2C"/>
                </a:solidFill>
                <a:latin typeface="Calibri"/>
              </a:rPr>
              <a:t>6. Implementation &amp; Tech Stack</a:t>
            </a:r>
          </a:p>
          <a:p>
            <a:pPr>
              <a:lnSpc>
                <a:spcPct val="150000"/>
              </a:lnSpc>
              <a:spcAft>
                <a:spcPts val="400"/>
              </a:spcAft>
            </a:pPr>
            <a:r>
              <a:rPr sz="2000" b="0" i="0" dirty="0">
                <a:solidFill>
                  <a:srgbClr val="2C2C2C"/>
                </a:solidFill>
                <a:latin typeface="Calibri"/>
              </a:rPr>
              <a:t>7. Testing &amp; Results</a:t>
            </a:r>
          </a:p>
          <a:p>
            <a:pPr>
              <a:lnSpc>
                <a:spcPct val="150000"/>
              </a:lnSpc>
              <a:spcAft>
                <a:spcPts val="400"/>
              </a:spcAft>
            </a:pPr>
            <a:r>
              <a:rPr sz="2000" b="0" i="0" dirty="0">
                <a:solidFill>
                  <a:srgbClr val="2C2C2C"/>
                </a:solidFill>
                <a:latin typeface="Calibri"/>
              </a:rPr>
              <a:t>8. Demo, Conclusion &amp;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Introduction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457200" y="1876877"/>
            <a:ext cx="7904375" cy="2013885"/>
          </a:xfrm>
          <a:prstGeom prst="rect">
            <a:avLst/>
          </a:prstGeom>
          <a:noFill/>
        </p:spPr>
        <p:txBody>
          <a:bodyPr wrap="square">
            <a:spAutoFit/>
          </a:bodyPr>
          <a:lstStyle/>
          <a:p>
            <a:pPr algn="just">
              <a:lnSpc>
                <a:spcPct val="150000"/>
              </a:lnSpc>
              <a:spcAft>
                <a:spcPts val="700"/>
              </a:spcAft>
            </a:pPr>
            <a:r>
              <a:rPr lang="en-US" sz="1700" dirty="0">
                <a:solidFill>
                  <a:srgbClr val="2C2C2C"/>
                </a:solidFill>
              </a:rPr>
              <a:t>CampusConnect is a dedicated web platform built exclusively for Minhaj University  requiring an official registration number and campus email to sign in. This ensures a verified, safe community. The platform brings many campus services selected via student surveys into one unified web application, built on the MERN stack (MongoDB, Express, React, Node.js). The application is expected to sit beside the existing CMS.</a:t>
            </a:r>
            <a:endParaRPr lang="en-US" sz="1700" i="0" dirty="0">
              <a:solidFill>
                <a:srgbClr val="2C2C2C"/>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Problem Statement</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02920" y="1773936"/>
            <a:ext cx="8138160" cy="3080074"/>
          </a:xfrm>
          <a:prstGeom prst="rect">
            <a:avLst/>
          </a:prstGeom>
          <a:noFill/>
        </p:spPr>
        <p:txBody>
          <a:bodyPr wrap="square">
            <a:spAutoFit/>
          </a:bodyPr>
          <a:lstStyle/>
          <a:p>
            <a:pPr algn="just">
              <a:lnSpc>
                <a:spcPct val="150000"/>
              </a:lnSpc>
              <a:spcAft>
                <a:spcPts val="700"/>
              </a:spcAft>
            </a:pPr>
            <a:r>
              <a:rPr lang="en-PK" sz="1600" dirty="0"/>
              <a:t>Minhaj University Lahore's current CMS only handles academic administration and completely lacks student-to-student community features.</a:t>
            </a:r>
            <a:r>
              <a:rPr lang="en-US" sz="1600" dirty="0"/>
              <a:t> This causes</a:t>
            </a:r>
            <a:r>
              <a:rPr lang="en-PK" sz="1600" dirty="0"/>
              <a:t>, students </a:t>
            </a:r>
            <a:r>
              <a:rPr lang="en-US" sz="1600" dirty="0"/>
              <a:t>to </a:t>
            </a:r>
            <a:r>
              <a:rPr lang="en-PK" sz="1600" dirty="0"/>
              <a:t>rely on unverified, unmoderated social</a:t>
            </a:r>
            <a:r>
              <a:rPr lang="en-US" sz="1600" dirty="0"/>
              <a:t> media</a:t>
            </a:r>
            <a:r>
              <a:rPr lang="en-PK" sz="1600" dirty="0"/>
              <a:t> channels</a:t>
            </a:r>
            <a:r>
              <a:rPr lang="en-US" sz="1600" dirty="0"/>
              <a:t> (Instagram and Facebook community pages)</a:t>
            </a:r>
            <a:r>
              <a:rPr lang="en-PK" sz="1600" dirty="0"/>
              <a:t>, which</a:t>
            </a:r>
            <a:r>
              <a:rPr lang="en-US" sz="1600" dirty="0"/>
              <a:t> put them at risk of being exposed</a:t>
            </a:r>
            <a:r>
              <a:rPr lang="en-PK" sz="1600" dirty="0"/>
              <a:t> to inappropriate content and</a:t>
            </a:r>
            <a:r>
              <a:rPr lang="en-US" sz="1600" dirty="0"/>
              <a:t> may</a:t>
            </a:r>
            <a:r>
              <a:rPr lang="en-PK" sz="1600" dirty="0"/>
              <a:t> prevent meaningful alumni networking. This absence of a centralized, secure platform also leaves students struggling with disorganized daily campus services</a:t>
            </a:r>
            <a:r>
              <a:rPr lang="en-US" sz="1600" dirty="0"/>
              <a:t> </a:t>
            </a:r>
            <a:r>
              <a:rPr lang="en-PK" sz="1600" dirty="0"/>
              <a:t>such as petitions and lost-and-found</a:t>
            </a:r>
            <a:r>
              <a:rPr lang="en-US" sz="1600" dirty="0"/>
              <a:t>, </a:t>
            </a:r>
            <a:r>
              <a:rPr lang="en-PK" sz="1600" dirty="0"/>
              <a:t>as well as limited, expensive food options.</a:t>
            </a:r>
            <a:endParaRPr lang="en-US" sz="1700" dirty="0">
              <a:solidFill>
                <a:srgbClr val="2C2C2C"/>
              </a:solidFill>
            </a:endParaRPr>
          </a:p>
          <a:p>
            <a:pPr>
              <a:lnSpc>
                <a:spcPct val="130000"/>
              </a:lnSpc>
              <a:spcAft>
                <a:spcPts val="700"/>
              </a:spcAft>
            </a:pPr>
            <a:endParaRPr sz="1700" b="0" i="0" dirty="0">
              <a:solidFill>
                <a:srgbClr val="2C2C2C"/>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Literature Review</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8046720" cy="457200"/>
          </a:xfrm>
          <a:prstGeom prst="rect">
            <a:avLst/>
          </a:prstGeom>
          <a:noFill/>
        </p:spPr>
        <p:txBody>
          <a:bodyPr wrap="square">
            <a:spAutoFit/>
          </a:bodyPr>
          <a:lstStyle/>
          <a:p>
            <a:r>
              <a:rPr sz="1500" b="0" i="1">
                <a:solidFill>
                  <a:srgbClr val="2C2C2C"/>
                </a:solidFill>
                <a:latin typeface="Calibri"/>
              </a:rPr>
              <a:t>CampusConnect draws inspiration from existing platforms while addressing gaps none of them individually solved.</a:t>
            </a:r>
          </a:p>
        </p:txBody>
      </p:sp>
      <p:sp>
        <p:nvSpPr>
          <p:cNvPr id="9" name="TextBox 8"/>
          <p:cNvSpPr txBox="1"/>
          <p:nvPr/>
        </p:nvSpPr>
        <p:spPr>
          <a:xfrm>
            <a:off x="548640" y="1645920"/>
            <a:ext cx="8138160" cy="4266553"/>
          </a:xfrm>
          <a:prstGeom prst="rect">
            <a:avLst/>
          </a:prstGeom>
          <a:noFill/>
        </p:spPr>
        <p:txBody>
          <a:bodyPr wrap="square">
            <a:spAutoFit/>
          </a:bodyPr>
          <a:lstStyle/>
          <a:p>
            <a:pPr>
              <a:lnSpc>
                <a:spcPct val="130000"/>
              </a:lnSpc>
              <a:spcAft>
                <a:spcPts val="700"/>
              </a:spcAft>
            </a:pPr>
            <a:r>
              <a:rPr sz="1600" b="1" i="0" dirty="0">
                <a:solidFill>
                  <a:srgbClr val="2C2C2C"/>
                </a:solidFill>
                <a:latin typeface="Calibri"/>
              </a:rPr>
              <a:t>Reddit </a:t>
            </a:r>
            <a:r>
              <a:rPr lang="en-US" sz="1600" b="1" dirty="0">
                <a:solidFill>
                  <a:srgbClr val="2C2C2C"/>
                </a:solidFill>
                <a:latin typeface="Calibri"/>
              </a:rPr>
              <a:t>&amp;</a:t>
            </a:r>
            <a:r>
              <a:rPr sz="1600" b="1" i="0" dirty="0">
                <a:solidFill>
                  <a:srgbClr val="2C2C2C"/>
                </a:solidFill>
                <a:latin typeface="Calibri"/>
              </a:rPr>
              <a:t> Stack Overflow: </a:t>
            </a:r>
            <a:r>
              <a:rPr sz="1600" b="0" i="0" dirty="0">
                <a:solidFill>
                  <a:srgbClr val="2C2C2C"/>
                </a:solidFill>
                <a:latin typeface="Calibri"/>
              </a:rPr>
              <a:t>Inspired</a:t>
            </a:r>
            <a:r>
              <a:rPr lang="en-US" sz="1600" b="0" i="0" dirty="0">
                <a:solidFill>
                  <a:srgbClr val="2C2C2C"/>
                </a:solidFill>
                <a:latin typeface="Calibri"/>
              </a:rPr>
              <a:t> the main idea of “Minhaj being a community” and</a:t>
            </a:r>
            <a:r>
              <a:rPr sz="1600" b="0" i="0" dirty="0">
                <a:solidFill>
                  <a:srgbClr val="2C2C2C"/>
                </a:solidFill>
                <a:latin typeface="Calibri"/>
              </a:rPr>
              <a:t> the threaded discussion structure  CampusConnect uses the same nested reply format adapted for a campus context.</a:t>
            </a:r>
          </a:p>
          <a:p>
            <a:pPr>
              <a:lnSpc>
                <a:spcPct val="130000"/>
              </a:lnSpc>
              <a:spcAft>
                <a:spcPts val="700"/>
              </a:spcAft>
            </a:pPr>
            <a:r>
              <a:rPr sz="1600" b="1" i="0" dirty="0">
                <a:solidFill>
                  <a:srgbClr val="2C2C2C"/>
                </a:solidFill>
                <a:latin typeface="Calibri"/>
              </a:rPr>
              <a:t>Foodpanda: </a:t>
            </a:r>
            <a:r>
              <a:rPr sz="1600" b="0" i="0" dirty="0">
                <a:solidFill>
                  <a:srgbClr val="2C2C2C"/>
                </a:solidFill>
                <a:latin typeface="Calibri"/>
              </a:rPr>
              <a:t>The food ordering workflow (menu browsing → cart → order tracking) was redesigned and adapted for a single campus delivery point.</a:t>
            </a:r>
          </a:p>
          <a:p>
            <a:pPr>
              <a:lnSpc>
                <a:spcPct val="130000"/>
              </a:lnSpc>
              <a:spcAft>
                <a:spcPts val="700"/>
              </a:spcAft>
            </a:pPr>
            <a:r>
              <a:rPr sz="1600" b="1" i="0" dirty="0">
                <a:solidFill>
                  <a:srgbClr val="2C2C2C"/>
                </a:solidFill>
                <a:latin typeface="Calibri"/>
              </a:rPr>
              <a:t>InDrive: </a:t>
            </a:r>
            <a:r>
              <a:rPr sz="1600" b="0" i="0" dirty="0">
                <a:solidFill>
                  <a:srgbClr val="2C2C2C"/>
                </a:solidFill>
                <a:latin typeface="Calibri"/>
              </a:rPr>
              <a:t>The rider's shared open ticket pool model was inspired by InDrive's ride-ticket system, adapted for campus food delivery.</a:t>
            </a:r>
            <a:endParaRPr lang="en-US" sz="1600" b="0" i="0" dirty="0">
              <a:solidFill>
                <a:srgbClr val="2C2C2C"/>
              </a:solidFill>
              <a:latin typeface="Calibri"/>
            </a:endParaRPr>
          </a:p>
          <a:p>
            <a:pPr>
              <a:lnSpc>
                <a:spcPct val="130000"/>
              </a:lnSpc>
              <a:spcAft>
                <a:spcPts val="700"/>
              </a:spcAft>
            </a:pPr>
            <a:r>
              <a:rPr lang="en-US" sz="1600" b="1" dirty="0">
                <a:solidFill>
                  <a:srgbClr val="2C2C2C"/>
                </a:solidFill>
              </a:rPr>
              <a:t>COMSATS Plus: </a:t>
            </a:r>
            <a:r>
              <a:rPr lang="en-US" sz="1600" dirty="0">
                <a:solidFill>
                  <a:srgbClr val="2C2C2C"/>
                </a:solidFill>
              </a:rPr>
              <a:t>The concept of bundling multiple university services into one platform was directly inspired by this existing campus super-app.</a:t>
            </a:r>
          </a:p>
          <a:p>
            <a:pPr>
              <a:lnSpc>
                <a:spcPct val="130000"/>
              </a:lnSpc>
              <a:spcAft>
                <a:spcPts val="700"/>
              </a:spcAft>
            </a:pPr>
            <a:r>
              <a:rPr sz="1600" b="1" i="0" dirty="0">
                <a:solidFill>
                  <a:srgbClr val="2C2C2C"/>
                </a:solidFill>
                <a:latin typeface="Calibri"/>
              </a:rPr>
              <a:t>Key Research Finding: </a:t>
            </a:r>
            <a:r>
              <a:rPr sz="1600" b="0" i="0" dirty="0">
                <a:solidFill>
                  <a:srgbClr val="2C2C2C"/>
                </a:solidFill>
                <a:latin typeface="Calibri"/>
              </a:rPr>
              <a:t>No existing platform</a:t>
            </a:r>
            <a:r>
              <a:rPr lang="en-US" sz="1600" b="0" i="0" dirty="0">
                <a:solidFill>
                  <a:srgbClr val="2C2C2C"/>
                </a:solidFill>
                <a:latin typeface="Calibri"/>
              </a:rPr>
              <a:t> and </a:t>
            </a:r>
            <a:r>
              <a:rPr lang="en-US" sz="1600" dirty="0">
                <a:solidFill>
                  <a:srgbClr val="2C2C2C"/>
                </a:solidFill>
                <a:latin typeface="Calibri"/>
              </a:rPr>
              <a:t>LMS/CMS portals implemented or offered by other Universities; </a:t>
            </a:r>
            <a:r>
              <a:rPr sz="1600" b="0" i="0" dirty="0">
                <a:solidFill>
                  <a:srgbClr val="2C2C2C"/>
                </a:solidFill>
                <a:latin typeface="Calibri"/>
              </a:rPr>
              <a:t>combines verified identity, AI content moderation, peer discussion, food ordering, and career networking into one campus-specific 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Gap Analysis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875463770"/>
              </p:ext>
            </p:extLst>
          </p:nvPr>
        </p:nvGraphicFramePr>
        <p:xfrm>
          <a:off x="-1" y="1216058"/>
          <a:ext cx="9144001" cy="4769669"/>
        </p:xfrm>
        <a:graphic>
          <a:graphicData uri="http://schemas.openxmlformats.org/drawingml/2006/table">
            <a:tbl>
              <a:tblPr firstRow="1" bandRow="1">
                <a:tableStyleId>{5C22544A-7EE6-4342-B048-85BDC9FD1C3A}</a:tableStyleId>
              </a:tblPr>
              <a:tblGrid>
                <a:gridCol w="3032684">
                  <a:extLst>
                    <a:ext uri="{9D8B030D-6E8A-4147-A177-3AD203B41FA5}">
                      <a16:colId xmlns:a16="http://schemas.microsoft.com/office/drawing/2014/main" val="20000"/>
                    </a:ext>
                  </a:extLst>
                </a:gridCol>
                <a:gridCol w="1378493">
                  <a:extLst>
                    <a:ext uri="{9D8B030D-6E8A-4147-A177-3AD203B41FA5}">
                      <a16:colId xmlns:a16="http://schemas.microsoft.com/office/drawing/2014/main" val="20001"/>
                    </a:ext>
                  </a:extLst>
                </a:gridCol>
                <a:gridCol w="1424442">
                  <a:extLst>
                    <a:ext uri="{9D8B030D-6E8A-4147-A177-3AD203B41FA5}">
                      <a16:colId xmlns:a16="http://schemas.microsoft.com/office/drawing/2014/main" val="20002"/>
                    </a:ext>
                  </a:extLst>
                </a:gridCol>
                <a:gridCol w="1194694">
                  <a:extLst>
                    <a:ext uri="{9D8B030D-6E8A-4147-A177-3AD203B41FA5}">
                      <a16:colId xmlns:a16="http://schemas.microsoft.com/office/drawing/2014/main" val="20003"/>
                    </a:ext>
                  </a:extLst>
                </a:gridCol>
                <a:gridCol w="2113688">
                  <a:extLst>
                    <a:ext uri="{9D8B030D-6E8A-4147-A177-3AD203B41FA5}">
                      <a16:colId xmlns:a16="http://schemas.microsoft.com/office/drawing/2014/main" val="20004"/>
                    </a:ext>
                  </a:extLst>
                </a:gridCol>
              </a:tblGrid>
              <a:tr h="658933">
                <a:tc>
                  <a:txBody>
                    <a:bodyPr/>
                    <a:lstStyle/>
                    <a:p>
                      <a:r>
                        <a:rPr sz="1200" b="1" i="0" dirty="0">
                          <a:solidFill>
                            <a:srgbClr val="FFFFFF"/>
                          </a:solidFill>
                          <a:latin typeface="Calibri"/>
                        </a:rPr>
                        <a:t>Feature</a:t>
                      </a:r>
                    </a:p>
                  </a:txBody>
                  <a:tcPr marT="25400" marB="25400" anchor="ctr">
                    <a:solidFill>
                      <a:srgbClr val="2E75B6"/>
                    </a:solidFill>
                  </a:tcPr>
                </a:tc>
                <a:tc>
                  <a:txBody>
                    <a:bodyPr/>
                    <a:lstStyle/>
                    <a:p>
                      <a:pPr algn="ctr"/>
                      <a:r>
                        <a:rPr sz="1200" b="1" i="0">
                          <a:solidFill>
                            <a:srgbClr val="FFFFFF"/>
                          </a:solidFill>
                          <a:latin typeface="Calibri"/>
                        </a:rPr>
                        <a:t>Univ. Portal</a:t>
                      </a:r>
                    </a:p>
                  </a:txBody>
                  <a:tcPr marT="25400" marB="25400" anchor="ctr">
                    <a:solidFill>
                      <a:srgbClr val="2E75B6"/>
                    </a:solidFill>
                  </a:tcPr>
                </a:tc>
                <a:tc>
                  <a:txBody>
                    <a:bodyPr/>
                    <a:lstStyle/>
                    <a:p>
                      <a:pPr algn="ctr"/>
                      <a:r>
                        <a:rPr sz="1200" b="1" i="0" dirty="0">
                          <a:solidFill>
                            <a:srgbClr val="FFFFFF"/>
                          </a:solidFill>
                          <a:latin typeface="Calibri"/>
                        </a:rPr>
                        <a:t>Social Groups</a:t>
                      </a:r>
                    </a:p>
                  </a:txBody>
                  <a:tcPr marT="25400" marB="25400" anchor="ctr">
                    <a:solidFill>
                      <a:srgbClr val="2E75B6"/>
                    </a:solidFill>
                  </a:tcPr>
                </a:tc>
                <a:tc>
                  <a:txBody>
                    <a:bodyPr/>
                    <a:lstStyle/>
                    <a:p>
                      <a:pPr algn="ctr"/>
                      <a:r>
                        <a:rPr sz="1200" b="1" i="0">
                          <a:solidFill>
                            <a:srgbClr val="FFFFFF"/>
                          </a:solidFill>
                          <a:latin typeface="Calibri"/>
                        </a:rPr>
                        <a:t>Food Apps</a:t>
                      </a:r>
                    </a:p>
                  </a:txBody>
                  <a:tcPr marT="25400" marB="25400" anchor="ctr">
                    <a:solidFill>
                      <a:srgbClr val="2E75B6"/>
                    </a:solidFill>
                  </a:tcPr>
                </a:tc>
                <a:tc>
                  <a:txBody>
                    <a:bodyPr/>
                    <a:lstStyle/>
                    <a:p>
                      <a:pPr algn="ctr"/>
                      <a:r>
                        <a:rPr sz="1200" b="1" i="0" dirty="0">
                          <a:solidFill>
                            <a:srgbClr val="FFFFFF"/>
                          </a:solidFill>
                          <a:latin typeface="Calibri"/>
                        </a:rPr>
                        <a:t>CampusConnect</a:t>
                      </a:r>
                    </a:p>
                  </a:txBody>
                  <a:tcPr marT="25400" marB="25400" anchor="ctr">
                    <a:solidFill>
                      <a:srgbClr val="2E75B6"/>
                    </a:solidFill>
                  </a:tcPr>
                </a:tc>
                <a:extLst>
                  <a:ext uri="{0D108BD9-81ED-4DB2-BD59-A6C34878D82A}">
                    <a16:rowId xmlns:a16="http://schemas.microsoft.com/office/drawing/2014/main" val="10000"/>
                  </a:ext>
                </a:extLst>
              </a:tr>
              <a:tr h="475488">
                <a:tc>
                  <a:txBody>
                    <a:bodyPr/>
                    <a:lstStyle/>
                    <a:p>
                      <a:r>
                        <a:rPr sz="1200" b="0" i="0">
                          <a:solidFill>
                            <a:srgbClr val="2C2C2C"/>
                          </a:solidFill>
                          <a:latin typeface="Calibri"/>
                        </a:rPr>
                        <a:t>Verified campus members only</a:t>
                      </a:r>
                    </a:p>
                  </a:txBody>
                  <a:tcPr marT="25400" marB="25400" anchor="ctr">
                    <a:solidFill>
                      <a:srgbClr val="FFFFFF"/>
                    </a:solidFill>
                  </a:tcPr>
                </a:tc>
                <a:tc>
                  <a:txBody>
                    <a:bodyPr/>
                    <a:lstStyle/>
                    <a:p>
                      <a:pPr algn="ctr"/>
                      <a:r>
                        <a:rPr sz="1200" b="0" i="0" dirty="0">
                          <a:solidFill>
                            <a:srgbClr val="2C2C2C"/>
                          </a:solidFill>
                          <a:latin typeface="Calibri"/>
                        </a:rPr>
                        <a:t>Yes</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dirty="0">
                          <a:solidFill>
                            <a:srgbClr val="2C2C2C"/>
                          </a:solidFill>
                          <a:latin typeface="Calibri"/>
                        </a:rPr>
                        <a:t>Yes</a:t>
                      </a:r>
                    </a:p>
                  </a:txBody>
                  <a:tcPr marT="25400" marB="25400" anchor="ctr">
                    <a:solidFill>
                      <a:srgbClr val="FFFFFF"/>
                    </a:solidFill>
                  </a:tcPr>
                </a:tc>
                <a:extLst>
                  <a:ext uri="{0D108BD9-81ED-4DB2-BD59-A6C34878D82A}">
                    <a16:rowId xmlns:a16="http://schemas.microsoft.com/office/drawing/2014/main" val="10001"/>
                  </a:ext>
                </a:extLst>
              </a:tr>
              <a:tr h="475488">
                <a:tc>
                  <a:txBody>
                    <a:bodyPr/>
                    <a:lstStyle/>
                    <a:p>
                      <a:r>
                        <a:rPr sz="1200" b="0" i="0" dirty="0">
                          <a:solidFill>
                            <a:srgbClr val="2C2C2C"/>
                          </a:solidFill>
                          <a:latin typeface="Calibri"/>
                        </a:rPr>
                        <a:t>Peer-to-peer discussion</a:t>
                      </a:r>
                    </a:p>
                  </a:txBody>
                  <a:tcPr marT="25400" marB="25400" anchor="ctr">
                    <a:solidFill>
                      <a:srgbClr val="EBF3FB"/>
                    </a:solidFill>
                  </a:tcPr>
                </a:tc>
                <a:tc>
                  <a:txBody>
                    <a:bodyPr/>
                    <a:lstStyle/>
                    <a:p>
                      <a:pPr algn="ctr"/>
                      <a:r>
                        <a:rPr sz="1200" b="0" i="0" dirty="0">
                          <a:solidFill>
                            <a:srgbClr val="2C2C2C"/>
                          </a:solidFill>
                          <a:latin typeface="Calibri"/>
                        </a:rPr>
                        <a:t>No</a:t>
                      </a:r>
                    </a:p>
                  </a:txBody>
                  <a:tcPr marT="25400" marB="25400" anchor="ctr">
                    <a:solidFill>
                      <a:srgbClr val="EBF3FB"/>
                    </a:solidFill>
                  </a:tcPr>
                </a:tc>
                <a:tc>
                  <a:txBody>
                    <a:bodyPr/>
                    <a:lstStyle/>
                    <a:p>
                      <a:pPr algn="ctr"/>
                      <a:r>
                        <a:rPr sz="1200" b="0" i="0" dirty="0">
                          <a:solidFill>
                            <a:srgbClr val="2C2C2C"/>
                          </a:solidFill>
                          <a:latin typeface="Calibri"/>
                        </a:rPr>
                        <a:t>Partial</a:t>
                      </a:r>
                    </a:p>
                  </a:txBody>
                  <a:tcPr marT="25400" marB="25400" anchor="ctr">
                    <a:solidFill>
                      <a:srgbClr val="EBF3FB"/>
                    </a:solidFill>
                  </a:tcPr>
                </a:tc>
                <a:tc>
                  <a:txBody>
                    <a:bodyPr/>
                    <a:lstStyle/>
                    <a:p>
                      <a:pPr algn="ctr"/>
                      <a:r>
                        <a:rPr sz="1200" b="0" i="0" dirty="0">
                          <a:solidFill>
                            <a:srgbClr val="2C2C2C"/>
                          </a:solidFill>
                          <a:latin typeface="Calibri"/>
                        </a:rPr>
                        <a:t>No</a:t>
                      </a:r>
                      <a:r>
                        <a:rPr lang="en-US" sz="1200" b="0" i="0" dirty="0">
                          <a:solidFill>
                            <a:srgbClr val="2C2C2C"/>
                          </a:solidFill>
                          <a:latin typeface="Calibri"/>
                        </a:rPr>
                        <a:t> but there are reviews or previous customers</a:t>
                      </a:r>
                      <a:endParaRPr sz="1200" b="0" i="0" dirty="0">
                        <a:solidFill>
                          <a:srgbClr val="2C2C2C"/>
                        </a:solidFill>
                        <a:latin typeface="Calibri"/>
                      </a:endParaRPr>
                    </a:p>
                  </a:txBody>
                  <a:tcPr marT="25400" marB="25400" anchor="ctr">
                    <a:solidFill>
                      <a:srgbClr val="EBF3FB"/>
                    </a:solidFill>
                  </a:tcPr>
                </a:tc>
                <a:tc>
                  <a:txBody>
                    <a:bodyPr/>
                    <a:lstStyle/>
                    <a:p>
                      <a:pPr algn="ctr"/>
                      <a:r>
                        <a:rPr sz="1200" b="0" i="0" dirty="0">
                          <a:solidFill>
                            <a:srgbClr val="2C2C2C"/>
                          </a:solidFill>
                          <a:latin typeface="Calibri"/>
                        </a:rPr>
                        <a:t>Yes</a:t>
                      </a:r>
                    </a:p>
                  </a:txBody>
                  <a:tcPr marT="25400" marB="25400" anchor="ctr">
                    <a:solidFill>
                      <a:srgbClr val="EBF3FB"/>
                    </a:solidFill>
                  </a:tcPr>
                </a:tc>
                <a:extLst>
                  <a:ext uri="{0D108BD9-81ED-4DB2-BD59-A6C34878D82A}">
                    <a16:rowId xmlns:a16="http://schemas.microsoft.com/office/drawing/2014/main" val="10002"/>
                  </a:ext>
                </a:extLst>
              </a:tr>
              <a:tr h="475488">
                <a:tc>
                  <a:txBody>
                    <a:bodyPr/>
                    <a:lstStyle/>
                    <a:p>
                      <a:r>
                        <a:rPr sz="1200" b="0" i="0">
                          <a:solidFill>
                            <a:srgbClr val="2C2C2C"/>
                          </a:solidFill>
                          <a:latin typeface="Calibri"/>
                        </a:rPr>
                        <a:t>AI content moderation</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dirty="0">
                          <a:solidFill>
                            <a:srgbClr val="2C2C2C"/>
                          </a:solidFill>
                          <a:latin typeface="Calibri"/>
                        </a:rPr>
                        <a:t> No</a:t>
                      </a:r>
                      <a:r>
                        <a:rPr lang="en-US" sz="1200" b="0" i="0" dirty="0">
                          <a:solidFill>
                            <a:srgbClr val="2C2C2C"/>
                          </a:solidFill>
                          <a:latin typeface="Calibri"/>
                        </a:rPr>
                        <a:t>, sometimes human moderation</a:t>
                      </a:r>
                      <a:endParaRPr sz="1200" b="0" i="0" dirty="0">
                        <a:solidFill>
                          <a:srgbClr val="2C2C2C"/>
                        </a:solidFill>
                        <a:latin typeface="Calibri"/>
                      </a:endParaRPr>
                    </a:p>
                  </a:txBody>
                  <a:tcPr marT="25400" marB="25400" anchor="ctr">
                    <a:solidFill>
                      <a:srgbClr val="FFFFFF"/>
                    </a:solidFill>
                  </a:tcPr>
                </a:tc>
                <a:tc>
                  <a:txBody>
                    <a:bodyPr/>
                    <a:lstStyle/>
                    <a:p>
                      <a:pPr algn="ctr"/>
                      <a:r>
                        <a:rPr sz="1200" b="0" i="0" dirty="0">
                          <a:solidFill>
                            <a:srgbClr val="2C2C2C"/>
                          </a:solidFill>
                          <a:latin typeface="Calibri"/>
                        </a:rPr>
                        <a:t>No</a:t>
                      </a:r>
                    </a:p>
                  </a:txBody>
                  <a:tcPr marT="25400" marB="25400" anchor="ctr">
                    <a:solidFill>
                      <a:srgbClr val="FFFFFF"/>
                    </a:solidFill>
                  </a:tcPr>
                </a:tc>
                <a:tc>
                  <a:txBody>
                    <a:bodyPr/>
                    <a:lstStyle/>
                    <a:p>
                      <a:pPr algn="ctr"/>
                      <a:r>
                        <a:rPr sz="1200" b="0" i="0" dirty="0">
                          <a:solidFill>
                            <a:srgbClr val="2C2C2C"/>
                          </a:solidFill>
                          <a:latin typeface="Calibri"/>
                        </a:rPr>
                        <a:t>Yes</a:t>
                      </a:r>
                    </a:p>
                  </a:txBody>
                  <a:tcPr marT="25400" marB="25400" anchor="ctr">
                    <a:solidFill>
                      <a:srgbClr val="FFFFFF"/>
                    </a:solidFill>
                  </a:tcPr>
                </a:tc>
                <a:extLst>
                  <a:ext uri="{0D108BD9-81ED-4DB2-BD59-A6C34878D82A}">
                    <a16:rowId xmlns:a16="http://schemas.microsoft.com/office/drawing/2014/main" val="10003"/>
                  </a:ext>
                </a:extLst>
              </a:tr>
              <a:tr h="475488">
                <a:tc>
                  <a:txBody>
                    <a:bodyPr/>
                    <a:lstStyle/>
                    <a:p>
                      <a:r>
                        <a:rPr sz="1200" b="0" i="0">
                          <a:solidFill>
                            <a:srgbClr val="2C2C2C"/>
                          </a:solidFill>
                          <a:latin typeface="Calibri"/>
                        </a:rPr>
                        <a:t>Formal petitions with signatures</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sz="1200" b="0" i="0" dirty="0">
                          <a:solidFill>
                            <a:srgbClr val="2C2C2C"/>
                          </a:solidFill>
                          <a:latin typeface="Calibri"/>
                        </a:rPr>
                        <a:t>No</a:t>
                      </a:r>
                    </a:p>
                  </a:txBody>
                  <a:tcPr marT="25400" marB="25400" anchor="ctr">
                    <a:solidFill>
                      <a:srgbClr val="EBF3FB"/>
                    </a:solidFill>
                  </a:tcPr>
                </a:tc>
                <a:tc>
                  <a:txBody>
                    <a:bodyPr/>
                    <a:lstStyle/>
                    <a:p>
                      <a:pPr algn="ctr"/>
                      <a:r>
                        <a:rPr sz="1200" b="0" i="0" dirty="0">
                          <a:solidFill>
                            <a:srgbClr val="2C2C2C"/>
                          </a:solidFill>
                          <a:latin typeface="Calibri"/>
                        </a:rPr>
                        <a:t>Yes</a:t>
                      </a:r>
                    </a:p>
                  </a:txBody>
                  <a:tcPr marT="25400" marB="25400" anchor="ctr">
                    <a:solidFill>
                      <a:srgbClr val="EBF3FB"/>
                    </a:solidFill>
                  </a:tcPr>
                </a:tc>
                <a:extLst>
                  <a:ext uri="{0D108BD9-81ED-4DB2-BD59-A6C34878D82A}">
                    <a16:rowId xmlns:a16="http://schemas.microsoft.com/office/drawing/2014/main" val="10004"/>
                  </a:ext>
                </a:extLst>
              </a:tr>
              <a:tr h="475488">
                <a:tc>
                  <a:txBody>
                    <a:bodyPr/>
                    <a:lstStyle/>
                    <a:p>
                      <a:r>
                        <a:rPr sz="1200" b="0" i="0">
                          <a:solidFill>
                            <a:srgbClr val="2C2C2C"/>
                          </a:solidFill>
                          <a:latin typeface="Calibri"/>
                        </a:rPr>
                        <a:t>Lost &amp; Found tracking</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dirty="0">
                          <a:solidFill>
                            <a:srgbClr val="2C2C2C"/>
                          </a:solidFill>
                          <a:latin typeface="Calibri"/>
                        </a:rPr>
                        <a:t>No</a:t>
                      </a:r>
                    </a:p>
                  </a:txBody>
                  <a:tcPr marT="25400" marB="25400" anchor="ctr">
                    <a:solidFill>
                      <a:srgbClr val="FFFFFF"/>
                    </a:solidFill>
                  </a:tcPr>
                </a:tc>
                <a:tc>
                  <a:txBody>
                    <a:bodyPr/>
                    <a:lstStyle/>
                    <a:p>
                      <a:pPr algn="ctr"/>
                      <a:r>
                        <a:rPr sz="1200" b="0" i="0" dirty="0">
                          <a:solidFill>
                            <a:srgbClr val="2C2C2C"/>
                          </a:solidFill>
                          <a:latin typeface="Calibri"/>
                        </a:rPr>
                        <a:t>Yes</a:t>
                      </a:r>
                    </a:p>
                  </a:txBody>
                  <a:tcPr marT="25400" marB="25400" anchor="ctr">
                    <a:solidFill>
                      <a:srgbClr val="FFFFFF"/>
                    </a:solidFill>
                  </a:tcPr>
                </a:tc>
                <a:extLst>
                  <a:ext uri="{0D108BD9-81ED-4DB2-BD59-A6C34878D82A}">
                    <a16:rowId xmlns:a16="http://schemas.microsoft.com/office/drawing/2014/main" val="10005"/>
                  </a:ext>
                </a:extLst>
              </a:tr>
              <a:tr h="475488">
                <a:tc>
                  <a:txBody>
                    <a:bodyPr/>
                    <a:lstStyle/>
                    <a:p>
                      <a:r>
                        <a:rPr sz="1200" b="0" i="0">
                          <a:solidFill>
                            <a:srgbClr val="2C2C2C"/>
                          </a:solidFill>
                          <a:latin typeface="Calibri"/>
                        </a:rPr>
                        <a:t>Food ordered to campus gate</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lang="en-US" sz="1200" b="0" i="0" dirty="0">
                          <a:solidFill>
                            <a:srgbClr val="2C2C2C"/>
                          </a:solidFill>
                          <a:latin typeface="Calibri"/>
                        </a:rPr>
                        <a:t>Yes but </a:t>
                      </a:r>
                      <a:r>
                        <a:rPr sz="1200" b="0" i="0" dirty="0">
                          <a:solidFill>
                            <a:srgbClr val="2C2C2C"/>
                          </a:solidFill>
                          <a:latin typeface="Calibri"/>
                        </a:rPr>
                        <a:t>Costly</a:t>
                      </a:r>
                    </a:p>
                  </a:txBody>
                  <a:tcPr marT="25400" marB="25400" anchor="ctr">
                    <a:solidFill>
                      <a:srgbClr val="EBF3FB"/>
                    </a:solidFill>
                  </a:tcPr>
                </a:tc>
                <a:tc>
                  <a:txBody>
                    <a:bodyPr/>
                    <a:lstStyle/>
                    <a:p>
                      <a:pPr algn="ctr"/>
                      <a:r>
                        <a:rPr sz="1200" b="0" i="0" dirty="0">
                          <a:solidFill>
                            <a:srgbClr val="2C2C2C"/>
                          </a:solidFill>
                          <a:latin typeface="Calibri"/>
                        </a:rPr>
                        <a:t> Yes</a:t>
                      </a:r>
                    </a:p>
                  </a:txBody>
                  <a:tcPr marT="25400" marB="25400" anchor="ctr">
                    <a:solidFill>
                      <a:srgbClr val="EBF3FB"/>
                    </a:solidFill>
                  </a:tcPr>
                </a:tc>
                <a:extLst>
                  <a:ext uri="{0D108BD9-81ED-4DB2-BD59-A6C34878D82A}">
                    <a16:rowId xmlns:a16="http://schemas.microsoft.com/office/drawing/2014/main" val="10006"/>
                  </a:ext>
                </a:extLst>
              </a:tr>
              <a:tr h="475488">
                <a:tc>
                  <a:txBody>
                    <a:bodyPr/>
                    <a:lstStyle/>
                    <a:p>
                      <a:r>
                        <a:rPr sz="1200" b="0" i="0">
                          <a:solidFill>
                            <a:srgbClr val="2C2C2C"/>
                          </a:solidFill>
                          <a:latin typeface="Calibri"/>
                        </a:rPr>
                        <a:t>Alumni career networking</a:t>
                      </a:r>
                    </a:p>
                  </a:txBody>
                  <a:tcPr marT="25400" marB="25400" anchor="ctr">
                    <a:solidFill>
                      <a:srgbClr val="FFFFFF"/>
                    </a:solidFill>
                  </a:tcPr>
                </a:tc>
                <a:tc>
                  <a:txBody>
                    <a:bodyPr/>
                    <a:lstStyle/>
                    <a:p>
                      <a:pPr algn="ctr"/>
                      <a:r>
                        <a:rPr sz="1200" b="0" i="0" dirty="0">
                          <a:solidFill>
                            <a:srgbClr val="2C2C2C"/>
                          </a:solidFill>
                          <a:latin typeface="Calibri"/>
                        </a:rPr>
                        <a:t> No</a:t>
                      </a:r>
                    </a:p>
                  </a:txBody>
                  <a:tcPr marT="25400" marB="25400" anchor="ctr">
                    <a:solidFill>
                      <a:srgbClr val="FFFFFF"/>
                    </a:solidFill>
                  </a:tcPr>
                </a:tc>
                <a:tc>
                  <a:txBody>
                    <a:bodyPr/>
                    <a:lstStyle/>
                    <a:p>
                      <a:pPr algn="ctr"/>
                      <a:r>
                        <a:rPr sz="1200" b="0" i="0">
                          <a:solidFill>
                            <a:srgbClr val="2C2C2C"/>
                          </a:solidFill>
                          <a:latin typeface="Calibri"/>
                        </a:rPr>
                        <a:t>Sometimes</a:t>
                      </a:r>
                    </a:p>
                  </a:txBody>
                  <a:tcPr marT="25400" marB="25400" anchor="ctr">
                    <a:solidFill>
                      <a:srgbClr val="FFFFFF"/>
                    </a:solidFill>
                  </a:tcPr>
                </a:tc>
                <a:tc>
                  <a:txBody>
                    <a:bodyPr/>
                    <a:lstStyle/>
                    <a:p>
                      <a:pPr algn="ctr"/>
                      <a:r>
                        <a:rPr sz="1200" b="0" i="0" dirty="0">
                          <a:solidFill>
                            <a:srgbClr val="2C2C2C"/>
                          </a:solidFill>
                          <a:latin typeface="Calibri"/>
                        </a:rPr>
                        <a:t>No</a:t>
                      </a:r>
                    </a:p>
                  </a:txBody>
                  <a:tcPr marT="25400" marB="25400" anchor="ctr">
                    <a:solidFill>
                      <a:srgbClr val="FFFFFF"/>
                    </a:solidFill>
                  </a:tcPr>
                </a:tc>
                <a:tc>
                  <a:txBody>
                    <a:bodyPr/>
                    <a:lstStyle/>
                    <a:p>
                      <a:pPr algn="ctr"/>
                      <a:r>
                        <a:rPr sz="1200" b="0" i="0" dirty="0">
                          <a:solidFill>
                            <a:srgbClr val="2C2C2C"/>
                          </a:solidFill>
                          <a:latin typeface="Calibri"/>
                        </a:rPr>
                        <a:t>Yes</a:t>
                      </a:r>
                    </a:p>
                  </a:txBody>
                  <a:tcPr marT="25400" marB="25400" anchor="ctr">
                    <a:solidFill>
                      <a:srgbClr val="FFFFFF"/>
                    </a:solidFill>
                  </a:tcPr>
                </a:tc>
                <a:extLst>
                  <a:ext uri="{0D108BD9-81ED-4DB2-BD59-A6C34878D82A}">
                    <a16:rowId xmlns:a16="http://schemas.microsoft.com/office/drawing/2014/main" val="10007"/>
                  </a:ext>
                </a:extLst>
              </a:tr>
              <a:tr h="475488">
                <a:tc>
                  <a:txBody>
                    <a:bodyPr/>
                    <a:lstStyle/>
                    <a:p>
                      <a:r>
                        <a:rPr sz="1200" b="0" i="0">
                          <a:solidFill>
                            <a:srgbClr val="2C2C2C"/>
                          </a:solidFill>
                          <a:latin typeface="Calibri"/>
                        </a:rPr>
                        <a:t>Bus routes &amp; campus services</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sz="1200" b="0" i="0" dirty="0">
                          <a:solidFill>
                            <a:srgbClr val="2C2C2C"/>
                          </a:solidFill>
                          <a:latin typeface="Calibri"/>
                        </a:rPr>
                        <a:t> No</a:t>
                      </a:r>
                    </a:p>
                  </a:txBody>
                  <a:tcPr marT="25400" marB="25400" anchor="ctr">
                    <a:solidFill>
                      <a:srgbClr val="EBF3FB"/>
                    </a:solidFill>
                  </a:tcPr>
                </a:tc>
                <a:tc>
                  <a:txBody>
                    <a:bodyPr/>
                    <a:lstStyle/>
                    <a:p>
                      <a:pPr algn="ctr"/>
                      <a:r>
                        <a:rPr sz="1200" b="0" i="0" dirty="0">
                          <a:solidFill>
                            <a:srgbClr val="2C2C2C"/>
                          </a:solidFill>
                          <a:latin typeface="Calibri"/>
                        </a:rPr>
                        <a:t>No</a:t>
                      </a:r>
                    </a:p>
                  </a:txBody>
                  <a:tcPr marT="25400" marB="25400" anchor="ctr">
                    <a:solidFill>
                      <a:srgbClr val="EBF3FB"/>
                    </a:solidFill>
                  </a:tcPr>
                </a:tc>
                <a:tc>
                  <a:txBody>
                    <a:bodyPr/>
                    <a:lstStyle/>
                    <a:p>
                      <a:pPr algn="ctr"/>
                      <a:r>
                        <a:rPr sz="1200" b="0" i="0" dirty="0">
                          <a:solidFill>
                            <a:srgbClr val="2C2C2C"/>
                          </a:solidFill>
                          <a:latin typeface="Calibri"/>
                        </a:rPr>
                        <a:t>Yes</a:t>
                      </a:r>
                    </a:p>
                  </a:txBody>
                  <a:tcPr marT="25400" marB="25400" anchor="ctr">
                    <a:solidFill>
                      <a:srgbClr val="EBF3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32A67B-C991-658C-1888-DBE59609E5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BE9251-B3BE-016B-ED3E-29C1FBF70C31}"/>
              </a:ext>
            </a:extLst>
          </p:cNvPr>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Goals, Objectives &amp; System Modules</a:t>
            </a:r>
          </a:p>
        </p:txBody>
      </p:sp>
      <p:cxnSp>
        <p:nvCxnSpPr>
          <p:cNvPr id="3" name="Connector 2">
            <a:extLst>
              <a:ext uri="{FF2B5EF4-FFF2-40B4-BE49-F238E27FC236}">
                <a16:creationId xmlns:a16="http://schemas.microsoft.com/office/drawing/2014/main" id="{8FD5AE62-B60F-CE95-9F84-576F6DD3A012}"/>
              </a:ext>
            </a:extLst>
          </p:cNvPr>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a:extLst>
              <a:ext uri="{FF2B5EF4-FFF2-40B4-BE49-F238E27FC236}">
                <a16:creationId xmlns:a16="http://schemas.microsoft.com/office/drawing/2014/main" id="{23F01780-B05B-7034-65B2-484ADEE4CB1E}"/>
              </a:ext>
            </a:extLst>
          </p:cNvPr>
          <p:cNvPicPr>
            <a:picLocks noChangeAspect="1"/>
          </p:cNvPicPr>
          <p:nvPr/>
        </p:nvPicPr>
        <p:blipFill>
          <a:blip r:embed="rId2"/>
          <a:stretch>
            <a:fillRect/>
          </a:stretch>
        </p:blipFill>
        <p:spPr>
          <a:xfrm>
            <a:off x="7882127" y="201168"/>
            <a:ext cx="804672" cy="804672"/>
          </a:xfrm>
          <a:prstGeom prst="rect">
            <a:avLst/>
          </a:prstGeom>
        </p:spPr>
      </p:pic>
      <p:sp>
        <p:nvSpPr>
          <p:cNvPr id="6" name="TextBox 5">
            <a:extLst>
              <a:ext uri="{FF2B5EF4-FFF2-40B4-BE49-F238E27FC236}">
                <a16:creationId xmlns:a16="http://schemas.microsoft.com/office/drawing/2014/main" id="{43B13D9F-53CF-EA9F-797D-9E3126976A6F}"/>
              </a:ext>
            </a:extLst>
          </p:cNvPr>
          <p:cNvSpPr txBox="1"/>
          <p:nvPr/>
        </p:nvSpPr>
        <p:spPr>
          <a:xfrm>
            <a:off x="457201" y="1307698"/>
            <a:ext cx="7424926" cy="3788858"/>
          </a:xfrm>
          <a:prstGeom prst="rect">
            <a:avLst/>
          </a:prstGeom>
          <a:noFill/>
        </p:spPr>
        <p:txBody>
          <a:bodyPr wrap="square">
            <a:spAutoFit/>
          </a:bodyPr>
          <a:lstStyle/>
          <a:p>
            <a:pPr algn="just">
              <a:lnSpc>
                <a:spcPct val="150000"/>
              </a:lnSpc>
            </a:pPr>
            <a:r>
              <a:rPr lang="en-PK" dirty="0"/>
              <a:t>The primary goal of CampusConnect is to </a:t>
            </a:r>
            <a:r>
              <a:rPr lang="en-US" dirty="0"/>
              <a:t>exist with </a:t>
            </a:r>
            <a:r>
              <a:rPr lang="en-PK" dirty="0"/>
              <a:t>the university's existing academic CMS </a:t>
            </a:r>
            <a:r>
              <a:rPr lang="en-US" dirty="0"/>
              <a:t>and establish</a:t>
            </a:r>
            <a:r>
              <a:rPr lang="en-PK" dirty="0"/>
              <a:t> a</a:t>
            </a:r>
            <a:r>
              <a:rPr lang="en-US" dirty="0"/>
              <a:t> moderated</a:t>
            </a:r>
            <a:r>
              <a:rPr lang="en-PK" dirty="0"/>
              <a:t>, </a:t>
            </a:r>
            <a:r>
              <a:rPr lang="en-US" dirty="0"/>
              <a:t>virtual </a:t>
            </a:r>
            <a:r>
              <a:rPr lang="en-PK" dirty="0"/>
              <a:t>community exclusively for </a:t>
            </a:r>
            <a:r>
              <a:rPr lang="en-US" dirty="0"/>
              <a:t>Minhaj’s </a:t>
            </a:r>
            <a:r>
              <a:rPr lang="en-PK" dirty="0"/>
              <a:t>students. To achieve this objective, the platform integrates multiple daily campus services into a single hub, allowing users to safely engage in AI-moderated peer discussions, seek career mentorship from alumni, and submit formal petitions to the administration. Furthermore, the system aims to solve everyday logistical challenges by providing dedicated, centralized modules for tracking lost items, viewing shuttle routes, and ordering food from local vendors directly to the campus gates.</a:t>
            </a:r>
          </a:p>
        </p:txBody>
      </p:sp>
    </p:spTree>
    <p:extLst>
      <p:ext uri="{BB962C8B-B14F-4D97-AF65-F5344CB8AC3E}">
        <p14:creationId xmlns:p14="http://schemas.microsoft.com/office/powerpoint/2010/main" val="909351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Goals, Objectives &amp; System Modules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88720"/>
            <a:ext cx="4114800" cy="320040"/>
          </a:xfrm>
          <a:prstGeom prst="rect">
            <a:avLst/>
          </a:prstGeom>
          <a:noFill/>
        </p:spPr>
        <p:txBody>
          <a:bodyPr wrap="square">
            <a:spAutoFit/>
          </a:bodyPr>
          <a:lstStyle/>
          <a:p>
            <a:r>
              <a:rPr sz="1400" b="1" i="0" dirty="0">
                <a:solidFill>
                  <a:srgbClr val="2E75B6"/>
                </a:solidFill>
                <a:latin typeface="Calibri"/>
              </a:rPr>
              <a:t>8 Core Modules</a:t>
            </a:r>
          </a:p>
        </p:txBody>
      </p:sp>
      <p:cxnSp>
        <p:nvCxnSpPr>
          <p:cNvPr id="9" name="Connector 8"/>
          <p:cNvCxnSpPr/>
          <p:nvPr/>
        </p:nvCxnSpPr>
        <p:spPr>
          <a:xfrm>
            <a:off x="548640" y="149961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92040" y="1188720"/>
            <a:ext cx="4114800" cy="320040"/>
          </a:xfrm>
          <a:prstGeom prst="rect">
            <a:avLst/>
          </a:prstGeom>
          <a:noFill/>
        </p:spPr>
        <p:txBody>
          <a:bodyPr wrap="square">
            <a:spAutoFit/>
          </a:bodyPr>
          <a:lstStyle/>
          <a:p>
            <a:r>
              <a:rPr sz="1400" b="1" i="0">
                <a:solidFill>
                  <a:srgbClr val="2E75B6"/>
                </a:solidFill>
                <a:latin typeface="Calibri"/>
              </a:rPr>
              <a:t>8 Supporting Modules</a:t>
            </a:r>
          </a:p>
        </p:txBody>
      </p:sp>
      <p:cxnSp>
        <p:nvCxnSpPr>
          <p:cNvPr id="11" name="Connector 10"/>
          <p:cNvCxnSpPr/>
          <p:nvPr/>
        </p:nvCxnSpPr>
        <p:spPr>
          <a:xfrm>
            <a:off x="4892040" y="149961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1737361"/>
            <a:ext cx="4023360" cy="3020763"/>
          </a:xfrm>
          <a:prstGeom prst="rect">
            <a:avLst/>
          </a:prstGeom>
          <a:noFill/>
        </p:spPr>
        <p:txBody>
          <a:bodyPr wrap="square">
            <a:spAutoFit/>
          </a:bodyPr>
          <a:lstStyle/>
          <a:p>
            <a:pPr>
              <a:lnSpc>
                <a:spcPct val="135000"/>
              </a:lnSpc>
              <a:spcAft>
                <a:spcPts val="700"/>
              </a:spcAft>
            </a:pPr>
            <a:r>
              <a:rPr lang="en-PK" sz="1400" dirty="0">
                <a:solidFill>
                  <a:srgbClr val="2E75B6"/>
                </a:solidFill>
              </a:rPr>
              <a:t>▶ </a:t>
            </a:r>
            <a:r>
              <a:rPr sz="1400" b="0" i="0" dirty="0">
                <a:solidFill>
                  <a:srgbClr val="2C2C2C"/>
                </a:solidFill>
                <a:latin typeface="Calibri"/>
              </a:rPr>
              <a:t>Single Sign-On (University Portal)</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Forum Discussion (threaded, tagged)</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AI Content Moderation (English + Roman Urdu)</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Career Paths (jobs, internships, mentorship)</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Petitions (with signature collection)</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Lost and Found (with status tracking)</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Campus Canteen (food ordering + delivery)</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Bus Routes (stops + schedules)</a:t>
            </a:r>
          </a:p>
        </p:txBody>
      </p:sp>
      <p:sp>
        <p:nvSpPr>
          <p:cNvPr id="13" name="TextBox 12"/>
          <p:cNvSpPr txBox="1"/>
          <p:nvPr/>
        </p:nvSpPr>
        <p:spPr>
          <a:xfrm>
            <a:off x="4892040" y="1737360"/>
            <a:ext cx="4023360" cy="3311612"/>
          </a:xfrm>
          <a:prstGeom prst="rect">
            <a:avLst/>
          </a:prstGeom>
          <a:noFill/>
        </p:spPr>
        <p:txBody>
          <a:bodyPr wrap="square">
            <a:spAutoFit/>
          </a:bodyPr>
          <a:lstStyle/>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Main Dashboard (activity summary)</a:t>
            </a:r>
            <a:endParaRPr lang="en-US" sz="1400" b="0" i="0" dirty="0">
              <a:solidFill>
                <a:srgbClr val="2C2C2C"/>
              </a:solidFill>
              <a:latin typeface="Calibri"/>
            </a:endParaRPr>
          </a:p>
          <a:p>
            <a:pPr>
              <a:lnSpc>
                <a:spcPct val="135000"/>
              </a:lnSpc>
              <a:spcAft>
                <a:spcPts val="700"/>
              </a:spcAft>
            </a:pPr>
            <a:r>
              <a:rPr lang="en-PK" sz="1400" b="0" i="0" dirty="0">
                <a:solidFill>
                  <a:srgbClr val="2E75B6"/>
                </a:solidFill>
                <a:latin typeface="Calibri"/>
              </a:rPr>
              <a:t>▶  </a:t>
            </a:r>
            <a:r>
              <a:rPr lang="en-US" sz="1400" b="0" i="0" dirty="0">
                <a:solidFill>
                  <a:srgbClr val="2C2C2C"/>
                </a:solidFill>
                <a:latin typeface="Calibri"/>
              </a:rPr>
              <a:t>Complaints &amp; Suggestions (anonymous option  - already implemented in </a:t>
            </a:r>
            <a:r>
              <a:rPr lang="en-US" sz="1400" dirty="0">
                <a:solidFill>
                  <a:srgbClr val="2C2C2C"/>
                </a:solidFill>
                <a:latin typeface="Calibri"/>
              </a:rPr>
              <a:t>our CMS</a:t>
            </a:r>
            <a:r>
              <a:rPr lang="en-US" sz="1400" b="0" i="0" dirty="0">
                <a:solidFill>
                  <a:srgbClr val="2C2C2C"/>
                </a:solidFill>
                <a:latin typeface="Calibri"/>
              </a:rPr>
              <a:t>)</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Vendor Management (restaurant dashboards)</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Rider Dashboard (delivery ticket pool)</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Moderation Room (flagged content review)</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Notifications (real-time + browser push)</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Bookmarks (saved posts &amp; career listings)</a:t>
            </a:r>
          </a:p>
          <a:p>
            <a:pPr>
              <a:lnSpc>
                <a:spcPct val="135000"/>
              </a:lnSpc>
              <a:spcAft>
                <a:spcPts val="700"/>
              </a:spcAft>
            </a:pPr>
            <a:r>
              <a:rPr lang="en-PK" sz="1400" b="0" i="0" dirty="0">
                <a:solidFill>
                  <a:srgbClr val="2E75B6"/>
                </a:solidFill>
                <a:latin typeface="Calibri"/>
              </a:rPr>
              <a:t>▶  </a:t>
            </a:r>
            <a:r>
              <a:rPr sz="1400" b="0" i="0" dirty="0">
                <a:solidFill>
                  <a:srgbClr val="2C2C2C"/>
                </a:solidFill>
                <a:latin typeface="Calibri"/>
              </a:rPr>
              <a:t>Campus Administration (user &amp; role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Tools, Techniques &amp; Tech Stack</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4114800" cy="320040"/>
          </a:xfrm>
          <a:prstGeom prst="rect">
            <a:avLst/>
          </a:prstGeom>
          <a:noFill/>
        </p:spPr>
        <p:txBody>
          <a:bodyPr wrap="square">
            <a:spAutoFit/>
          </a:bodyPr>
          <a:lstStyle/>
          <a:p>
            <a:r>
              <a:rPr sz="1400" b="1" i="0">
                <a:solidFill>
                  <a:srgbClr val="2E75B6"/>
                </a:solidFill>
                <a:latin typeface="Calibri"/>
              </a:rPr>
              <a:t>Technology Stack</a:t>
            </a:r>
          </a:p>
        </p:txBody>
      </p:sp>
      <p:cxnSp>
        <p:nvCxnSpPr>
          <p:cNvPr id="9" name="Connector 8"/>
          <p:cNvCxnSpPr/>
          <p:nvPr/>
        </p:nvCxnSpPr>
        <p:spPr>
          <a:xfrm>
            <a:off x="548640" y="14538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1705947"/>
            <a:ext cx="4023360" cy="1990288"/>
          </a:xfrm>
          <a:prstGeom prst="rect">
            <a:avLst/>
          </a:prstGeom>
          <a:noFill/>
        </p:spPr>
        <p:txBody>
          <a:bodyPr wrap="square">
            <a:spAutoFit/>
          </a:bodyPr>
          <a:lstStyle/>
          <a:p>
            <a:pPr>
              <a:spcBef>
                <a:spcPts val="400"/>
              </a:spcBef>
            </a:pPr>
            <a:r>
              <a:rPr sz="1300" b="1" i="0" dirty="0">
                <a:solidFill>
                  <a:srgbClr val="2E75B6"/>
                </a:solidFill>
                <a:latin typeface="Calibri"/>
              </a:rPr>
              <a:t>Frontend:</a:t>
            </a:r>
          </a:p>
          <a:p>
            <a:pPr>
              <a:spcAft>
                <a:spcPts val="200"/>
              </a:spcAft>
            </a:pPr>
            <a:r>
              <a:rPr sz="1200" b="0" i="0" dirty="0">
                <a:solidFill>
                  <a:srgbClr val="2E75B6"/>
                </a:solidFill>
                <a:latin typeface="Calibri"/>
              </a:rPr>
              <a:t>▶ </a:t>
            </a:r>
            <a:r>
              <a:rPr sz="1200" b="0" i="0" dirty="0">
                <a:solidFill>
                  <a:srgbClr val="2C2C2C"/>
                </a:solidFill>
                <a:latin typeface="Calibri"/>
              </a:rPr>
              <a:t>React 19.2 + React Router 7.15</a:t>
            </a:r>
          </a:p>
          <a:p>
            <a:pPr>
              <a:spcAft>
                <a:spcPts val="200"/>
              </a:spcAft>
            </a:pPr>
            <a:r>
              <a:rPr sz="1200" b="0" i="0" dirty="0">
                <a:solidFill>
                  <a:srgbClr val="2E75B6"/>
                </a:solidFill>
                <a:latin typeface="Calibri"/>
              </a:rPr>
              <a:t>▶ </a:t>
            </a:r>
            <a:r>
              <a:rPr sz="1200" b="0" i="0" dirty="0">
                <a:solidFill>
                  <a:srgbClr val="2C2C2C"/>
                </a:solidFill>
                <a:latin typeface="Calibri"/>
              </a:rPr>
              <a:t>Tailwind CSS 3.4 (unified color theme)</a:t>
            </a:r>
          </a:p>
          <a:p>
            <a:pPr>
              <a:spcAft>
                <a:spcPts val="200"/>
              </a:spcAft>
            </a:pPr>
            <a:r>
              <a:rPr sz="1200" b="0" i="0" dirty="0">
                <a:solidFill>
                  <a:srgbClr val="2E75B6"/>
                </a:solidFill>
                <a:latin typeface="Calibri"/>
              </a:rPr>
              <a:t>▶ </a:t>
            </a:r>
            <a:r>
              <a:rPr sz="1200" b="0" i="0" dirty="0">
                <a:solidFill>
                  <a:srgbClr val="2C2C2C"/>
                </a:solidFill>
                <a:latin typeface="Calibri"/>
              </a:rPr>
              <a:t>Socket.io-client 4.8 (real-time updates)</a:t>
            </a:r>
          </a:p>
          <a:p>
            <a:pPr>
              <a:spcAft>
                <a:spcPts val="200"/>
              </a:spcAft>
            </a:pPr>
            <a:r>
              <a:rPr sz="1200" b="0" i="0" dirty="0">
                <a:solidFill>
                  <a:srgbClr val="2E75B6"/>
                </a:solidFill>
                <a:latin typeface="Calibri"/>
              </a:rPr>
              <a:t>▶ </a:t>
            </a:r>
            <a:r>
              <a:rPr sz="1200" b="0" i="0" dirty="0">
                <a:solidFill>
                  <a:srgbClr val="2C2C2C"/>
                </a:solidFill>
                <a:latin typeface="Calibri"/>
              </a:rPr>
              <a:t>Axios 1.16 (API requests with token)</a:t>
            </a:r>
          </a:p>
          <a:p>
            <a:pPr>
              <a:spcBef>
                <a:spcPts val="400"/>
              </a:spcBef>
            </a:pPr>
            <a:r>
              <a:rPr sz="1300" b="1" i="0" dirty="0">
                <a:solidFill>
                  <a:srgbClr val="2E75B6"/>
                </a:solidFill>
                <a:latin typeface="Calibri"/>
              </a:rPr>
              <a:t>Database &amp; Storage:</a:t>
            </a:r>
          </a:p>
          <a:p>
            <a:pPr>
              <a:spcAft>
                <a:spcPts val="200"/>
              </a:spcAft>
            </a:pPr>
            <a:r>
              <a:rPr sz="1200" b="0" i="0" dirty="0">
                <a:solidFill>
                  <a:srgbClr val="2E75B6"/>
                </a:solidFill>
                <a:latin typeface="Calibri"/>
              </a:rPr>
              <a:t>▶ </a:t>
            </a:r>
            <a:r>
              <a:rPr sz="1200" b="0" i="0" dirty="0">
                <a:solidFill>
                  <a:srgbClr val="2C2C2C"/>
                </a:solidFill>
                <a:latin typeface="Calibri"/>
              </a:rPr>
              <a:t>MongoDB Atlas (cloud hosted)</a:t>
            </a:r>
          </a:p>
          <a:p>
            <a:pPr>
              <a:spcAft>
                <a:spcPts val="200"/>
              </a:spcAft>
            </a:pPr>
            <a:r>
              <a:rPr sz="1200" b="0" i="0" dirty="0">
                <a:solidFill>
                  <a:srgbClr val="2E75B6"/>
                </a:solidFill>
                <a:latin typeface="Calibri"/>
              </a:rPr>
              <a:t>▶ </a:t>
            </a:r>
            <a:r>
              <a:rPr sz="1200" b="0" i="0" dirty="0">
                <a:solidFill>
                  <a:srgbClr val="2C2C2C"/>
                </a:solidFill>
                <a:latin typeface="Calibri"/>
              </a:rPr>
              <a:t>Mongoose 9.6 (schema &amp; data modeling)</a:t>
            </a:r>
          </a:p>
          <a:p>
            <a:pPr>
              <a:spcAft>
                <a:spcPts val="200"/>
              </a:spcAft>
            </a:pPr>
            <a:r>
              <a:rPr sz="1200" b="0" i="0" dirty="0">
                <a:solidFill>
                  <a:srgbClr val="2E75B6"/>
                </a:solidFill>
                <a:latin typeface="Calibri"/>
              </a:rPr>
              <a:t>▶ </a:t>
            </a:r>
            <a:r>
              <a:rPr sz="1200" b="0" i="0" dirty="0" err="1">
                <a:solidFill>
                  <a:srgbClr val="2C2C2C"/>
                </a:solidFill>
                <a:latin typeface="Calibri"/>
              </a:rPr>
              <a:t>Cloudinary</a:t>
            </a:r>
            <a:r>
              <a:rPr sz="1200" b="0" i="0" dirty="0">
                <a:solidFill>
                  <a:srgbClr val="2C2C2C"/>
                </a:solidFill>
                <a:latin typeface="Calibri"/>
              </a:rPr>
              <a:t> (image storage, CDN)</a:t>
            </a:r>
          </a:p>
        </p:txBody>
      </p:sp>
      <p:sp>
        <p:nvSpPr>
          <p:cNvPr id="11" name="TextBox 10"/>
          <p:cNvSpPr txBox="1"/>
          <p:nvPr/>
        </p:nvSpPr>
        <p:spPr>
          <a:xfrm>
            <a:off x="4892040" y="1645920"/>
            <a:ext cx="4023360" cy="3503523"/>
          </a:xfrm>
          <a:prstGeom prst="rect">
            <a:avLst/>
          </a:prstGeom>
          <a:noFill/>
        </p:spPr>
        <p:txBody>
          <a:bodyPr wrap="square">
            <a:spAutoFit/>
          </a:bodyPr>
          <a:lstStyle/>
          <a:p>
            <a:pPr>
              <a:spcBef>
                <a:spcPts val="400"/>
              </a:spcBef>
            </a:pPr>
            <a:r>
              <a:rPr sz="1300" b="1" i="0" dirty="0">
                <a:solidFill>
                  <a:srgbClr val="2E75B6"/>
                </a:solidFill>
                <a:latin typeface="Calibri"/>
              </a:rPr>
              <a:t>Backend:</a:t>
            </a:r>
          </a:p>
          <a:p>
            <a:pPr>
              <a:spcAft>
                <a:spcPts val="200"/>
              </a:spcAft>
            </a:pPr>
            <a:r>
              <a:rPr sz="1200" b="0" i="0" dirty="0">
                <a:solidFill>
                  <a:srgbClr val="2E75B6"/>
                </a:solidFill>
                <a:latin typeface="Calibri"/>
              </a:rPr>
              <a:t>▶ </a:t>
            </a:r>
            <a:r>
              <a:rPr sz="1200" b="0" i="0" dirty="0">
                <a:solidFill>
                  <a:srgbClr val="2C2C2C"/>
                </a:solidFill>
                <a:latin typeface="Calibri"/>
              </a:rPr>
              <a:t>Node.js + Express 5.2 (REST API)</a:t>
            </a:r>
          </a:p>
          <a:p>
            <a:pPr>
              <a:spcAft>
                <a:spcPts val="200"/>
              </a:spcAft>
            </a:pPr>
            <a:r>
              <a:rPr sz="1200" b="0" i="0" dirty="0">
                <a:solidFill>
                  <a:srgbClr val="2E75B6"/>
                </a:solidFill>
                <a:latin typeface="Calibri"/>
              </a:rPr>
              <a:t>▶ </a:t>
            </a:r>
            <a:r>
              <a:rPr sz="1200" b="0" i="0" dirty="0">
                <a:solidFill>
                  <a:srgbClr val="2C2C2C"/>
                </a:solidFill>
                <a:latin typeface="Calibri"/>
              </a:rPr>
              <a:t>Socket.io 4.8 (WebSocket, real-time events)</a:t>
            </a:r>
          </a:p>
          <a:p>
            <a:pPr>
              <a:spcAft>
                <a:spcPts val="200"/>
              </a:spcAft>
            </a:pPr>
            <a:r>
              <a:rPr sz="1200" b="0" i="0" dirty="0">
                <a:solidFill>
                  <a:srgbClr val="2E75B6"/>
                </a:solidFill>
                <a:latin typeface="Calibri"/>
              </a:rPr>
              <a:t>▶ </a:t>
            </a:r>
            <a:r>
              <a:rPr sz="1200" b="0" i="0" dirty="0">
                <a:solidFill>
                  <a:srgbClr val="2C2C2C"/>
                </a:solidFill>
                <a:latin typeface="Calibri"/>
              </a:rPr>
              <a:t>JWT (JSON Web Tokens)  authentication</a:t>
            </a:r>
          </a:p>
          <a:p>
            <a:pPr>
              <a:spcAft>
                <a:spcPts val="200"/>
              </a:spcAft>
            </a:pPr>
            <a:r>
              <a:rPr sz="1200" b="0" i="0" dirty="0">
                <a:solidFill>
                  <a:srgbClr val="2E75B6"/>
                </a:solidFill>
                <a:latin typeface="Calibri"/>
              </a:rPr>
              <a:t>▶ </a:t>
            </a:r>
            <a:r>
              <a:rPr sz="1200" b="0" i="0" dirty="0" err="1">
                <a:solidFill>
                  <a:srgbClr val="2C2C2C"/>
                </a:solidFill>
                <a:latin typeface="Calibri"/>
              </a:rPr>
              <a:t>Bcryptjs</a:t>
            </a:r>
            <a:r>
              <a:rPr sz="1200" b="0" i="0" dirty="0">
                <a:solidFill>
                  <a:srgbClr val="2C2C2C"/>
                </a:solidFill>
                <a:latin typeface="Calibri"/>
              </a:rPr>
              <a:t>  password hashing with salt</a:t>
            </a:r>
          </a:p>
          <a:p>
            <a:pPr>
              <a:spcAft>
                <a:spcPts val="200"/>
              </a:spcAft>
            </a:pPr>
            <a:r>
              <a:rPr sz="1200" b="0" i="0" dirty="0">
                <a:solidFill>
                  <a:srgbClr val="2E75B6"/>
                </a:solidFill>
                <a:latin typeface="Calibri"/>
              </a:rPr>
              <a:t>▶ </a:t>
            </a:r>
            <a:r>
              <a:rPr sz="1200" b="0" i="0" dirty="0">
                <a:solidFill>
                  <a:srgbClr val="2C2C2C"/>
                </a:solidFill>
                <a:latin typeface="Calibri"/>
              </a:rPr>
              <a:t>Helmet + CORS (security headers)</a:t>
            </a:r>
          </a:p>
          <a:p>
            <a:pPr>
              <a:spcAft>
                <a:spcPts val="200"/>
              </a:spcAft>
            </a:pPr>
            <a:r>
              <a:rPr sz="1200" b="0" i="0" dirty="0">
                <a:solidFill>
                  <a:srgbClr val="2E75B6"/>
                </a:solidFill>
                <a:latin typeface="Calibri"/>
              </a:rPr>
              <a:t>▶ </a:t>
            </a:r>
            <a:r>
              <a:rPr sz="1200" b="0" i="0" dirty="0" err="1">
                <a:solidFill>
                  <a:srgbClr val="2C2C2C"/>
                </a:solidFill>
                <a:latin typeface="Calibri"/>
              </a:rPr>
              <a:t>Groq</a:t>
            </a:r>
            <a:r>
              <a:rPr sz="1200" b="0" i="0" dirty="0">
                <a:solidFill>
                  <a:srgbClr val="2C2C2C"/>
                </a:solidFill>
                <a:latin typeface="Calibri"/>
              </a:rPr>
              <a:t> SDK + Google Gemini  AI moderation</a:t>
            </a:r>
          </a:p>
          <a:p>
            <a:pPr>
              <a:spcAft>
                <a:spcPts val="200"/>
              </a:spcAft>
            </a:pPr>
            <a:r>
              <a:rPr sz="1200" b="0" i="0" dirty="0">
                <a:solidFill>
                  <a:srgbClr val="2E75B6"/>
                </a:solidFill>
                <a:latin typeface="Calibri"/>
              </a:rPr>
              <a:t>▶ </a:t>
            </a:r>
            <a:r>
              <a:rPr sz="1200" b="0" i="0" dirty="0">
                <a:solidFill>
                  <a:srgbClr val="2C2C2C"/>
                </a:solidFill>
                <a:latin typeface="Calibri"/>
              </a:rPr>
              <a:t>Web-Push VAPID  browser notifications</a:t>
            </a:r>
          </a:p>
          <a:p>
            <a:pPr>
              <a:spcBef>
                <a:spcPts val="400"/>
              </a:spcBef>
            </a:pPr>
            <a:r>
              <a:rPr sz="1300" b="1" i="0" dirty="0">
                <a:solidFill>
                  <a:srgbClr val="2E75B6"/>
                </a:solidFill>
                <a:latin typeface="Calibri"/>
              </a:rPr>
              <a:t>Development Tools:</a:t>
            </a:r>
          </a:p>
          <a:p>
            <a:pPr>
              <a:spcAft>
                <a:spcPts val="200"/>
              </a:spcAft>
            </a:pPr>
            <a:r>
              <a:rPr sz="1200" b="0" i="0" dirty="0">
                <a:solidFill>
                  <a:srgbClr val="2E75B6"/>
                </a:solidFill>
                <a:latin typeface="Calibri"/>
              </a:rPr>
              <a:t>▶ </a:t>
            </a:r>
            <a:r>
              <a:rPr sz="1200" b="0" i="0" dirty="0">
                <a:solidFill>
                  <a:srgbClr val="2C2C2C"/>
                </a:solidFill>
                <a:latin typeface="Calibri"/>
              </a:rPr>
              <a:t>VS Code, Git &amp; GitHub, Postman</a:t>
            </a:r>
          </a:p>
          <a:p>
            <a:pPr>
              <a:spcAft>
                <a:spcPts val="200"/>
              </a:spcAft>
            </a:pPr>
            <a:r>
              <a:rPr sz="1200" b="0" i="0" dirty="0">
                <a:solidFill>
                  <a:srgbClr val="2E75B6"/>
                </a:solidFill>
                <a:latin typeface="Calibri"/>
              </a:rPr>
              <a:t>▶ </a:t>
            </a:r>
            <a:r>
              <a:rPr sz="1200" b="0" i="0" dirty="0">
                <a:solidFill>
                  <a:srgbClr val="2C2C2C"/>
                </a:solidFill>
                <a:latin typeface="Calibri"/>
              </a:rPr>
              <a:t>MongoDB Compass, Chrome </a:t>
            </a:r>
            <a:r>
              <a:rPr sz="1200" b="0" i="0" dirty="0" err="1">
                <a:solidFill>
                  <a:srgbClr val="2C2C2C"/>
                </a:solidFill>
                <a:latin typeface="Calibri"/>
              </a:rPr>
              <a:t>DevTools</a:t>
            </a:r>
            <a:endParaRPr sz="1200" b="0" i="0" dirty="0">
              <a:solidFill>
                <a:srgbClr val="2C2C2C"/>
              </a:solidFill>
              <a:latin typeface="Calibri"/>
            </a:endParaRPr>
          </a:p>
          <a:p>
            <a:pPr>
              <a:spcAft>
                <a:spcPts val="200"/>
              </a:spcAft>
            </a:pPr>
            <a:r>
              <a:rPr sz="1200" b="0" i="0" dirty="0">
                <a:solidFill>
                  <a:srgbClr val="2E75B6"/>
                </a:solidFill>
                <a:latin typeface="Calibri"/>
              </a:rPr>
              <a:t>▶ </a:t>
            </a:r>
            <a:r>
              <a:rPr sz="1200" b="0" i="0" dirty="0">
                <a:solidFill>
                  <a:srgbClr val="2C2C2C"/>
                </a:solidFill>
                <a:latin typeface="Calibri"/>
              </a:rPr>
              <a:t>Draw.io (UML diagrams)</a:t>
            </a:r>
          </a:p>
          <a:p>
            <a:pPr>
              <a:spcBef>
                <a:spcPts val="400"/>
              </a:spcBef>
            </a:pPr>
            <a:r>
              <a:rPr sz="1300" b="1" i="0" dirty="0">
                <a:solidFill>
                  <a:srgbClr val="2E75B6"/>
                </a:solidFill>
                <a:latin typeface="Calibri"/>
              </a:rPr>
              <a:t>Deployment:</a:t>
            </a:r>
          </a:p>
          <a:p>
            <a:pPr>
              <a:spcAft>
                <a:spcPts val="200"/>
              </a:spcAft>
            </a:pPr>
            <a:r>
              <a:rPr sz="1200" b="0" i="0" dirty="0">
                <a:solidFill>
                  <a:srgbClr val="2E75B6"/>
                </a:solidFill>
                <a:latin typeface="Calibri"/>
              </a:rPr>
              <a:t>▶ </a:t>
            </a:r>
            <a:r>
              <a:rPr sz="1200" b="0" i="0" dirty="0">
                <a:solidFill>
                  <a:srgbClr val="2C2C2C"/>
                </a:solidFill>
                <a:latin typeface="Calibri"/>
              </a:rPr>
              <a:t>Client: </a:t>
            </a:r>
            <a:r>
              <a:rPr sz="1200" b="0" i="0" dirty="0" err="1">
                <a:solidFill>
                  <a:srgbClr val="2C2C2C"/>
                </a:solidFill>
                <a:latin typeface="Calibri"/>
              </a:rPr>
              <a:t>Vercel</a:t>
            </a:r>
            <a:r>
              <a:rPr sz="1200" b="0" i="0" dirty="0">
                <a:solidFill>
                  <a:srgbClr val="2C2C2C"/>
                </a:solidFill>
                <a:latin typeface="Calibri"/>
              </a:rPr>
              <a:t> (static React build)</a:t>
            </a:r>
          </a:p>
          <a:p>
            <a:pPr>
              <a:spcAft>
                <a:spcPts val="200"/>
              </a:spcAft>
            </a:pPr>
            <a:r>
              <a:rPr sz="1200" b="0" i="0" dirty="0">
                <a:solidFill>
                  <a:srgbClr val="2E75B6"/>
                </a:solidFill>
                <a:latin typeface="Calibri"/>
              </a:rPr>
              <a:t>▶ </a:t>
            </a:r>
            <a:r>
              <a:rPr sz="1200" b="0" i="0" dirty="0">
                <a:solidFill>
                  <a:srgbClr val="2C2C2C"/>
                </a:solidFill>
                <a:latin typeface="Calibri"/>
              </a:rPr>
              <a:t>Server: Render (Node.js + Socket.io)</a:t>
            </a:r>
          </a:p>
          <a:p>
            <a:pPr>
              <a:spcAft>
                <a:spcPts val="200"/>
              </a:spcAft>
            </a:pPr>
            <a:r>
              <a:rPr sz="1200" b="0" i="0" dirty="0">
                <a:solidFill>
                  <a:srgbClr val="2E75B6"/>
                </a:solidFill>
                <a:latin typeface="Calibri"/>
              </a:rPr>
              <a:t>▶ </a:t>
            </a:r>
            <a:r>
              <a:rPr sz="1200" b="0" i="0" dirty="0">
                <a:solidFill>
                  <a:srgbClr val="2C2C2C"/>
                </a:solidFill>
                <a:latin typeface="Calibri"/>
              </a:rPr>
              <a:t>Database: MongoDB Atlas cluster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System Architecture</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Rounded Rectangle 7"/>
          <p:cNvSpPr/>
          <p:nvPr/>
        </p:nvSpPr>
        <p:spPr>
          <a:xfrm>
            <a:off x="2377440" y="1188720"/>
            <a:ext cx="43891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a:solidFill>
                  <a:srgbClr val="FFFFFF"/>
                </a:solidFill>
                <a:latin typeface="Calibri"/>
              </a:rPr>
              <a:t>Browser / React Client  (</a:t>
            </a:r>
            <a:r>
              <a:rPr lang="en-US" sz="1100" b="1" i="0" dirty="0">
                <a:solidFill>
                  <a:srgbClr val="FFFFFF"/>
                </a:solidFill>
                <a:latin typeface="Calibri"/>
              </a:rPr>
              <a:t>Single page application | </a:t>
            </a:r>
            <a:r>
              <a:rPr sz="1100" b="1" i="0" dirty="0">
                <a:solidFill>
                  <a:srgbClr val="FFFFFF"/>
                </a:solidFill>
                <a:latin typeface="Calibri"/>
              </a:rPr>
              <a:t>role-aware pages)</a:t>
            </a:r>
          </a:p>
        </p:txBody>
      </p:sp>
      <p:cxnSp>
        <p:nvCxnSpPr>
          <p:cNvPr id="9" name="Connector 8"/>
          <p:cNvCxnSpPr/>
          <p:nvPr/>
        </p:nvCxnSpPr>
        <p:spPr>
          <a:xfrm>
            <a:off x="4572000" y="1691640"/>
            <a:ext cx="0" cy="411480"/>
          </a:xfrm>
          <a:prstGeom prst="line">
            <a:avLst/>
          </a:prstGeom>
          <a:ln w="190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754880" y="1783080"/>
            <a:ext cx="4023360" cy="274320"/>
          </a:xfrm>
          <a:prstGeom prst="rect">
            <a:avLst/>
          </a:prstGeom>
          <a:noFill/>
        </p:spPr>
        <p:txBody>
          <a:bodyPr wrap="square">
            <a:spAutoFit/>
          </a:bodyPr>
          <a:lstStyle/>
          <a:p>
            <a:r>
              <a:rPr sz="1000" b="0" i="1">
                <a:solidFill>
                  <a:srgbClr val="595959"/>
                </a:solidFill>
                <a:latin typeface="Calibri"/>
              </a:rPr>
              <a:t>REST API (HTTPS)  +  WebSocket (Socket.io)</a:t>
            </a:r>
          </a:p>
        </p:txBody>
      </p:sp>
      <p:sp>
        <p:nvSpPr>
          <p:cNvPr id="11" name="Rounded Rectangle 10"/>
          <p:cNvSpPr/>
          <p:nvPr/>
        </p:nvSpPr>
        <p:spPr>
          <a:xfrm>
            <a:off x="2377440" y="2103120"/>
            <a:ext cx="43891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latin typeface="Calibri"/>
              </a:rPr>
              <a:t>Node.js + Express Server  (Render)</a:t>
            </a:r>
          </a:p>
        </p:txBody>
      </p:sp>
      <p:cxnSp>
        <p:nvCxnSpPr>
          <p:cNvPr id="12" name="Connector 11"/>
          <p:cNvCxnSpPr/>
          <p:nvPr/>
        </p:nvCxnSpPr>
        <p:spPr>
          <a:xfrm>
            <a:off x="4572000" y="2606040"/>
            <a:ext cx="0" cy="365760"/>
          </a:xfrm>
          <a:prstGeom prst="line">
            <a:avLst/>
          </a:prstGeom>
          <a:ln w="190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54880" y="2651760"/>
            <a:ext cx="2286000" cy="274320"/>
          </a:xfrm>
          <a:prstGeom prst="rect">
            <a:avLst/>
          </a:prstGeom>
          <a:noFill/>
        </p:spPr>
        <p:txBody>
          <a:bodyPr wrap="square">
            <a:spAutoFit/>
          </a:bodyPr>
          <a:lstStyle/>
          <a:p>
            <a:r>
              <a:rPr sz="1000" b="0" i="1">
                <a:solidFill>
                  <a:srgbClr val="595959"/>
                </a:solidFill>
                <a:latin typeface="Calibri"/>
              </a:rPr>
              <a:t>Mongoose ODM</a:t>
            </a:r>
          </a:p>
        </p:txBody>
      </p:sp>
      <p:sp>
        <p:nvSpPr>
          <p:cNvPr id="14" name="Rounded Rectangle 13"/>
          <p:cNvSpPr/>
          <p:nvPr/>
        </p:nvSpPr>
        <p:spPr>
          <a:xfrm>
            <a:off x="502920" y="3566160"/>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a:solidFill>
                  <a:srgbClr val="1F3864"/>
                </a:solidFill>
                <a:latin typeface="Calibri"/>
              </a:rPr>
              <a:t>MongoDB Atlas</a:t>
            </a:r>
          </a:p>
        </p:txBody>
      </p:sp>
      <p:sp>
        <p:nvSpPr>
          <p:cNvPr id="15" name="Rounded Rectangle 14"/>
          <p:cNvSpPr/>
          <p:nvPr/>
        </p:nvSpPr>
        <p:spPr>
          <a:xfrm>
            <a:off x="2514600" y="3565217"/>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1F3864"/>
                </a:solidFill>
                <a:latin typeface="Calibri"/>
              </a:rPr>
              <a:t>Cloudinary</a:t>
            </a:r>
          </a:p>
        </p:txBody>
      </p:sp>
      <p:sp>
        <p:nvSpPr>
          <p:cNvPr id="16" name="Rounded Rectangle 15"/>
          <p:cNvSpPr/>
          <p:nvPr/>
        </p:nvSpPr>
        <p:spPr>
          <a:xfrm>
            <a:off x="4526280" y="3557015"/>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err="1">
                <a:solidFill>
                  <a:srgbClr val="1F3864"/>
                </a:solidFill>
                <a:latin typeface="Calibri"/>
              </a:rPr>
              <a:t>Groq</a:t>
            </a:r>
            <a:r>
              <a:rPr sz="1100" b="1" i="0" dirty="0">
                <a:solidFill>
                  <a:srgbClr val="1F3864"/>
                </a:solidFill>
                <a:latin typeface="Calibri"/>
              </a:rPr>
              <a:t> + Gemini AI</a:t>
            </a:r>
          </a:p>
        </p:txBody>
      </p:sp>
      <p:sp>
        <p:nvSpPr>
          <p:cNvPr id="17" name="Rounded Rectangle 16"/>
          <p:cNvSpPr/>
          <p:nvPr/>
        </p:nvSpPr>
        <p:spPr>
          <a:xfrm>
            <a:off x="6446520" y="3557015"/>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a:solidFill>
                  <a:srgbClr val="1F3864"/>
                </a:solidFill>
                <a:latin typeface="Calibri"/>
              </a:rPr>
              <a:t>Web Push VAPID</a:t>
            </a:r>
          </a:p>
        </p:txBody>
      </p:sp>
      <p:cxnSp>
        <p:nvCxnSpPr>
          <p:cNvPr id="18" name="Connector 17"/>
          <p:cNvCxnSpPr>
            <a:cxnSpLocks/>
            <a:endCxn id="14" idx="0"/>
          </p:cNvCxnSpPr>
          <p:nvPr/>
        </p:nvCxnSpPr>
        <p:spPr>
          <a:xfrm flipH="1">
            <a:off x="1371600" y="2971800"/>
            <a:ext cx="3200400" cy="594360"/>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a:endCxn id="15" idx="0"/>
          </p:cNvCxnSpPr>
          <p:nvPr/>
        </p:nvCxnSpPr>
        <p:spPr>
          <a:xfrm flipH="1">
            <a:off x="3383280" y="2971800"/>
            <a:ext cx="1188720" cy="593417"/>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a:cxnSpLocks/>
            <a:endCxn id="16" idx="0"/>
          </p:cNvCxnSpPr>
          <p:nvPr/>
        </p:nvCxnSpPr>
        <p:spPr>
          <a:xfrm>
            <a:off x="4572000" y="2971800"/>
            <a:ext cx="822960" cy="585215"/>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a:cxnSpLocks/>
            <a:endCxn id="17" idx="0"/>
          </p:cNvCxnSpPr>
          <p:nvPr/>
        </p:nvCxnSpPr>
        <p:spPr>
          <a:xfrm>
            <a:off x="4572000" y="2971800"/>
            <a:ext cx="2743200" cy="585215"/>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389120"/>
            <a:ext cx="8138160" cy="1929695"/>
          </a:xfrm>
          <a:prstGeom prst="rect">
            <a:avLst/>
          </a:prstGeom>
          <a:noFill/>
        </p:spPr>
        <p:txBody>
          <a:bodyPr wrap="square">
            <a:spAutoFit/>
          </a:bodyPr>
          <a:lstStyle/>
          <a:p>
            <a:pPr>
              <a:lnSpc>
                <a:spcPct val="130000"/>
              </a:lnSpc>
              <a:spcAft>
                <a:spcPts val="700"/>
              </a:spcAft>
            </a:pPr>
            <a:r>
              <a:rPr sz="1400" b="0" i="0" dirty="0">
                <a:solidFill>
                  <a:srgbClr val="2E75B6"/>
                </a:solidFill>
                <a:latin typeface="Calibri"/>
              </a:rPr>
              <a:t>▶  </a:t>
            </a:r>
            <a:r>
              <a:rPr sz="1400" b="1" i="0" dirty="0">
                <a:solidFill>
                  <a:srgbClr val="2C2C2C"/>
                </a:solidFill>
                <a:latin typeface="Calibri"/>
              </a:rPr>
              <a:t>Client Layer: </a:t>
            </a:r>
            <a:r>
              <a:rPr sz="1400" b="0" i="0" dirty="0">
                <a:solidFill>
                  <a:srgbClr val="2C2C2C"/>
                </a:solidFill>
                <a:latin typeface="Calibri"/>
              </a:rPr>
              <a:t>React SPA  all pages are role-aware; sidebar only shows links permitted for the signed-in user's role.</a:t>
            </a:r>
          </a:p>
          <a:p>
            <a:pPr>
              <a:lnSpc>
                <a:spcPct val="130000"/>
              </a:lnSpc>
              <a:spcAft>
                <a:spcPts val="700"/>
              </a:spcAft>
            </a:pPr>
            <a:r>
              <a:rPr sz="1400" b="0" i="0" dirty="0">
                <a:solidFill>
                  <a:srgbClr val="2E75B6"/>
                </a:solidFill>
                <a:latin typeface="Calibri"/>
              </a:rPr>
              <a:t>▶  </a:t>
            </a:r>
            <a:r>
              <a:rPr sz="1400" b="1" i="0" dirty="0">
                <a:solidFill>
                  <a:srgbClr val="2C2C2C"/>
                </a:solidFill>
                <a:latin typeface="Calibri"/>
              </a:rPr>
              <a:t>Application Layer: </a:t>
            </a:r>
            <a:r>
              <a:rPr sz="1400" b="0" i="0" dirty="0">
                <a:solidFill>
                  <a:srgbClr val="2C2C2C"/>
                </a:solidFill>
                <a:latin typeface="Calibri"/>
              </a:rPr>
              <a:t>Express server handles auth (JWT), business rules, sanitization, moderation, and Socket.io event broadcasting.</a:t>
            </a:r>
          </a:p>
          <a:p>
            <a:pPr>
              <a:lnSpc>
                <a:spcPct val="130000"/>
              </a:lnSpc>
              <a:spcAft>
                <a:spcPts val="700"/>
              </a:spcAft>
            </a:pPr>
            <a:r>
              <a:rPr sz="1400" b="0" i="0" dirty="0">
                <a:solidFill>
                  <a:srgbClr val="2E75B6"/>
                </a:solidFill>
                <a:latin typeface="Calibri"/>
              </a:rPr>
              <a:t>▶  </a:t>
            </a:r>
            <a:r>
              <a:rPr sz="1400" b="1" i="0" dirty="0">
                <a:solidFill>
                  <a:srgbClr val="2C2C2C"/>
                </a:solidFill>
                <a:latin typeface="Calibri"/>
              </a:rPr>
              <a:t>Data Layer: </a:t>
            </a:r>
            <a:r>
              <a:rPr sz="1400" b="0" i="0" dirty="0">
                <a:solidFill>
                  <a:srgbClr val="2C2C2C"/>
                </a:solidFill>
                <a:latin typeface="Calibri"/>
              </a:rPr>
              <a:t>MongoDB Atlas stores all records; images live on </a:t>
            </a:r>
            <a:r>
              <a:rPr sz="1400" b="0" i="0" dirty="0" err="1">
                <a:solidFill>
                  <a:srgbClr val="2C2C2C"/>
                </a:solidFill>
                <a:latin typeface="Calibri"/>
              </a:rPr>
              <a:t>Cloudinary</a:t>
            </a:r>
            <a:r>
              <a:rPr sz="1400" b="0" i="0" dirty="0">
                <a:solidFill>
                  <a:srgbClr val="2C2C2C"/>
                </a:solidFill>
                <a:latin typeface="Calibri"/>
              </a:rPr>
              <a:t> (only the URL is stored in the database, keeping the server lightweight).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User Roles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57612928"/>
              </p:ext>
            </p:extLst>
          </p:nvPr>
        </p:nvGraphicFramePr>
        <p:xfrm>
          <a:off x="548640" y="1188720"/>
          <a:ext cx="7955280" cy="2688336"/>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84048">
                <a:tc>
                  <a:txBody>
                    <a:bodyPr/>
                    <a:lstStyle/>
                    <a:p>
                      <a:r>
                        <a:rPr sz="1200" b="1" i="0">
                          <a:solidFill>
                            <a:srgbClr val="FFFFFF"/>
                          </a:solidFill>
                          <a:latin typeface="Calibri"/>
                        </a:rPr>
                        <a:t>Role</a:t>
                      </a:r>
                    </a:p>
                  </a:txBody>
                  <a:tcPr marT="25400" marB="25400" anchor="ctr">
                    <a:solidFill>
                      <a:srgbClr val="2E75B6"/>
                    </a:solidFill>
                  </a:tcPr>
                </a:tc>
                <a:tc>
                  <a:txBody>
                    <a:bodyPr/>
                    <a:lstStyle/>
                    <a:p>
                      <a:r>
                        <a:rPr sz="1200" b="1" i="0">
                          <a:solidFill>
                            <a:srgbClr val="FFFFFF"/>
                          </a:solidFill>
                          <a:latin typeface="Calibri"/>
                        </a:rPr>
                        <a:t>Primary Access &amp; Permissions</a:t>
                      </a:r>
                    </a:p>
                  </a:txBody>
                  <a:tcPr marT="25400" marB="25400" anchor="ctr">
                    <a:solidFill>
                      <a:srgbClr val="2E75B6"/>
                    </a:solidFill>
                  </a:tcPr>
                </a:tc>
                <a:extLst>
                  <a:ext uri="{0D108BD9-81ED-4DB2-BD59-A6C34878D82A}">
                    <a16:rowId xmlns:a16="http://schemas.microsoft.com/office/drawing/2014/main" val="10000"/>
                  </a:ext>
                </a:extLst>
              </a:tr>
              <a:tr h="384048">
                <a:tc>
                  <a:txBody>
                    <a:bodyPr/>
                    <a:lstStyle/>
                    <a:p>
                      <a:r>
                        <a:rPr sz="1200" b="0" i="0" dirty="0">
                          <a:solidFill>
                            <a:srgbClr val="2C2C2C"/>
                          </a:solidFill>
                          <a:latin typeface="Calibri"/>
                        </a:rPr>
                        <a:t>Student</a:t>
                      </a:r>
                    </a:p>
                  </a:txBody>
                  <a:tcPr marT="25400" marB="25400" anchor="ctr">
                    <a:solidFill>
                      <a:srgbClr val="FFFFFF"/>
                    </a:solidFill>
                  </a:tcPr>
                </a:tc>
                <a:tc>
                  <a:txBody>
                    <a:bodyPr/>
                    <a:lstStyle/>
                    <a:p>
                      <a:r>
                        <a:rPr sz="1200" b="0" i="0">
                          <a:solidFill>
                            <a:srgbClr val="2C2C2C"/>
                          </a:solidFill>
                          <a:latin typeface="Calibri"/>
                        </a:rPr>
                        <a:t>All student modules: forums, canteen, petitions, L&amp;F, career, bookmarks</a:t>
                      </a:r>
                    </a:p>
                  </a:txBody>
                  <a:tcPr marT="25400" marB="25400" anchor="ctr">
                    <a:solidFill>
                      <a:srgbClr val="FFFFFF"/>
                    </a:solidFill>
                  </a:tcPr>
                </a:tc>
                <a:extLst>
                  <a:ext uri="{0D108BD9-81ED-4DB2-BD59-A6C34878D82A}">
                    <a16:rowId xmlns:a16="http://schemas.microsoft.com/office/drawing/2014/main" val="10001"/>
                  </a:ext>
                </a:extLst>
              </a:tr>
              <a:tr h="384048">
                <a:tc>
                  <a:txBody>
                    <a:bodyPr/>
                    <a:lstStyle/>
                    <a:p>
                      <a:r>
                        <a:rPr sz="1200" b="0" i="0" dirty="0">
                          <a:solidFill>
                            <a:srgbClr val="2C2C2C"/>
                          </a:solidFill>
                          <a:latin typeface="Calibri"/>
                        </a:rPr>
                        <a:t>Student Moderator</a:t>
                      </a:r>
                    </a:p>
                  </a:txBody>
                  <a:tcPr marT="25400" marB="25400" anchor="ctr">
                    <a:solidFill>
                      <a:srgbClr val="EBF3FB"/>
                    </a:solidFill>
                  </a:tcPr>
                </a:tc>
                <a:tc>
                  <a:txBody>
                    <a:bodyPr/>
                    <a:lstStyle/>
                    <a:p>
                      <a:r>
                        <a:rPr sz="1200" b="0" i="0">
                          <a:solidFill>
                            <a:srgbClr val="2C2C2C"/>
                          </a:solidFill>
                          <a:latin typeface="Calibri"/>
                        </a:rPr>
                        <a:t>Everything a student can + moderation queue access</a:t>
                      </a:r>
                    </a:p>
                  </a:txBody>
                  <a:tcPr marT="25400" marB="25400" anchor="ctr">
                    <a:solidFill>
                      <a:srgbClr val="EBF3FB"/>
                    </a:solidFill>
                  </a:tcPr>
                </a:tc>
                <a:extLst>
                  <a:ext uri="{0D108BD9-81ED-4DB2-BD59-A6C34878D82A}">
                    <a16:rowId xmlns:a16="http://schemas.microsoft.com/office/drawing/2014/main" val="10002"/>
                  </a:ext>
                </a:extLst>
              </a:tr>
              <a:tr h="384048">
                <a:tc>
                  <a:txBody>
                    <a:bodyPr/>
                    <a:lstStyle/>
                    <a:p>
                      <a:r>
                        <a:rPr sz="1200" b="0" i="0" dirty="0">
                          <a:solidFill>
                            <a:srgbClr val="2C2C2C"/>
                          </a:solidFill>
                          <a:latin typeface="Calibri"/>
                        </a:rPr>
                        <a:t>Alumni</a:t>
                      </a:r>
                    </a:p>
                  </a:txBody>
                  <a:tcPr marT="25400" marB="25400" anchor="ctr">
                    <a:solidFill>
                      <a:srgbClr val="FFFFFF"/>
                    </a:solidFill>
                  </a:tcPr>
                </a:tc>
                <a:tc>
                  <a:txBody>
                    <a:bodyPr/>
                    <a:lstStyle/>
                    <a:p>
                      <a:r>
                        <a:rPr sz="1200" b="0" i="0" dirty="0">
                          <a:solidFill>
                            <a:srgbClr val="2C2C2C"/>
                          </a:solidFill>
                          <a:latin typeface="Calibri"/>
                        </a:rPr>
                        <a:t>Career board + discussions only; no campus services</a:t>
                      </a:r>
                    </a:p>
                  </a:txBody>
                  <a:tcPr marT="25400" marB="25400" anchor="ctr">
                    <a:solidFill>
                      <a:srgbClr val="FFFFFF"/>
                    </a:solidFill>
                  </a:tcPr>
                </a:tc>
                <a:extLst>
                  <a:ext uri="{0D108BD9-81ED-4DB2-BD59-A6C34878D82A}">
                    <a16:rowId xmlns:a16="http://schemas.microsoft.com/office/drawing/2014/main" val="10003"/>
                  </a:ext>
                </a:extLst>
              </a:tr>
              <a:tr h="384048">
                <a:tc>
                  <a:txBody>
                    <a:bodyPr/>
                    <a:lstStyle/>
                    <a:p>
                      <a:r>
                        <a:rPr sz="1200" b="0" i="0" dirty="0">
                          <a:solidFill>
                            <a:srgbClr val="2C2C2C"/>
                          </a:solidFill>
                          <a:latin typeface="Calibri"/>
                        </a:rPr>
                        <a:t>Vendor</a:t>
                      </a:r>
                    </a:p>
                  </a:txBody>
                  <a:tcPr marT="25400" marB="25400" anchor="ctr">
                    <a:solidFill>
                      <a:srgbClr val="EBF3FB"/>
                    </a:solidFill>
                  </a:tcPr>
                </a:tc>
                <a:tc>
                  <a:txBody>
                    <a:bodyPr/>
                    <a:lstStyle/>
                    <a:p>
                      <a:r>
                        <a:rPr sz="1200" b="0" i="0" dirty="0">
                          <a:solidFill>
                            <a:srgbClr val="2C2C2C"/>
                          </a:solidFill>
                          <a:latin typeface="Calibri"/>
                        </a:rPr>
                        <a:t>Own restaurant dashboard: menus, orders, riders</a:t>
                      </a:r>
                    </a:p>
                  </a:txBody>
                  <a:tcPr marT="25400" marB="25400" anchor="ctr">
                    <a:solidFill>
                      <a:srgbClr val="EBF3FB"/>
                    </a:solidFill>
                  </a:tcPr>
                </a:tc>
                <a:extLst>
                  <a:ext uri="{0D108BD9-81ED-4DB2-BD59-A6C34878D82A}">
                    <a16:rowId xmlns:a16="http://schemas.microsoft.com/office/drawing/2014/main" val="10004"/>
                  </a:ext>
                </a:extLst>
              </a:tr>
              <a:tr h="384048">
                <a:tc>
                  <a:txBody>
                    <a:bodyPr/>
                    <a:lstStyle/>
                    <a:p>
                      <a:r>
                        <a:rPr sz="1200" b="0" i="0" dirty="0">
                          <a:solidFill>
                            <a:srgbClr val="2C2C2C"/>
                          </a:solidFill>
                          <a:latin typeface="Calibri"/>
                        </a:rPr>
                        <a:t>Rider</a:t>
                      </a:r>
                    </a:p>
                  </a:txBody>
                  <a:tcPr marT="25400" marB="25400" anchor="ctr">
                    <a:solidFill>
                      <a:srgbClr val="FFFFFF"/>
                    </a:solidFill>
                  </a:tcPr>
                </a:tc>
                <a:tc>
                  <a:txBody>
                    <a:bodyPr/>
                    <a:lstStyle/>
                    <a:p>
                      <a:r>
                        <a:rPr sz="1200" b="0" i="0" dirty="0">
                          <a:solidFill>
                            <a:srgbClr val="2C2C2C"/>
                          </a:solidFill>
                          <a:latin typeface="Calibri"/>
                        </a:rPr>
                        <a:t>Shared campus-wide delivery ticket pool</a:t>
                      </a:r>
                    </a:p>
                  </a:txBody>
                  <a:tcPr marT="25400" marB="25400" anchor="ctr">
                    <a:solidFill>
                      <a:srgbClr val="FFFFFF"/>
                    </a:solidFill>
                  </a:tcPr>
                </a:tc>
                <a:extLst>
                  <a:ext uri="{0D108BD9-81ED-4DB2-BD59-A6C34878D82A}">
                    <a16:rowId xmlns:a16="http://schemas.microsoft.com/office/drawing/2014/main" val="10005"/>
                  </a:ext>
                </a:extLst>
              </a:tr>
              <a:tr h="384048">
                <a:tc>
                  <a:txBody>
                    <a:bodyPr/>
                    <a:lstStyle/>
                    <a:p>
                      <a:r>
                        <a:rPr sz="1200" b="0" i="0" dirty="0">
                          <a:solidFill>
                            <a:srgbClr val="2C2C2C"/>
                          </a:solidFill>
                          <a:latin typeface="Calibri"/>
                        </a:rPr>
                        <a:t>Campus Admin</a:t>
                      </a:r>
                    </a:p>
                  </a:txBody>
                  <a:tcPr marT="25400" marB="25400" anchor="ctr">
                    <a:solidFill>
                      <a:srgbClr val="EBF3FB"/>
                    </a:solidFill>
                  </a:tcPr>
                </a:tc>
                <a:tc>
                  <a:txBody>
                    <a:bodyPr/>
                    <a:lstStyle/>
                    <a:p>
                      <a:r>
                        <a:rPr sz="1200" b="0" i="0" dirty="0">
                          <a:solidFill>
                            <a:srgbClr val="2C2C2C"/>
                          </a:solidFill>
                          <a:latin typeface="Calibri"/>
                        </a:rPr>
                        <a:t>Full control: users, roles, restaurants, account management</a:t>
                      </a:r>
                    </a:p>
                  </a:txBody>
                  <a:tcPr marT="25400" marB="25400" anchor="ctr">
                    <a:solidFill>
                      <a:srgbClr val="EBF3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System Design  UML Diagrams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4114800" cy="320040"/>
          </a:xfrm>
          <a:prstGeom prst="rect">
            <a:avLst/>
          </a:prstGeom>
          <a:noFill/>
        </p:spPr>
        <p:txBody>
          <a:bodyPr wrap="square">
            <a:spAutoFit/>
          </a:bodyPr>
          <a:lstStyle/>
          <a:p>
            <a:r>
              <a:rPr sz="1400" b="1" i="0">
                <a:solidFill>
                  <a:srgbClr val="2E75B6"/>
                </a:solidFill>
                <a:latin typeface="Calibri"/>
              </a:rPr>
              <a:t>Structural Diagrams</a:t>
            </a:r>
          </a:p>
        </p:txBody>
      </p:sp>
      <p:cxnSp>
        <p:nvCxnSpPr>
          <p:cNvPr id="9" name="Connector 8"/>
          <p:cNvCxnSpPr/>
          <p:nvPr/>
        </p:nvCxnSpPr>
        <p:spPr>
          <a:xfrm>
            <a:off x="548640" y="14538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92040" y="1143000"/>
            <a:ext cx="4114800" cy="320040"/>
          </a:xfrm>
          <a:prstGeom prst="rect">
            <a:avLst/>
          </a:prstGeom>
          <a:noFill/>
        </p:spPr>
        <p:txBody>
          <a:bodyPr wrap="square">
            <a:spAutoFit/>
          </a:bodyPr>
          <a:lstStyle/>
          <a:p>
            <a:r>
              <a:rPr sz="1400" b="1" i="0">
                <a:solidFill>
                  <a:srgbClr val="2E75B6"/>
                </a:solidFill>
                <a:latin typeface="Calibri"/>
              </a:rPr>
              <a:t>Behavioral Diagrams</a:t>
            </a:r>
          </a:p>
        </p:txBody>
      </p:sp>
      <p:cxnSp>
        <p:nvCxnSpPr>
          <p:cNvPr id="11" name="Connector 10"/>
          <p:cNvCxnSpPr/>
          <p:nvPr/>
        </p:nvCxnSpPr>
        <p:spPr>
          <a:xfrm>
            <a:off x="4892040" y="145389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1645920"/>
            <a:ext cx="4023360" cy="3072764"/>
          </a:xfrm>
          <a:prstGeom prst="rect">
            <a:avLst/>
          </a:prstGeom>
          <a:noFill/>
        </p:spPr>
        <p:txBody>
          <a:bodyPr wrap="square">
            <a:spAutoFit/>
          </a:bodyPr>
          <a:lstStyle/>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Architecture Diagram 3-tier (React / Node.js / MongoDB + external services)</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Entity Relationship Diagram  MongoDB collections and foreign key references</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Class Diagram  Mongoose models and controllers; AI Moderation has no record of its own but is depended on by Forum, Petition, </a:t>
            </a:r>
            <a:r>
              <a:rPr sz="1200" b="0" i="0" dirty="0" err="1">
                <a:solidFill>
                  <a:srgbClr val="2C2C2C"/>
                </a:solidFill>
                <a:latin typeface="Calibri"/>
              </a:rPr>
              <a:t>LostFound</a:t>
            </a:r>
            <a:r>
              <a:rPr sz="1200" b="0" i="0" dirty="0">
                <a:solidFill>
                  <a:srgbClr val="2C2C2C"/>
                </a:solidFill>
                <a:latin typeface="Calibri"/>
              </a:rPr>
              <a:t>, and Complaint</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Component Diagram  client page groups + server services; shows replaceability</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Deployment Diagram  </a:t>
            </a:r>
            <a:r>
              <a:rPr sz="1200" b="0" i="0" dirty="0" err="1">
                <a:solidFill>
                  <a:srgbClr val="2C2C2C"/>
                </a:solidFill>
                <a:latin typeface="Calibri"/>
              </a:rPr>
              <a:t>Vercel</a:t>
            </a:r>
            <a:r>
              <a:rPr sz="1200" b="0" i="0" dirty="0">
                <a:solidFill>
                  <a:srgbClr val="2C2C2C"/>
                </a:solidFill>
                <a:latin typeface="Calibri"/>
              </a:rPr>
              <a:t> (client) + Render (server) + Atlas + </a:t>
            </a:r>
            <a:r>
              <a:rPr sz="1200" b="0" i="0" dirty="0" err="1">
                <a:solidFill>
                  <a:srgbClr val="2C2C2C"/>
                </a:solidFill>
                <a:latin typeface="Calibri"/>
              </a:rPr>
              <a:t>Cloudinary</a:t>
            </a:r>
            <a:endParaRPr sz="1200" b="0" i="0" dirty="0">
              <a:solidFill>
                <a:srgbClr val="2C2C2C"/>
              </a:solidFill>
              <a:latin typeface="Calibri"/>
            </a:endParaRPr>
          </a:p>
        </p:txBody>
      </p:sp>
      <p:sp>
        <p:nvSpPr>
          <p:cNvPr id="13" name="TextBox 12"/>
          <p:cNvSpPr txBox="1"/>
          <p:nvPr/>
        </p:nvSpPr>
        <p:spPr>
          <a:xfrm>
            <a:off x="4892040" y="1645920"/>
            <a:ext cx="4023360" cy="1932965"/>
          </a:xfrm>
          <a:prstGeom prst="rect">
            <a:avLst/>
          </a:prstGeom>
          <a:noFill/>
        </p:spPr>
        <p:txBody>
          <a:bodyPr wrap="square">
            <a:spAutoFit/>
          </a:bodyPr>
          <a:lstStyle/>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8 Sequence Diagrams  Sign In, Create Discussion, Place Order, Deliver Order, Petition, Lost Item, Career Post, Moderation</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8 Activity Diagrams  one per major workflow, decision points explicit</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5 State Transition Diagrams  Order (7 states, 3 actors), Petition, Complaint, Lost &amp; Found, User Session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66283"/>
            <a:ext cx="6949440" cy="553998"/>
          </a:xfrm>
          <a:prstGeom prst="rect">
            <a:avLst/>
          </a:prstGeom>
          <a:noFill/>
        </p:spPr>
        <p:txBody>
          <a:bodyPr wrap="square">
            <a:spAutoFit/>
          </a:bodyPr>
          <a:lstStyle/>
          <a:p>
            <a:r>
              <a:rPr lang="en-US" sz="3000" b="1" dirty="0">
                <a:solidFill>
                  <a:srgbClr val="2E75B6"/>
                </a:solidFill>
                <a:latin typeface="Calibri Light"/>
              </a:rPr>
              <a:t>Key Innovation - </a:t>
            </a:r>
            <a:r>
              <a:rPr sz="3000" b="1" i="0" dirty="0">
                <a:solidFill>
                  <a:srgbClr val="2E75B6"/>
                </a:solidFill>
                <a:latin typeface="Calibri Light"/>
              </a:rPr>
              <a:t>AI Content Moderation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Rounded Rectangle 7"/>
          <p:cNvSpPr/>
          <p:nvPr/>
        </p:nvSpPr>
        <p:spPr>
          <a:xfrm>
            <a:off x="548640" y="1143000"/>
            <a:ext cx="8046720" cy="502920"/>
          </a:xfrm>
          <a:prstGeom prst="round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FFFFFF"/>
                </a:solidFill>
                <a:latin typeface="Calibri"/>
              </a:rPr>
              <a:t>  CampusConnect is the ONLY platform in the comparison</a:t>
            </a:r>
            <a:r>
              <a:rPr lang="en-US" sz="1200" b="1" i="0" dirty="0">
                <a:solidFill>
                  <a:srgbClr val="FFFFFF"/>
                </a:solidFill>
                <a:latin typeface="Calibri"/>
              </a:rPr>
              <a:t> in its scope</a:t>
            </a:r>
            <a:r>
              <a:rPr sz="1200" b="1" i="0" dirty="0">
                <a:solidFill>
                  <a:srgbClr val="FFFFFF"/>
                </a:solidFill>
                <a:latin typeface="Calibri"/>
              </a:rPr>
              <a:t> that checks content before it is</a:t>
            </a:r>
          </a:p>
          <a:p>
            <a:pPr algn="ctr"/>
            <a:r>
              <a:rPr sz="1200" b="1" i="0" dirty="0">
                <a:solidFill>
                  <a:srgbClr val="FFFFFF"/>
                </a:solidFill>
                <a:latin typeface="Calibri"/>
              </a:rPr>
              <a:t>published  and it understands both English AND Roman Urdu.</a:t>
            </a:r>
          </a:p>
        </p:txBody>
      </p:sp>
      <p:sp>
        <p:nvSpPr>
          <p:cNvPr id="9" name="Rounded Rectangle 8"/>
          <p:cNvSpPr/>
          <p:nvPr/>
        </p:nvSpPr>
        <p:spPr>
          <a:xfrm>
            <a:off x="548640" y="2148840"/>
            <a:ext cx="155448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1F3864"/>
                </a:solidFill>
                <a:latin typeface="Calibri"/>
              </a:rPr>
              <a:t>User Submits Post</a:t>
            </a:r>
          </a:p>
        </p:txBody>
      </p:sp>
      <p:cxnSp>
        <p:nvCxnSpPr>
          <p:cNvPr id="10" name="Connector 9"/>
          <p:cNvCxnSpPr/>
          <p:nvPr/>
        </p:nvCxnSpPr>
        <p:spPr>
          <a:xfrm>
            <a:off x="210312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2148840"/>
            <a:ext cx="182880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1F3864"/>
                </a:solidFill>
                <a:latin typeface="Calibri"/>
              </a:rPr>
              <a:t>Built-in Word List Check</a:t>
            </a:r>
          </a:p>
        </p:txBody>
      </p:sp>
      <p:cxnSp>
        <p:nvCxnSpPr>
          <p:cNvPr id="12" name="Connector 11"/>
          <p:cNvCxnSpPr/>
          <p:nvPr/>
        </p:nvCxnSpPr>
        <p:spPr>
          <a:xfrm>
            <a:off x="438912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34840" y="2057400"/>
            <a:ext cx="1280160" cy="228600"/>
          </a:xfrm>
          <a:prstGeom prst="rect">
            <a:avLst/>
          </a:prstGeom>
          <a:noFill/>
        </p:spPr>
        <p:txBody>
          <a:bodyPr wrap="square">
            <a:spAutoFit/>
          </a:bodyPr>
          <a:lstStyle/>
          <a:p>
            <a:r>
              <a:rPr sz="900" b="0" i="1">
                <a:solidFill>
                  <a:srgbClr val="595959"/>
                </a:solidFill>
                <a:latin typeface="Calibri"/>
              </a:rPr>
              <a:t>if clean</a:t>
            </a:r>
          </a:p>
        </p:txBody>
      </p:sp>
      <p:sp>
        <p:nvSpPr>
          <p:cNvPr id="14" name="Rounded Rectangle 13"/>
          <p:cNvSpPr/>
          <p:nvPr/>
        </p:nvSpPr>
        <p:spPr>
          <a:xfrm>
            <a:off x="4846320" y="2148840"/>
            <a:ext cx="164592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1F3864"/>
                </a:solidFill>
                <a:latin typeface="Calibri"/>
              </a:rPr>
              <a:t>Groq LLM Check</a:t>
            </a:r>
          </a:p>
        </p:txBody>
      </p:sp>
      <p:cxnSp>
        <p:nvCxnSpPr>
          <p:cNvPr id="15" name="Connector 14"/>
          <p:cNvCxnSpPr/>
          <p:nvPr/>
        </p:nvCxnSpPr>
        <p:spPr>
          <a:xfrm>
            <a:off x="649224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49440" y="2148840"/>
            <a:ext cx="16459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Post Published Live</a:t>
            </a:r>
          </a:p>
        </p:txBody>
      </p:sp>
      <p:sp>
        <p:nvSpPr>
          <p:cNvPr id="17" name="Rounded Rectangle 16"/>
          <p:cNvSpPr/>
          <p:nvPr/>
        </p:nvSpPr>
        <p:spPr>
          <a:xfrm>
            <a:off x="2560320" y="2990089"/>
            <a:ext cx="1828800" cy="45720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dirty="0">
                <a:solidFill>
                  <a:srgbClr val="1F3864"/>
                </a:solidFill>
                <a:latin typeface="Calibri"/>
              </a:rPr>
              <a:t>Moderation Queue</a:t>
            </a:r>
          </a:p>
        </p:txBody>
      </p:sp>
      <p:cxnSp>
        <p:nvCxnSpPr>
          <p:cNvPr id="18" name="Connector 17"/>
          <p:cNvCxnSpPr>
            <a:cxnSpLocks/>
          </p:cNvCxnSpPr>
          <p:nvPr/>
        </p:nvCxnSpPr>
        <p:spPr>
          <a:xfrm>
            <a:off x="3474720" y="2651760"/>
            <a:ext cx="0" cy="338328"/>
          </a:xfrm>
          <a:prstGeom prst="line">
            <a:avLst/>
          </a:prstGeom>
          <a:ln w="1524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p:cNvCxnSpPr>
          <p:nvPr/>
        </p:nvCxnSpPr>
        <p:spPr>
          <a:xfrm flipH="1">
            <a:off x="4366260" y="2651760"/>
            <a:ext cx="1303020" cy="365760"/>
          </a:xfrm>
          <a:prstGeom prst="line">
            <a:avLst/>
          </a:prstGeom>
          <a:ln w="1524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97480" y="2724911"/>
            <a:ext cx="1005840" cy="228600"/>
          </a:xfrm>
          <a:prstGeom prst="rect">
            <a:avLst/>
          </a:prstGeom>
          <a:noFill/>
        </p:spPr>
        <p:txBody>
          <a:bodyPr wrap="square">
            <a:spAutoFit/>
          </a:bodyPr>
          <a:lstStyle/>
          <a:p>
            <a:r>
              <a:rPr sz="900" b="0" i="1" dirty="0">
                <a:solidFill>
                  <a:srgbClr val="595959"/>
                </a:solidFill>
                <a:latin typeface="Calibri"/>
              </a:rPr>
              <a:t>if flagged</a:t>
            </a:r>
          </a:p>
        </p:txBody>
      </p:sp>
      <p:sp>
        <p:nvSpPr>
          <p:cNvPr id="21" name="TextBox 20"/>
          <p:cNvSpPr txBox="1"/>
          <p:nvPr/>
        </p:nvSpPr>
        <p:spPr>
          <a:xfrm>
            <a:off x="5806440" y="2761488"/>
            <a:ext cx="914400" cy="228600"/>
          </a:xfrm>
          <a:prstGeom prst="rect">
            <a:avLst/>
          </a:prstGeom>
          <a:noFill/>
        </p:spPr>
        <p:txBody>
          <a:bodyPr wrap="square">
            <a:spAutoFit/>
          </a:bodyPr>
          <a:lstStyle/>
          <a:p>
            <a:r>
              <a:rPr sz="900" b="0" i="1">
                <a:solidFill>
                  <a:srgbClr val="595959"/>
                </a:solidFill>
                <a:latin typeface="Calibri"/>
              </a:rPr>
              <a:t>if flagged</a:t>
            </a:r>
          </a:p>
        </p:txBody>
      </p:sp>
      <p:sp>
        <p:nvSpPr>
          <p:cNvPr id="22" name="TextBox 21"/>
          <p:cNvSpPr txBox="1"/>
          <p:nvPr/>
        </p:nvSpPr>
        <p:spPr>
          <a:xfrm>
            <a:off x="548640" y="3429000"/>
            <a:ext cx="8138160" cy="3378554"/>
          </a:xfrm>
          <a:prstGeom prst="rect">
            <a:avLst/>
          </a:prstGeom>
          <a:noFill/>
        </p:spPr>
        <p:txBody>
          <a:bodyPr wrap="square">
            <a:spAutoFit/>
          </a:bodyPr>
          <a:lstStyle/>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Two-layer pipeline: a fast built-in word list runs first; if the post passes, it is forwarded to the </a:t>
            </a:r>
            <a:r>
              <a:rPr sz="1350" b="0" i="0" dirty="0" err="1">
                <a:solidFill>
                  <a:srgbClr val="2C2C2C"/>
                </a:solidFill>
                <a:latin typeface="Calibri"/>
              </a:rPr>
              <a:t>Groq</a:t>
            </a:r>
            <a:r>
              <a:rPr sz="1350" b="0" i="0" dirty="0">
                <a:solidFill>
                  <a:srgbClr val="2C2C2C"/>
                </a:solidFill>
                <a:latin typeface="Calibri"/>
              </a:rPr>
              <a:t> language model API for deeper analysis.</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Google Gemini serves as a second moderation model  used alongside </a:t>
            </a:r>
            <a:r>
              <a:rPr sz="1350" b="0" i="0" dirty="0" err="1">
                <a:solidFill>
                  <a:srgbClr val="2C2C2C"/>
                </a:solidFill>
                <a:latin typeface="Calibri"/>
              </a:rPr>
              <a:t>Groq</a:t>
            </a:r>
            <a:r>
              <a:rPr sz="1350" b="0" i="0" dirty="0">
                <a:solidFill>
                  <a:srgbClr val="2C2C2C"/>
                </a:solidFill>
                <a:latin typeface="Calibri"/>
              </a:rPr>
              <a:t> for higher confidence decisions.</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Fallback safety: if both AI services are unavailable, the built-in word list still runs  posts are never published unchecked.</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Flagged posts are hidden immediately; a reason is stored for the moderator. Users are NOT told which rule was triggered, preventing circumvention.</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Moderators can restore wrongly flagged posts OR issue on-screen warnings the user must acknowledge before using the platform again.</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Tested successfully: offensive content in English and Roman Urdu both detected; clean content passes in under 4.07 seconds (well within the 5-second requirement).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Implementation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Development Approach</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81328"/>
            <a:ext cx="8138160" cy="1163845"/>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Module-by-module development  each module has its own client pages, API routes, and database model. New features added without breaking existing ones.</a:t>
            </a:r>
          </a:p>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API-first: every route built and tested in Postman before the React page was built  if a page failed, the server was ruled out.</a:t>
            </a:r>
          </a:p>
        </p:txBody>
      </p:sp>
      <p:sp>
        <p:nvSpPr>
          <p:cNvPr id="11" name="TextBox 10"/>
          <p:cNvSpPr txBox="1"/>
          <p:nvPr/>
        </p:nvSpPr>
        <p:spPr>
          <a:xfrm>
            <a:off x="548640" y="2788920"/>
            <a:ext cx="4114800" cy="320040"/>
          </a:xfrm>
          <a:prstGeom prst="rect">
            <a:avLst/>
          </a:prstGeom>
          <a:noFill/>
        </p:spPr>
        <p:txBody>
          <a:bodyPr wrap="square">
            <a:spAutoFit/>
          </a:bodyPr>
          <a:lstStyle/>
          <a:p>
            <a:r>
              <a:rPr sz="1400" b="1" i="0" dirty="0">
                <a:solidFill>
                  <a:srgbClr val="2E75B6"/>
                </a:solidFill>
                <a:latin typeface="Calibri"/>
              </a:rPr>
              <a:t>Request Processing Pipeline</a:t>
            </a:r>
          </a:p>
        </p:txBody>
      </p:sp>
      <p:cxnSp>
        <p:nvCxnSpPr>
          <p:cNvPr id="12" name="Connector 11"/>
          <p:cNvCxnSpPr/>
          <p:nvPr/>
        </p:nvCxnSpPr>
        <p:spPr>
          <a:xfrm>
            <a:off x="548640" y="3099815"/>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200400"/>
            <a:ext cx="8138160" cy="365760"/>
          </a:xfrm>
          <a:prstGeom prst="rect">
            <a:avLst/>
          </a:prstGeom>
          <a:noFill/>
        </p:spPr>
        <p:txBody>
          <a:bodyPr wrap="square">
            <a:spAutoFit/>
          </a:bodyPr>
          <a:lstStyle/>
          <a:p>
            <a:r>
              <a:rPr sz="1200" b="1" i="0" dirty="0">
                <a:solidFill>
                  <a:srgbClr val="1F3864"/>
                </a:solidFill>
                <a:latin typeface="Calibri"/>
              </a:rPr>
              <a:t>Security (Helmet/CORS)</a:t>
            </a:r>
            <a:r>
              <a:rPr sz="1200" b="1" i="0" dirty="0">
                <a:solidFill>
                  <a:srgbClr val="2E75B6"/>
                </a:solidFill>
                <a:latin typeface="Calibri"/>
              </a:rPr>
              <a:t>  →  </a:t>
            </a:r>
            <a:r>
              <a:rPr sz="1200" b="1" i="0" dirty="0">
                <a:solidFill>
                  <a:srgbClr val="1F3864"/>
                </a:solidFill>
                <a:latin typeface="Calibri"/>
              </a:rPr>
              <a:t>Body Parsing</a:t>
            </a:r>
            <a:r>
              <a:rPr sz="1200" b="1" i="0" dirty="0">
                <a:solidFill>
                  <a:srgbClr val="2E75B6"/>
                </a:solidFill>
                <a:latin typeface="Calibri"/>
              </a:rPr>
              <a:t>  →  </a:t>
            </a:r>
            <a:r>
              <a:rPr sz="1200" b="1" i="0" dirty="0">
                <a:solidFill>
                  <a:srgbClr val="1F3864"/>
                </a:solidFill>
                <a:latin typeface="Calibri"/>
              </a:rPr>
              <a:t>Sanitization ($-operator removal)</a:t>
            </a:r>
            <a:r>
              <a:rPr sz="1200" b="1" i="0" dirty="0">
                <a:solidFill>
                  <a:srgbClr val="2E75B6"/>
                </a:solidFill>
                <a:latin typeface="Calibri"/>
              </a:rPr>
              <a:t>  →  </a:t>
            </a:r>
            <a:r>
              <a:rPr sz="1200" b="1" i="0" dirty="0">
                <a:solidFill>
                  <a:srgbClr val="1F3864"/>
                </a:solidFill>
                <a:latin typeface="Calibri"/>
              </a:rPr>
              <a:t>Token &amp; Role Check</a:t>
            </a:r>
            <a:r>
              <a:rPr sz="1200" b="1" i="0" dirty="0">
                <a:solidFill>
                  <a:srgbClr val="2E75B6"/>
                </a:solidFill>
                <a:latin typeface="Calibri"/>
              </a:rPr>
              <a:t>  →  </a:t>
            </a:r>
            <a:r>
              <a:rPr sz="1200" b="1" i="0" dirty="0">
                <a:solidFill>
                  <a:srgbClr val="1F3864"/>
                </a:solidFill>
                <a:latin typeface="Calibri"/>
              </a:rPr>
              <a:t>AI Moderation (if content)</a:t>
            </a:r>
            <a:r>
              <a:rPr sz="1200" b="1" i="0" dirty="0">
                <a:solidFill>
                  <a:srgbClr val="2E75B6"/>
                </a:solidFill>
                <a:latin typeface="Calibri"/>
              </a:rPr>
              <a:t>  →  </a:t>
            </a:r>
            <a:r>
              <a:rPr sz="1200" b="1" i="0" dirty="0">
                <a:solidFill>
                  <a:srgbClr val="1F3864"/>
                </a:solidFill>
                <a:latin typeface="Calibri"/>
              </a:rPr>
              <a:t>Controller</a:t>
            </a:r>
            <a:r>
              <a:rPr sz="1200" b="1" i="0" dirty="0">
                <a:solidFill>
                  <a:srgbClr val="2E75B6"/>
                </a:solidFill>
                <a:latin typeface="Calibri"/>
              </a:rPr>
              <a:t>  →  </a:t>
            </a:r>
            <a:r>
              <a:rPr sz="1200" b="1" i="0" dirty="0">
                <a:solidFill>
                  <a:srgbClr val="1F3864"/>
                </a:solidFill>
                <a:latin typeface="Calibri"/>
              </a:rPr>
              <a:t>Database</a:t>
            </a:r>
          </a:p>
        </p:txBody>
      </p:sp>
      <p:sp>
        <p:nvSpPr>
          <p:cNvPr id="14" name="TextBox 13"/>
          <p:cNvSpPr txBox="1"/>
          <p:nvPr/>
        </p:nvSpPr>
        <p:spPr>
          <a:xfrm>
            <a:off x="548640" y="3657600"/>
            <a:ext cx="4114800" cy="320040"/>
          </a:xfrm>
          <a:prstGeom prst="rect">
            <a:avLst/>
          </a:prstGeom>
          <a:noFill/>
        </p:spPr>
        <p:txBody>
          <a:bodyPr wrap="square">
            <a:spAutoFit/>
          </a:bodyPr>
          <a:lstStyle/>
          <a:p>
            <a:r>
              <a:rPr sz="1400" b="1" i="0">
                <a:solidFill>
                  <a:srgbClr val="2E75B6"/>
                </a:solidFill>
                <a:latin typeface="Calibri"/>
              </a:rPr>
              <a:t>Project Folder Structure</a:t>
            </a:r>
          </a:p>
        </p:txBody>
      </p:sp>
      <p:cxnSp>
        <p:nvCxnSpPr>
          <p:cNvPr id="15" name="Connector 14"/>
          <p:cNvCxnSpPr/>
          <p:nvPr/>
        </p:nvCxnSpPr>
        <p:spPr>
          <a:xfrm>
            <a:off x="548640" y="39684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4041648"/>
            <a:ext cx="8138160" cy="1503681"/>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Two-root structure: /client (React, Tailwind, Socket.io-client) and /server (Express, Mongoose, Socket.io, AI SDKs)  each with its own </a:t>
            </a:r>
            <a:r>
              <a:rPr sz="1300" b="0" i="0" dirty="0" err="1">
                <a:solidFill>
                  <a:srgbClr val="2C2C2C"/>
                </a:solidFill>
                <a:latin typeface="Calibri"/>
              </a:rPr>
              <a:t>package.json</a:t>
            </a:r>
            <a:r>
              <a:rPr sz="1300" b="0" i="0" dirty="0">
                <a:solidFill>
                  <a:srgbClr val="2C2C2C"/>
                </a:solidFill>
                <a:latin typeface="Calibri"/>
              </a:rPr>
              <a:t> and environment variables.</a:t>
            </a:r>
          </a:p>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Single translation stub function wraps all visible text strings  ready for Urdu localization without rewriting pages.</a:t>
            </a:r>
          </a:p>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Coding standards: clear naming, true modularity, server-side trust (totals and counts always computed server-side), secret management via .env.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7112524" cy="553998"/>
          </a:xfrm>
          <a:prstGeom prst="rect">
            <a:avLst/>
          </a:prstGeom>
          <a:noFill/>
        </p:spPr>
        <p:txBody>
          <a:bodyPr wrap="square">
            <a:spAutoFit/>
          </a:bodyPr>
          <a:lstStyle/>
          <a:p>
            <a:r>
              <a:rPr sz="3000" b="1" i="0" dirty="0">
                <a:solidFill>
                  <a:srgbClr val="2E75B6"/>
                </a:solidFill>
                <a:latin typeface="Calibri Light"/>
              </a:rPr>
              <a:t>Real-Time</a:t>
            </a:r>
            <a:r>
              <a:rPr lang="en-US" sz="3000" b="1" i="0" dirty="0">
                <a:solidFill>
                  <a:srgbClr val="2E75B6"/>
                </a:solidFill>
                <a:latin typeface="Calibri Light"/>
              </a:rPr>
              <a:t> Notification</a:t>
            </a:r>
            <a:r>
              <a:rPr lang="en-US" sz="3000" b="1" dirty="0">
                <a:solidFill>
                  <a:srgbClr val="2E75B6"/>
                </a:solidFill>
                <a:latin typeface="Calibri Light"/>
              </a:rPr>
              <a:t>s &amp; </a:t>
            </a:r>
            <a:r>
              <a:rPr sz="3000" b="1" i="0" dirty="0">
                <a:solidFill>
                  <a:srgbClr val="2E75B6"/>
                </a:solidFill>
                <a:latin typeface="Calibri Light"/>
              </a:rPr>
              <a:t>Features </a:t>
            </a:r>
            <a:r>
              <a:rPr lang="en-US" sz="3000" b="1" i="0" dirty="0">
                <a:solidFill>
                  <a:srgbClr val="2E75B6"/>
                </a:solidFill>
                <a:latin typeface="Calibri Light"/>
              </a:rPr>
              <a:t>-</a:t>
            </a:r>
            <a:r>
              <a:rPr sz="3000" b="1" i="0" dirty="0">
                <a:solidFill>
                  <a:srgbClr val="2E75B6"/>
                </a:solidFill>
                <a:latin typeface="Calibri Light"/>
              </a:rPr>
              <a:t> Socket.io</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8138160" cy="3483582"/>
          </a:xfrm>
          <a:prstGeom prst="rect">
            <a:avLst/>
          </a:prstGeom>
          <a:noFill/>
        </p:spPr>
        <p:txBody>
          <a:bodyPr wrap="square">
            <a:spAutoFit/>
          </a:bodyPr>
          <a:lstStyle/>
          <a:p>
            <a:pPr>
              <a:lnSpc>
                <a:spcPct val="125000"/>
              </a:lnSpc>
              <a:spcAft>
                <a:spcPts val="700"/>
              </a:spcAft>
            </a:pPr>
            <a:r>
              <a:rPr sz="1400" b="0" i="0" dirty="0">
                <a:solidFill>
                  <a:srgbClr val="2E75B6"/>
                </a:solidFill>
                <a:latin typeface="Calibri"/>
              </a:rPr>
              <a:t>▶  </a:t>
            </a:r>
            <a:r>
              <a:rPr sz="1400" b="0" i="0" dirty="0">
                <a:solidFill>
                  <a:srgbClr val="2C2C2C"/>
                </a:solidFill>
                <a:latin typeface="Calibri"/>
              </a:rPr>
              <a:t>Order placed by student → vendor dashboard updates instantly, no page refresh required. Achieved via Socket.io event broadcast to the vendor's connected socket.</a:t>
            </a:r>
          </a:p>
          <a:p>
            <a:pPr>
              <a:lnSpc>
                <a:spcPct val="125000"/>
              </a:lnSpc>
              <a:spcAft>
                <a:spcPts val="700"/>
              </a:spcAft>
            </a:pPr>
            <a:r>
              <a:rPr sz="1400" b="0" i="0" dirty="0">
                <a:solidFill>
                  <a:srgbClr val="2E75B6"/>
                </a:solidFill>
                <a:latin typeface="Calibri"/>
              </a:rPr>
              <a:t>▶  </a:t>
            </a:r>
            <a:r>
              <a:rPr sz="1400" b="0" i="0" dirty="0">
                <a:solidFill>
                  <a:srgbClr val="2C2C2C"/>
                </a:solidFill>
                <a:latin typeface="Calibri"/>
              </a:rPr>
              <a:t>Rider claims ticket → order status pushed live to the student's order tracker AND the vendor dashboard simultaneously.</a:t>
            </a:r>
          </a:p>
          <a:p>
            <a:pPr>
              <a:lnSpc>
                <a:spcPct val="125000"/>
              </a:lnSpc>
              <a:spcAft>
                <a:spcPts val="700"/>
              </a:spcAft>
            </a:pPr>
            <a:r>
              <a:rPr sz="1400" b="0" i="0" dirty="0">
                <a:solidFill>
                  <a:srgbClr val="2E75B6"/>
                </a:solidFill>
                <a:latin typeface="Calibri"/>
              </a:rPr>
              <a:t>▶  </a:t>
            </a:r>
            <a:r>
              <a:rPr sz="1400" b="0" i="0" dirty="0">
                <a:solidFill>
                  <a:srgbClr val="2C2C2C"/>
                </a:solidFill>
                <a:latin typeface="Calibri"/>
              </a:rPr>
              <a:t>Petition signed → signature count updates in real time for everyone currently viewing that petition.</a:t>
            </a:r>
          </a:p>
          <a:p>
            <a:pPr>
              <a:lnSpc>
                <a:spcPct val="125000"/>
              </a:lnSpc>
              <a:spcAft>
                <a:spcPts val="700"/>
              </a:spcAft>
            </a:pPr>
            <a:r>
              <a:rPr sz="1400" b="0" i="0" dirty="0">
                <a:solidFill>
                  <a:srgbClr val="2E75B6"/>
                </a:solidFill>
                <a:latin typeface="Calibri"/>
              </a:rPr>
              <a:t>▶  </a:t>
            </a:r>
            <a:r>
              <a:rPr sz="1400" b="0" i="0" dirty="0">
                <a:solidFill>
                  <a:srgbClr val="2C2C2C"/>
                </a:solidFill>
                <a:latin typeface="Calibri"/>
              </a:rPr>
              <a:t>Moderation action → hidden content disappears from all open pages immediately when the moderator hides it.</a:t>
            </a:r>
          </a:p>
          <a:p>
            <a:pPr>
              <a:lnSpc>
                <a:spcPct val="125000"/>
              </a:lnSpc>
              <a:spcAft>
                <a:spcPts val="700"/>
              </a:spcAft>
            </a:pPr>
            <a:r>
              <a:rPr sz="1400" b="0" i="0" dirty="0">
                <a:solidFill>
                  <a:srgbClr val="2E75B6"/>
                </a:solidFill>
                <a:latin typeface="Calibri"/>
              </a:rPr>
              <a:t>▶  </a:t>
            </a:r>
            <a:r>
              <a:rPr sz="1400" b="0" i="0" dirty="0">
                <a:solidFill>
                  <a:srgbClr val="2C2C2C"/>
                </a:solidFill>
                <a:latin typeface="Calibri"/>
              </a:rPr>
              <a:t>Notifications bell → unread count updates automatically without polling. Browser push notifications via Web Push VAPID alert users even when the site is not open.</a:t>
            </a:r>
          </a:p>
          <a:p>
            <a:pPr>
              <a:lnSpc>
                <a:spcPct val="125000"/>
              </a:lnSpc>
              <a:spcAft>
                <a:spcPts val="700"/>
              </a:spcAft>
            </a:pPr>
            <a:r>
              <a:rPr sz="1400" b="0" i="0" dirty="0">
                <a:solidFill>
                  <a:srgbClr val="2E75B6"/>
                </a:solidFill>
                <a:latin typeface="Calibri"/>
              </a:rPr>
              <a:t>▶  </a:t>
            </a:r>
            <a:r>
              <a:rPr sz="1400" b="1" i="0" dirty="0">
                <a:solidFill>
                  <a:srgbClr val="2C2C2C"/>
                </a:solidFill>
                <a:latin typeface="Calibri"/>
              </a:rPr>
              <a:t>Measured performance: </a:t>
            </a:r>
            <a:r>
              <a:rPr sz="1400" b="0" i="0" dirty="0">
                <a:solidFill>
                  <a:srgbClr val="2C2C2C"/>
                </a:solidFill>
                <a:latin typeface="Calibri"/>
              </a:rPr>
              <a:t>Live update delivery time = 100ms average (requirement was &lt; 2 seconds  exceeded by 20×).</a:t>
            </a:r>
          </a:p>
        </p:txBody>
      </p:sp>
      <p:sp>
        <p:nvSpPr>
          <p:cNvPr id="9" name="Rounded Rectangle 8"/>
          <p:cNvSpPr/>
          <p:nvPr/>
        </p:nvSpPr>
        <p:spPr>
          <a:xfrm>
            <a:off x="548640" y="5074920"/>
            <a:ext cx="8046720" cy="1143000"/>
          </a:xfrm>
          <a:prstGeom prst="roundRect">
            <a:avLst/>
          </a:prstGeom>
          <a:solidFill>
            <a:srgbClr val="EBF3FB"/>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1F3864"/>
                </a:solidFill>
                <a:latin typeface="Calibri"/>
              </a:rPr>
              <a:t>Live Update: 100ms  |  Sign In: 254ms  |  Dashboard Load: 1.7s</a:t>
            </a:r>
          </a:p>
          <a:p>
            <a:pPr algn="ctr"/>
            <a:r>
              <a:rPr sz="1300" b="1" i="0">
                <a:solidFill>
                  <a:srgbClr val="1F3864"/>
                </a:solidFill>
                <a:latin typeface="Calibri"/>
              </a:rPr>
              <a:t>Forum List: 2.71s  |  Content Check: 4.07s  |  Image Upload: 3s</a:t>
            </a:r>
          </a:p>
          <a:p>
            <a:pPr algn="ctr"/>
            <a:r>
              <a:rPr sz="1300" b="1" i="0">
                <a:solidFill>
                  <a:srgbClr val="1F3864"/>
                </a:solidFill>
                <a:latin typeface="Calibri"/>
              </a:rPr>
              <a:t>All within specified requirements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Campus Canteen </a:t>
            </a:r>
            <a:r>
              <a:rPr lang="en-US" sz="3000" b="1" i="0" dirty="0">
                <a:solidFill>
                  <a:srgbClr val="2E75B6"/>
                </a:solidFill>
                <a:latin typeface="Calibri Light"/>
              </a:rPr>
              <a:t>-</a:t>
            </a:r>
            <a:r>
              <a:rPr sz="3000" b="1" i="0" dirty="0">
                <a:solidFill>
                  <a:srgbClr val="2E75B6"/>
                </a:solidFill>
                <a:latin typeface="Calibri Light"/>
              </a:rPr>
              <a:t> Food Ordering Module</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8138160" cy="3987695"/>
          </a:xfrm>
          <a:prstGeom prst="rect">
            <a:avLst/>
          </a:prstGeom>
          <a:noFill/>
        </p:spPr>
        <p:txBody>
          <a:bodyPr wrap="square">
            <a:spAutoFit/>
          </a:bodyPr>
          <a:lstStyle/>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Students browse open restaurants, view menus, add items to a cart, and place an order with a contact number to the campus main gate.</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Order total is calculated server-side only  the browser total is never trusted. This prevents price manipulation.</a:t>
            </a: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Each order is assigned a unique serial number on creation.</a:t>
            </a:r>
          </a:p>
          <a:p>
            <a:pPr>
              <a:lnSpc>
                <a:spcPct val="125000"/>
              </a:lnSpc>
              <a:spcAft>
                <a:spcPts val="700"/>
              </a:spcAft>
            </a:pPr>
            <a:r>
              <a:rPr sz="1350" b="0" i="0" dirty="0">
                <a:solidFill>
                  <a:srgbClr val="2E75B6"/>
                </a:solidFill>
                <a:latin typeface="Calibri"/>
              </a:rPr>
              <a:t>▶  </a:t>
            </a:r>
            <a:r>
              <a:rPr sz="1350" b="1" i="0" dirty="0">
                <a:solidFill>
                  <a:srgbClr val="2C2C2C"/>
                </a:solidFill>
                <a:latin typeface="Calibri"/>
              </a:rPr>
              <a:t>Vendor dashboard: </a:t>
            </a:r>
            <a:r>
              <a:rPr sz="1350" b="0" i="0" dirty="0">
                <a:solidFill>
                  <a:srgbClr val="2C2C2C"/>
                </a:solidFill>
                <a:latin typeface="Calibri"/>
              </a:rPr>
              <a:t>receives new orders via Socket.io (no refresh needed). Vendor accepts or rejects, then marks: Pending → Accepted → Preparing → Ready → Picked Up → Arrived → Completed (7 states).</a:t>
            </a:r>
          </a:p>
          <a:p>
            <a:pPr>
              <a:lnSpc>
                <a:spcPct val="125000"/>
              </a:lnSpc>
              <a:spcAft>
                <a:spcPts val="700"/>
              </a:spcAft>
            </a:pPr>
            <a:r>
              <a:rPr sz="1350" b="0" i="0" dirty="0">
                <a:solidFill>
                  <a:srgbClr val="2E75B6"/>
                </a:solidFill>
                <a:latin typeface="Calibri"/>
              </a:rPr>
              <a:t>▶  </a:t>
            </a:r>
            <a:r>
              <a:rPr sz="1350" b="1" i="0" dirty="0">
                <a:solidFill>
                  <a:srgbClr val="2C2C2C"/>
                </a:solidFill>
                <a:latin typeface="Calibri"/>
              </a:rPr>
              <a:t>Rider Dashboard: </a:t>
            </a:r>
            <a:r>
              <a:rPr sz="1350" b="0" i="0" dirty="0">
                <a:solidFill>
                  <a:srgbClr val="2C2C2C"/>
                </a:solidFill>
                <a:latin typeface="Calibri"/>
              </a:rPr>
              <a:t>a shared campus-wide ticket pool; any rider can claim any accepted order. Claiming is atomic  if two riders attempt simultaneously, only one succeeds; the other is told the ticket is gone.</a:t>
            </a:r>
            <a:r>
              <a:rPr lang="en-US" sz="1350" b="0" i="0" dirty="0">
                <a:solidFill>
                  <a:srgbClr val="2C2C2C"/>
                </a:solidFill>
                <a:latin typeface="Calibri"/>
              </a:rPr>
              <a:t> Student’s number is not shared with riders to implement a </a:t>
            </a:r>
            <a:r>
              <a:rPr lang="en-US" sz="1400" b="1" i="0" dirty="0">
                <a:solidFill>
                  <a:srgbClr val="2C2C2C"/>
                </a:solidFill>
                <a:latin typeface="Calibri"/>
              </a:rPr>
              <a:t>no-trust policy</a:t>
            </a:r>
            <a:r>
              <a:rPr lang="en-US" sz="1350" b="0" i="0" dirty="0">
                <a:solidFill>
                  <a:srgbClr val="2C2C2C"/>
                </a:solidFill>
                <a:latin typeface="Calibri"/>
              </a:rPr>
              <a:t>.</a:t>
            </a:r>
            <a:endParaRPr sz="1350" b="0" i="0" dirty="0">
              <a:solidFill>
                <a:srgbClr val="2C2C2C"/>
              </a:solidFill>
              <a:latin typeface="Calibri"/>
            </a:endParaRPr>
          </a:p>
          <a:p>
            <a:pPr>
              <a:lnSpc>
                <a:spcPct val="125000"/>
              </a:lnSpc>
              <a:spcAft>
                <a:spcPts val="700"/>
              </a:spcAft>
            </a:pPr>
            <a:r>
              <a:rPr sz="1350" b="0" i="0" dirty="0">
                <a:solidFill>
                  <a:srgbClr val="2E75B6"/>
                </a:solidFill>
                <a:latin typeface="Calibri"/>
              </a:rPr>
              <a:t>▶  </a:t>
            </a:r>
            <a:r>
              <a:rPr sz="1350" b="0" i="0" dirty="0">
                <a:solidFill>
                  <a:srgbClr val="2C2C2C"/>
                </a:solidFill>
                <a:latin typeface="Calibri"/>
              </a:rPr>
              <a:t>Closed restaurants are automatically hidden from student view the moment the vendor closes the restaurant on their dashboard.</a:t>
            </a:r>
          </a:p>
          <a:p>
            <a:pPr>
              <a:lnSpc>
                <a:spcPct val="125000"/>
              </a:lnSpc>
              <a:spcAft>
                <a:spcPts val="700"/>
              </a:spcAft>
            </a:pPr>
            <a:r>
              <a:rPr sz="1350" b="0" i="0" dirty="0">
                <a:solidFill>
                  <a:srgbClr val="2E75B6"/>
                </a:solidFill>
                <a:latin typeface="Calibri"/>
              </a:rPr>
              <a:t>▶  </a:t>
            </a:r>
            <a:r>
              <a:rPr sz="1350" b="1" i="0" dirty="0">
                <a:solidFill>
                  <a:srgbClr val="2C2C2C"/>
                </a:solidFill>
                <a:latin typeface="Calibri"/>
              </a:rPr>
              <a:t>Order State Transition: </a:t>
            </a:r>
            <a:r>
              <a:rPr sz="1350" b="0" i="0" dirty="0">
                <a:solidFill>
                  <a:srgbClr val="2C2C2C"/>
                </a:solidFill>
                <a:latin typeface="Calibri"/>
              </a:rPr>
              <a:t>7 states involving 3 actors (Student, Vendor, Rider). "Cancelled" is a dead-end state only reachable if the vendor rejects.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Testing &amp; Evaluation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Use Case Testing</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63040"/>
            <a:ext cx="8138160" cy="662425"/>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22 test cases executed  12 student path, 10 vendor/rider/admin path.</a:t>
            </a:r>
          </a:p>
          <a:p>
            <a:pPr>
              <a:lnSpc>
                <a:spcPct val="125000"/>
              </a:lnSpc>
              <a:spcAft>
                <a:spcPts val="700"/>
              </a:spcAft>
            </a:pPr>
            <a:r>
              <a:rPr sz="1300" b="0" i="0" dirty="0">
                <a:solidFill>
                  <a:srgbClr val="2E75B6"/>
                </a:solidFill>
                <a:latin typeface="Calibri"/>
              </a:rPr>
              <a:t>▶  </a:t>
            </a:r>
            <a:r>
              <a:rPr sz="1300" b="0" i="0" dirty="0">
                <a:solidFill>
                  <a:srgbClr val="2C2C2C"/>
                </a:solidFill>
                <a:latin typeface="Calibri"/>
              </a:rPr>
              <a:t>All 22 passed including sign in, order lifecycle, moderation, petition, bookmarks, role-based access, and sign out.</a:t>
            </a:r>
          </a:p>
        </p:txBody>
      </p:sp>
      <p:sp>
        <p:nvSpPr>
          <p:cNvPr id="11" name="TextBox 10"/>
          <p:cNvSpPr txBox="1"/>
          <p:nvPr/>
        </p:nvSpPr>
        <p:spPr>
          <a:xfrm>
            <a:off x="548640" y="2400300"/>
            <a:ext cx="4114800" cy="320040"/>
          </a:xfrm>
          <a:prstGeom prst="rect">
            <a:avLst/>
          </a:prstGeom>
          <a:noFill/>
        </p:spPr>
        <p:txBody>
          <a:bodyPr wrap="square">
            <a:spAutoFit/>
          </a:bodyPr>
          <a:lstStyle/>
          <a:p>
            <a:r>
              <a:rPr sz="1400" b="1" i="0" dirty="0">
                <a:solidFill>
                  <a:srgbClr val="2E75B6"/>
                </a:solidFill>
                <a:latin typeface="Calibri"/>
              </a:rPr>
              <a:t>Extension / Edge Case Testing</a:t>
            </a:r>
          </a:p>
        </p:txBody>
      </p:sp>
      <p:cxnSp>
        <p:nvCxnSpPr>
          <p:cNvPr id="12" name="Connector 11"/>
          <p:cNvCxnSpPr/>
          <p:nvPr/>
        </p:nvCxnSpPr>
        <p:spPr>
          <a:xfrm>
            <a:off x="548640" y="2720340"/>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39" y="2834595"/>
            <a:ext cx="8138160" cy="1074077"/>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1" i="0" dirty="0">
                <a:solidFill>
                  <a:srgbClr val="2C2C2C"/>
                </a:solidFill>
                <a:latin typeface="Calibri"/>
              </a:rPr>
              <a:t>12 extension scenarios tested all passed. </a:t>
            </a:r>
            <a:r>
              <a:rPr sz="1300" b="0" i="0" dirty="0">
                <a:solidFill>
                  <a:srgbClr val="2C2C2C"/>
                </a:solidFill>
                <a:latin typeface="Calibri"/>
              </a:rPr>
              <a:t>Key cases: wrong password (no token issued); deleted account (all token requests denied); offensive Roman Urdu caught by built-in word list; duplicate petition signature rejected; two riders claiming same ticket (only one succeeds); moderation service unreachable (built-in filter still runs); closed restaurant stops new orders.</a:t>
            </a:r>
          </a:p>
        </p:txBody>
      </p:sp>
      <p:sp>
        <p:nvSpPr>
          <p:cNvPr id="14" name="TextBox 13"/>
          <p:cNvSpPr txBox="1"/>
          <p:nvPr/>
        </p:nvSpPr>
        <p:spPr>
          <a:xfrm>
            <a:off x="548640" y="4027784"/>
            <a:ext cx="4114800" cy="320040"/>
          </a:xfrm>
          <a:prstGeom prst="rect">
            <a:avLst/>
          </a:prstGeom>
          <a:noFill/>
        </p:spPr>
        <p:txBody>
          <a:bodyPr wrap="square">
            <a:spAutoFit/>
          </a:bodyPr>
          <a:lstStyle/>
          <a:p>
            <a:r>
              <a:rPr sz="1400" b="1" i="0" dirty="0">
                <a:solidFill>
                  <a:srgbClr val="2E75B6"/>
                </a:solidFill>
                <a:latin typeface="Calibri"/>
              </a:rPr>
              <a:t>Boundary Value Analysis</a:t>
            </a:r>
          </a:p>
        </p:txBody>
      </p:sp>
      <p:cxnSp>
        <p:nvCxnSpPr>
          <p:cNvPr id="15" name="Connector 14"/>
          <p:cNvCxnSpPr/>
          <p:nvPr/>
        </p:nvCxnSpPr>
        <p:spPr>
          <a:xfrm>
            <a:off x="600016" y="4347824"/>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4380894"/>
            <a:ext cx="8138160" cy="573940"/>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1" i="0" dirty="0">
                <a:solidFill>
                  <a:srgbClr val="2C2C2C"/>
                </a:solidFill>
                <a:latin typeface="Calibri"/>
              </a:rPr>
              <a:t>15 field boundaries tested  all passed. </a:t>
            </a:r>
            <a:r>
              <a:rPr sz="1300" b="0" i="0" dirty="0">
                <a:solidFill>
                  <a:srgbClr val="2C2C2C"/>
                </a:solidFill>
                <a:latin typeface="Calibri"/>
              </a:rPr>
              <a:t>Including: empty fields, duplicate emails/reg numbers, image size limit (50MB), injection characters ($-operator stripped), role validation, cart cannot be empty.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Performance Testing Results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2044016477"/>
              </p:ext>
            </p:extLst>
          </p:nvPr>
        </p:nvGraphicFramePr>
        <p:xfrm>
          <a:off x="548640" y="1188720"/>
          <a:ext cx="8321040" cy="281635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02336">
                <a:tc>
                  <a:txBody>
                    <a:bodyPr/>
                    <a:lstStyle/>
                    <a:p>
                      <a:r>
                        <a:rPr sz="1200" b="1" i="0">
                          <a:solidFill>
                            <a:srgbClr val="FFFFFF"/>
                          </a:solidFill>
                          <a:latin typeface="Calibri"/>
                        </a:rPr>
                        <a:t>Test Case</a:t>
                      </a:r>
                    </a:p>
                  </a:txBody>
                  <a:tcPr marT="25400" marB="25400" anchor="ctr">
                    <a:solidFill>
                      <a:srgbClr val="2E75B6"/>
                    </a:solidFill>
                  </a:tcPr>
                </a:tc>
                <a:tc>
                  <a:txBody>
                    <a:bodyPr/>
                    <a:lstStyle/>
                    <a:p>
                      <a:pPr algn="ctr"/>
                      <a:r>
                        <a:rPr sz="1200" b="1" i="0">
                          <a:solidFill>
                            <a:srgbClr val="FFFFFF"/>
                          </a:solidFill>
                          <a:latin typeface="Calibri"/>
                        </a:rPr>
                        <a:t>Requirement</a:t>
                      </a:r>
                    </a:p>
                  </a:txBody>
                  <a:tcPr marT="25400" marB="25400" anchor="ctr">
                    <a:solidFill>
                      <a:srgbClr val="2E75B6"/>
                    </a:solidFill>
                  </a:tcPr>
                </a:tc>
                <a:tc>
                  <a:txBody>
                    <a:bodyPr/>
                    <a:lstStyle/>
                    <a:p>
                      <a:pPr algn="ctr"/>
                      <a:r>
                        <a:rPr sz="1200" b="1" i="0">
                          <a:solidFill>
                            <a:srgbClr val="FFFFFF"/>
                          </a:solidFill>
                          <a:latin typeface="Calibri"/>
                        </a:rPr>
                        <a:t>Measured Result</a:t>
                      </a:r>
                    </a:p>
                  </a:txBody>
                  <a:tcPr marT="25400" marB="25400" anchor="ctr">
                    <a:solidFill>
                      <a:srgbClr val="2E75B6"/>
                    </a:solidFill>
                  </a:tcPr>
                </a:tc>
                <a:tc>
                  <a:txBody>
                    <a:bodyPr/>
                    <a:lstStyle/>
                    <a:p>
                      <a:pPr algn="ctr"/>
                      <a:r>
                        <a:rPr sz="1200" b="1" i="0">
                          <a:solidFill>
                            <a:srgbClr val="FFFFFF"/>
                          </a:solidFill>
                          <a:latin typeface="Calibri"/>
                        </a:rPr>
                        <a:t>Result</a:t>
                      </a:r>
                    </a:p>
                  </a:txBody>
                  <a:tcPr marT="25400" marB="25400" anchor="ctr">
                    <a:solidFill>
                      <a:srgbClr val="2E75B6"/>
                    </a:solidFill>
                  </a:tcPr>
                </a:tc>
                <a:extLst>
                  <a:ext uri="{0D108BD9-81ED-4DB2-BD59-A6C34878D82A}">
                    <a16:rowId xmlns:a16="http://schemas.microsoft.com/office/drawing/2014/main" val="10000"/>
                  </a:ext>
                </a:extLst>
              </a:tr>
              <a:tr h="402336">
                <a:tc>
                  <a:txBody>
                    <a:bodyPr/>
                    <a:lstStyle/>
                    <a:p>
                      <a:r>
                        <a:rPr sz="1200" b="0" i="0">
                          <a:solidFill>
                            <a:srgbClr val="2C2C2C"/>
                          </a:solidFill>
                          <a:latin typeface="Calibri"/>
                        </a:rPr>
                        <a:t>Sign In Response</a:t>
                      </a:r>
                    </a:p>
                  </a:txBody>
                  <a:tcPr marT="25400" marB="25400" anchor="ctr">
                    <a:solidFill>
                      <a:srgbClr val="FFFFFF"/>
                    </a:solidFill>
                  </a:tcPr>
                </a:tc>
                <a:tc>
                  <a:txBody>
                    <a:bodyPr/>
                    <a:lstStyle/>
                    <a:p>
                      <a:pPr algn="ctr"/>
                      <a:r>
                        <a:rPr sz="1200" b="0" i="0">
                          <a:solidFill>
                            <a:srgbClr val="2C2C2C"/>
                          </a:solidFill>
                          <a:latin typeface="Calibri"/>
                        </a:rPr>
                        <a:t>&lt; 3 seconds</a:t>
                      </a:r>
                    </a:p>
                  </a:txBody>
                  <a:tcPr marT="25400" marB="25400" anchor="ctr">
                    <a:solidFill>
                      <a:srgbClr val="FFFFFF"/>
                    </a:solidFill>
                  </a:tcPr>
                </a:tc>
                <a:tc>
                  <a:txBody>
                    <a:bodyPr/>
                    <a:lstStyle/>
                    <a:p>
                      <a:pPr algn="ctr"/>
                      <a:r>
                        <a:rPr sz="1200" b="0" i="0">
                          <a:solidFill>
                            <a:srgbClr val="2C2C2C"/>
                          </a:solidFill>
                          <a:latin typeface="Calibri"/>
                        </a:rPr>
                        <a:t>254ms (0.25s)</a:t>
                      </a:r>
                    </a:p>
                  </a:txBody>
                  <a:tcPr marT="25400" marB="25400" anchor="ctr">
                    <a:solidFill>
                      <a:srgbClr val="FFFFFF"/>
                    </a:solidFill>
                  </a:tcPr>
                </a:tc>
                <a:tc>
                  <a:txBody>
                    <a:bodyPr/>
                    <a:lstStyle/>
                    <a:p>
                      <a:pPr algn="ctr"/>
                      <a:r>
                        <a:rPr sz="1200" b="0" i="0" dirty="0">
                          <a:solidFill>
                            <a:srgbClr val="2C2C2C"/>
                          </a:solidFill>
                          <a:latin typeface="Calibri"/>
                        </a:rPr>
                        <a:t> PASS</a:t>
                      </a:r>
                    </a:p>
                  </a:txBody>
                  <a:tcPr marT="25400" marB="25400" anchor="ctr">
                    <a:solidFill>
                      <a:srgbClr val="FFFFFF"/>
                    </a:solidFill>
                  </a:tcPr>
                </a:tc>
                <a:extLst>
                  <a:ext uri="{0D108BD9-81ED-4DB2-BD59-A6C34878D82A}">
                    <a16:rowId xmlns:a16="http://schemas.microsoft.com/office/drawing/2014/main" val="10001"/>
                  </a:ext>
                </a:extLst>
              </a:tr>
              <a:tr h="402336">
                <a:tc>
                  <a:txBody>
                    <a:bodyPr/>
                    <a:lstStyle/>
                    <a:p>
                      <a:r>
                        <a:rPr sz="1200" b="0" i="0">
                          <a:solidFill>
                            <a:srgbClr val="2C2C2C"/>
                          </a:solidFill>
                          <a:latin typeface="Calibri"/>
                        </a:rPr>
                        <a:t>Dashboard Load</a:t>
                      </a:r>
                    </a:p>
                  </a:txBody>
                  <a:tcPr marT="25400" marB="25400" anchor="ctr">
                    <a:solidFill>
                      <a:srgbClr val="EBF3FB"/>
                    </a:solidFill>
                  </a:tcPr>
                </a:tc>
                <a:tc>
                  <a:txBody>
                    <a:bodyPr/>
                    <a:lstStyle/>
                    <a:p>
                      <a:pPr algn="ctr"/>
                      <a:r>
                        <a:rPr sz="1200" b="0" i="0">
                          <a:solidFill>
                            <a:srgbClr val="2C2C2C"/>
                          </a:solidFill>
                          <a:latin typeface="Calibri"/>
                        </a:rPr>
                        <a:t>&lt; 5 seconds</a:t>
                      </a:r>
                    </a:p>
                  </a:txBody>
                  <a:tcPr marT="25400" marB="25400" anchor="ctr">
                    <a:solidFill>
                      <a:srgbClr val="EBF3FB"/>
                    </a:solidFill>
                  </a:tcPr>
                </a:tc>
                <a:tc>
                  <a:txBody>
                    <a:bodyPr/>
                    <a:lstStyle/>
                    <a:p>
                      <a:pPr algn="ctr"/>
                      <a:r>
                        <a:rPr sz="1200" b="0" i="0">
                          <a:solidFill>
                            <a:srgbClr val="2C2C2C"/>
                          </a:solidFill>
                          <a:latin typeface="Calibri"/>
                        </a:rPr>
                        <a:t>1,700ms (1.7s)</a:t>
                      </a:r>
                    </a:p>
                  </a:txBody>
                  <a:tcPr marT="25400" marB="25400" anchor="ctr">
                    <a:solidFill>
                      <a:srgbClr val="EBF3FB"/>
                    </a:solidFill>
                  </a:tcPr>
                </a:tc>
                <a:tc>
                  <a:txBody>
                    <a:bodyPr/>
                    <a:lstStyle/>
                    <a:p>
                      <a:pPr algn="ctr"/>
                      <a:r>
                        <a:rPr sz="1200" b="0" i="0" dirty="0">
                          <a:solidFill>
                            <a:srgbClr val="2C2C2C"/>
                          </a:solidFill>
                          <a:latin typeface="Calibri"/>
                        </a:rPr>
                        <a:t> PASS</a:t>
                      </a:r>
                    </a:p>
                  </a:txBody>
                  <a:tcPr marT="25400" marB="25400" anchor="ctr">
                    <a:solidFill>
                      <a:srgbClr val="EBF3FB"/>
                    </a:solidFill>
                  </a:tcPr>
                </a:tc>
                <a:extLst>
                  <a:ext uri="{0D108BD9-81ED-4DB2-BD59-A6C34878D82A}">
                    <a16:rowId xmlns:a16="http://schemas.microsoft.com/office/drawing/2014/main" val="10002"/>
                  </a:ext>
                </a:extLst>
              </a:tr>
              <a:tr h="402336">
                <a:tc>
                  <a:txBody>
                    <a:bodyPr/>
                    <a:lstStyle/>
                    <a:p>
                      <a:r>
                        <a:rPr sz="1200" b="0" i="0">
                          <a:solidFill>
                            <a:srgbClr val="2C2C2C"/>
                          </a:solidFill>
                          <a:latin typeface="Calibri"/>
                        </a:rPr>
                        <a:t>Forum List Load</a:t>
                      </a:r>
                    </a:p>
                  </a:txBody>
                  <a:tcPr marT="25400" marB="25400" anchor="ctr">
                    <a:solidFill>
                      <a:srgbClr val="FFFFFF"/>
                    </a:solidFill>
                  </a:tcPr>
                </a:tc>
                <a:tc>
                  <a:txBody>
                    <a:bodyPr/>
                    <a:lstStyle/>
                    <a:p>
                      <a:pPr algn="ctr"/>
                      <a:r>
                        <a:rPr sz="1200" b="0" i="0">
                          <a:solidFill>
                            <a:srgbClr val="2C2C2C"/>
                          </a:solidFill>
                          <a:latin typeface="Calibri"/>
                        </a:rPr>
                        <a:t>&lt; 3 seconds</a:t>
                      </a:r>
                    </a:p>
                  </a:txBody>
                  <a:tcPr marT="25400" marB="25400" anchor="ctr">
                    <a:solidFill>
                      <a:srgbClr val="FFFFFF"/>
                    </a:solidFill>
                  </a:tcPr>
                </a:tc>
                <a:tc>
                  <a:txBody>
                    <a:bodyPr/>
                    <a:lstStyle/>
                    <a:p>
                      <a:pPr algn="ctr"/>
                      <a:r>
                        <a:rPr sz="1200" b="0" i="0">
                          <a:solidFill>
                            <a:srgbClr val="2C2C2C"/>
                          </a:solidFill>
                          <a:latin typeface="Calibri"/>
                        </a:rPr>
                        <a:t>2,710ms (2.71s)</a:t>
                      </a:r>
                    </a:p>
                  </a:txBody>
                  <a:tcPr marT="25400" marB="25400" anchor="ctr">
                    <a:solidFill>
                      <a:srgbClr val="FFFFFF"/>
                    </a:solidFill>
                  </a:tcPr>
                </a:tc>
                <a:tc>
                  <a:txBody>
                    <a:bodyPr/>
                    <a:lstStyle/>
                    <a:p>
                      <a:pPr algn="ctr"/>
                      <a:r>
                        <a:rPr sz="1200" b="0" i="0" dirty="0">
                          <a:solidFill>
                            <a:srgbClr val="2C2C2C"/>
                          </a:solidFill>
                          <a:latin typeface="Calibri"/>
                        </a:rPr>
                        <a:t> PASS</a:t>
                      </a:r>
                    </a:p>
                  </a:txBody>
                  <a:tcPr marT="25400" marB="25400" anchor="ctr">
                    <a:solidFill>
                      <a:srgbClr val="FFFFFF"/>
                    </a:solidFill>
                  </a:tcPr>
                </a:tc>
                <a:extLst>
                  <a:ext uri="{0D108BD9-81ED-4DB2-BD59-A6C34878D82A}">
                    <a16:rowId xmlns:a16="http://schemas.microsoft.com/office/drawing/2014/main" val="10003"/>
                  </a:ext>
                </a:extLst>
              </a:tr>
              <a:tr h="402336">
                <a:tc>
                  <a:txBody>
                    <a:bodyPr/>
                    <a:lstStyle/>
                    <a:p>
                      <a:r>
                        <a:rPr sz="1200" b="0" i="0">
                          <a:solidFill>
                            <a:srgbClr val="2C2C2C"/>
                          </a:solidFill>
                          <a:latin typeface="Calibri"/>
                        </a:rPr>
                        <a:t>AI Content Check</a:t>
                      </a:r>
                    </a:p>
                  </a:txBody>
                  <a:tcPr marT="25400" marB="25400" anchor="ctr">
                    <a:solidFill>
                      <a:srgbClr val="EBF3FB"/>
                    </a:solidFill>
                  </a:tcPr>
                </a:tc>
                <a:tc>
                  <a:txBody>
                    <a:bodyPr/>
                    <a:lstStyle/>
                    <a:p>
                      <a:pPr algn="ctr"/>
                      <a:r>
                        <a:rPr sz="1200" b="0" i="0">
                          <a:solidFill>
                            <a:srgbClr val="2C2C2C"/>
                          </a:solidFill>
                          <a:latin typeface="Calibri"/>
                        </a:rPr>
                        <a:t>&lt; 5 seconds</a:t>
                      </a:r>
                    </a:p>
                  </a:txBody>
                  <a:tcPr marT="25400" marB="25400" anchor="ctr">
                    <a:solidFill>
                      <a:srgbClr val="EBF3FB"/>
                    </a:solidFill>
                  </a:tcPr>
                </a:tc>
                <a:tc>
                  <a:txBody>
                    <a:bodyPr/>
                    <a:lstStyle/>
                    <a:p>
                      <a:pPr algn="ctr"/>
                      <a:r>
                        <a:rPr sz="1200" b="0" i="0">
                          <a:solidFill>
                            <a:srgbClr val="2C2C2C"/>
                          </a:solidFill>
                          <a:latin typeface="Calibri"/>
                        </a:rPr>
                        <a:t>4,070ms (4.07s)</a:t>
                      </a:r>
                    </a:p>
                  </a:txBody>
                  <a:tcPr marT="25400" marB="25400" anchor="ctr">
                    <a:solidFill>
                      <a:srgbClr val="EBF3FB"/>
                    </a:solidFill>
                  </a:tcPr>
                </a:tc>
                <a:tc>
                  <a:txBody>
                    <a:bodyPr/>
                    <a:lstStyle/>
                    <a:p>
                      <a:pPr algn="ctr"/>
                      <a:r>
                        <a:rPr sz="1200" b="0" i="0" dirty="0">
                          <a:solidFill>
                            <a:srgbClr val="2C2C2C"/>
                          </a:solidFill>
                          <a:latin typeface="Calibri"/>
                        </a:rPr>
                        <a:t> PASS</a:t>
                      </a:r>
                    </a:p>
                  </a:txBody>
                  <a:tcPr marT="25400" marB="25400" anchor="ctr">
                    <a:solidFill>
                      <a:srgbClr val="EBF3FB"/>
                    </a:solidFill>
                  </a:tcPr>
                </a:tc>
                <a:extLst>
                  <a:ext uri="{0D108BD9-81ED-4DB2-BD59-A6C34878D82A}">
                    <a16:rowId xmlns:a16="http://schemas.microsoft.com/office/drawing/2014/main" val="10004"/>
                  </a:ext>
                </a:extLst>
              </a:tr>
              <a:tr h="402336">
                <a:tc>
                  <a:txBody>
                    <a:bodyPr/>
                    <a:lstStyle/>
                    <a:p>
                      <a:r>
                        <a:rPr sz="1200" b="0" i="0">
                          <a:solidFill>
                            <a:srgbClr val="2C2C2C"/>
                          </a:solidFill>
                          <a:latin typeface="Calibri"/>
                        </a:rPr>
                        <a:t>Live Update (Socket)</a:t>
                      </a:r>
                    </a:p>
                  </a:txBody>
                  <a:tcPr marT="25400" marB="25400" anchor="ctr">
                    <a:solidFill>
                      <a:srgbClr val="FFFFFF"/>
                    </a:solidFill>
                  </a:tcPr>
                </a:tc>
                <a:tc>
                  <a:txBody>
                    <a:bodyPr/>
                    <a:lstStyle/>
                    <a:p>
                      <a:pPr algn="ctr"/>
                      <a:r>
                        <a:rPr sz="1200" b="0" i="0">
                          <a:solidFill>
                            <a:srgbClr val="2C2C2C"/>
                          </a:solidFill>
                          <a:latin typeface="Calibri"/>
                        </a:rPr>
                        <a:t>&lt; 2 seconds</a:t>
                      </a:r>
                    </a:p>
                  </a:txBody>
                  <a:tcPr marT="25400" marB="25400" anchor="ctr">
                    <a:solidFill>
                      <a:srgbClr val="FFFFFF"/>
                    </a:solidFill>
                  </a:tcPr>
                </a:tc>
                <a:tc>
                  <a:txBody>
                    <a:bodyPr/>
                    <a:lstStyle/>
                    <a:p>
                      <a:pPr algn="ctr"/>
                      <a:r>
                        <a:rPr sz="1200" b="0" i="0">
                          <a:solidFill>
                            <a:srgbClr val="2C2C2C"/>
                          </a:solidFill>
                          <a:latin typeface="Calibri"/>
                        </a:rPr>
                        <a:t>100ms (0.1s)</a:t>
                      </a:r>
                    </a:p>
                  </a:txBody>
                  <a:tcPr marT="25400" marB="25400" anchor="ctr">
                    <a:solidFill>
                      <a:srgbClr val="FFFFFF"/>
                    </a:solidFill>
                  </a:tcPr>
                </a:tc>
                <a:tc>
                  <a:txBody>
                    <a:bodyPr/>
                    <a:lstStyle/>
                    <a:p>
                      <a:pPr algn="ctr"/>
                      <a:r>
                        <a:rPr sz="1200" b="0" i="0" dirty="0">
                          <a:solidFill>
                            <a:srgbClr val="2C2C2C"/>
                          </a:solidFill>
                          <a:latin typeface="Calibri"/>
                        </a:rPr>
                        <a:t> PASS</a:t>
                      </a:r>
                    </a:p>
                  </a:txBody>
                  <a:tcPr marT="25400" marB="25400" anchor="ctr">
                    <a:solidFill>
                      <a:srgbClr val="FFFFFF"/>
                    </a:solidFill>
                  </a:tcPr>
                </a:tc>
                <a:extLst>
                  <a:ext uri="{0D108BD9-81ED-4DB2-BD59-A6C34878D82A}">
                    <a16:rowId xmlns:a16="http://schemas.microsoft.com/office/drawing/2014/main" val="10005"/>
                  </a:ext>
                </a:extLst>
              </a:tr>
              <a:tr h="402336">
                <a:tc>
                  <a:txBody>
                    <a:bodyPr/>
                    <a:lstStyle/>
                    <a:p>
                      <a:r>
                        <a:rPr sz="1200" b="0" i="0">
                          <a:solidFill>
                            <a:srgbClr val="2C2C2C"/>
                          </a:solidFill>
                          <a:latin typeface="Calibri"/>
                        </a:rPr>
                        <a:t>Image Upload</a:t>
                      </a:r>
                    </a:p>
                  </a:txBody>
                  <a:tcPr marT="25400" marB="25400" anchor="ctr">
                    <a:solidFill>
                      <a:srgbClr val="EBF3FB"/>
                    </a:solidFill>
                  </a:tcPr>
                </a:tc>
                <a:tc>
                  <a:txBody>
                    <a:bodyPr/>
                    <a:lstStyle/>
                    <a:p>
                      <a:pPr algn="ctr"/>
                      <a:r>
                        <a:rPr sz="1200" b="0" i="0">
                          <a:solidFill>
                            <a:srgbClr val="2C2C2C"/>
                          </a:solidFill>
                          <a:latin typeface="Calibri"/>
                        </a:rPr>
                        <a:t>&lt; 8 seconds</a:t>
                      </a:r>
                    </a:p>
                  </a:txBody>
                  <a:tcPr marT="25400" marB="25400" anchor="ctr">
                    <a:solidFill>
                      <a:srgbClr val="EBF3FB"/>
                    </a:solidFill>
                  </a:tcPr>
                </a:tc>
                <a:tc>
                  <a:txBody>
                    <a:bodyPr/>
                    <a:lstStyle/>
                    <a:p>
                      <a:pPr algn="ctr"/>
                      <a:r>
                        <a:rPr sz="1200" b="0" i="0">
                          <a:solidFill>
                            <a:srgbClr val="2C2C2C"/>
                          </a:solidFill>
                          <a:latin typeface="Calibri"/>
                        </a:rPr>
                        <a:t>3,000ms (3s)</a:t>
                      </a:r>
                    </a:p>
                  </a:txBody>
                  <a:tcPr marT="25400" marB="25400" anchor="ctr">
                    <a:solidFill>
                      <a:srgbClr val="EBF3FB"/>
                    </a:solidFill>
                  </a:tcPr>
                </a:tc>
                <a:tc>
                  <a:txBody>
                    <a:bodyPr/>
                    <a:lstStyle/>
                    <a:p>
                      <a:pPr algn="ctr"/>
                      <a:r>
                        <a:rPr sz="1200" b="0" i="0" dirty="0">
                          <a:solidFill>
                            <a:srgbClr val="2C2C2C"/>
                          </a:solidFill>
                          <a:latin typeface="Calibri"/>
                        </a:rPr>
                        <a:t> PASS</a:t>
                      </a:r>
                    </a:p>
                  </a:txBody>
                  <a:tcPr marT="25400" marB="25400" anchor="ctr">
                    <a:solidFill>
                      <a:srgbClr val="EBF3FB"/>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48640" y="4069080"/>
            <a:ext cx="8046720" cy="365760"/>
          </a:xfrm>
          <a:prstGeom prst="rect">
            <a:avLst/>
          </a:prstGeom>
          <a:noFill/>
        </p:spPr>
        <p:txBody>
          <a:bodyPr wrap="square">
            <a:spAutoFit/>
          </a:bodyPr>
          <a:lstStyle/>
          <a:p>
            <a:r>
              <a:rPr lang="en-US" sz="1200" b="0" i="1" dirty="0">
                <a:solidFill>
                  <a:srgbClr val="595959"/>
                </a:solidFill>
                <a:latin typeface="Calibri"/>
              </a:rPr>
              <a:t>All</a:t>
            </a:r>
            <a:r>
              <a:rPr lang="en-PK" sz="1200" b="0" i="1" dirty="0">
                <a:solidFill>
                  <a:srgbClr val="595959"/>
                </a:solidFill>
                <a:latin typeface="Calibri"/>
              </a:rPr>
              <a:t> </a:t>
            </a:r>
            <a:r>
              <a:rPr lang="en-US" sz="1200" b="0" i="1" dirty="0">
                <a:solidFill>
                  <a:srgbClr val="595959"/>
                </a:solidFill>
                <a:latin typeface="Calibri"/>
              </a:rPr>
              <a:t>measurements</a:t>
            </a:r>
            <a:r>
              <a:rPr lang="en-PK" sz="1200" b="0" i="1" dirty="0">
                <a:solidFill>
                  <a:srgbClr val="595959"/>
                </a:solidFill>
                <a:latin typeface="Calibri"/>
              </a:rPr>
              <a:t> </a:t>
            </a:r>
            <a:r>
              <a:rPr lang="en-US" sz="1200" b="0" i="1" dirty="0">
                <a:solidFill>
                  <a:srgbClr val="595959"/>
                </a:solidFill>
                <a:latin typeface="Calibri"/>
              </a:rPr>
              <a:t>taken</a:t>
            </a:r>
            <a:r>
              <a:rPr lang="en-PK" sz="1200" b="0" i="1" dirty="0">
                <a:solidFill>
                  <a:srgbClr val="595959"/>
                </a:solidFill>
                <a:latin typeface="Calibri"/>
              </a:rPr>
              <a:t> </a:t>
            </a:r>
            <a:r>
              <a:rPr lang="en-US" sz="1200" b="0" i="1" dirty="0">
                <a:solidFill>
                  <a:srgbClr val="595959"/>
                </a:solidFill>
                <a:latin typeface="Calibri"/>
              </a:rPr>
              <a:t>via</a:t>
            </a:r>
            <a:r>
              <a:rPr lang="en-PK" sz="1200" b="0" i="1" dirty="0">
                <a:solidFill>
                  <a:srgbClr val="595959"/>
                </a:solidFill>
                <a:latin typeface="Calibri"/>
              </a:rPr>
              <a:t> </a:t>
            </a:r>
            <a:r>
              <a:rPr lang="en-US" sz="1200" b="0" i="1" dirty="0">
                <a:solidFill>
                  <a:srgbClr val="595959"/>
                </a:solidFill>
                <a:latin typeface="Calibri"/>
              </a:rPr>
              <a:t>browser</a:t>
            </a:r>
            <a:r>
              <a:rPr lang="en-PK" sz="1200" b="0" i="1" dirty="0">
                <a:solidFill>
                  <a:srgbClr val="595959"/>
                </a:solidFill>
                <a:latin typeface="Calibri"/>
              </a:rPr>
              <a:t> </a:t>
            </a:r>
            <a:r>
              <a:rPr lang="en-US" sz="1200" b="0" i="1" dirty="0" err="1">
                <a:solidFill>
                  <a:srgbClr val="595959"/>
                </a:solidFill>
                <a:latin typeface="Calibri"/>
              </a:rPr>
              <a:t>DevTools</a:t>
            </a:r>
            <a:r>
              <a:rPr lang="en-PK" sz="1200" b="0" i="1" dirty="0">
                <a:solidFill>
                  <a:srgbClr val="595959"/>
                </a:solidFill>
                <a:latin typeface="Calibri"/>
              </a:rPr>
              <a:t> </a:t>
            </a:r>
            <a:r>
              <a:rPr lang="en-US" sz="1200" b="0" i="1" dirty="0">
                <a:solidFill>
                  <a:srgbClr val="595959"/>
                </a:solidFill>
                <a:latin typeface="Calibri"/>
              </a:rPr>
              <a:t>Network</a:t>
            </a:r>
            <a:r>
              <a:rPr lang="en-PK" sz="1200" b="0" i="1" dirty="0">
                <a:solidFill>
                  <a:srgbClr val="595959"/>
                </a:solidFill>
                <a:latin typeface="Calibri"/>
              </a:rPr>
              <a:t> </a:t>
            </a:r>
            <a:r>
              <a:rPr lang="en-US" sz="1200" b="0" i="1" dirty="0">
                <a:solidFill>
                  <a:srgbClr val="595959"/>
                </a:solidFill>
                <a:latin typeface="Calibri"/>
              </a:rPr>
              <a:t>tab</a:t>
            </a:r>
            <a:r>
              <a:rPr lang="en-PK" sz="1200" b="0" i="1" dirty="0">
                <a:solidFill>
                  <a:srgbClr val="595959"/>
                </a:solidFill>
                <a:latin typeface="Calibri"/>
              </a:rPr>
              <a:t> </a:t>
            </a:r>
            <a:r>
              <a:rPr lang="en-US" sz="1200" b="0" i="1" dirty="0">
                <a:solidFill>
                  <a:srgbClr val="595959"/>
                </a:solidFill>
                <a:latin typeface="Calibri"/>
              </a:rPr>
              <a:t>on</a:t>
            </a:r>
            <a:r>
              <a:rPr lang="en-PK" sz="1200" b="0" i="1" dirty="0">
                <a:solidFill>
                  <a:srgbClr val="595959"/>
                </a:solidFill>
                <a:latin typeface="Calibri"/>
              </a:rPr>
              <a:t> </a:t>
            </a:r>
            <a:r>
              <a:rPr lang="en-US" sz="1200" b="0" i="1" dirty="0">
                <a:solidFill>
                  <a:srgbClr val="595959"/>
                </a:solidFill>
                <a:latin typeface="Calibri"/>
              </a:rPr>
              <a:t>the</a:t>
            </a:r>
            <a:r>
              <a:rPr lang="en-PK" sz="1200" b="0" i="1" dirty="0">
                <a:solidFill>
                  <a:srgbClr val="595959"/>
                </a:solidFill>
                <a:latin typeface="Calibri"/>
              </a:rPr>
              <a:t> </a:t>
            </a:r>
            <a:r>
              <a:rPr lang="en-US" sz="1200" b="0" i="1" dirty="0">
                <a:solidFill>
                  <a:srgbClr val="595959"/>
                </a:solidFill>
                <a:latin typeface="Calibri"/>
              </a:rPr>
              <a:t>deployed</a:t>
            </a:r>
            <a:r>
              <a:rPr lang="en-PK" sz="1200" b="0" i="1" dirty="0">
                <a:solidFill>
                  <a:srgbClr val="595959"/>
                </a:solidFill>
                <a:latin typeface="Calibri"/>
              </a:rPr>
              <a:t> </a:t>
            </a:r>
            <a:r>
              <a:rPr lang="en-US" sz="1200" b="0" i="1" dirty="0">
                <a:solidFill>
                  <a:srgbClr val="595959"/>
                </a:solidFill>
                <a:latin typeface="Calibri"/>
              </a:rPr>
              <a:t>production</a:t>
            </a:r>
            <a:r>
              <a:rPr lang="en-PK" sz="1200" b="0" i="1" dirty="0">
                <a:solidFill>
                  <a:srgbClr val="595959"/>
                </a:solidFill>
                <a:latin typeface="Calibri"/>
              </a:rPr>
              <a:t> </a:t>
            </a:r>
            <a:r>
              <a:rPr lang="en-US" sz="1200" b="0" i="1" dirty="0">
                <a:solidFill>
                  <a:srgbClr val="595959"/>
                </a:solidFill>
                <a:latin typeface="Calibri"/>
              </a:rPr>
              <a:t>system</a:t>
            </a:r>
            <a:r>
              <a:rPr lang="en-PK" sz="1200" b="0" i="1" dirty="0">
                <a:solidFill>
                  <a:srgbClr val="595959"/>
                </a:solidFill>
                <a:latin typeface="Calibri"/>
              </a:rPr>
              <a:t> (</a:t>
            </a:r>
            <a:r>
              <a:rPr lang="en-US" sz="1200" b="0" i="1" dirty="0" err="1">
                <a:solidFill>
                  <a:srgbClr val="595959"/>
                </a:solidFill>
                <a:latin typeface="Calibri"/>
              </a:rPr>
              <a:t>Vercel</a:t>
            </a:r>
            <a:r>
              <a:rPr lang="en-PK" sz="1200" b="0" i="1" dirty="0">
                <a:solidFill>
                  <a:srgbClr val="595959"/>
                </a:solidFill>
                <a:latin typeface="Calibri"/>
              </a:rPr>
              <a:t> + </a:t>
            </a:r>
            <a:r>
              <a:rPr lang="en-US" sz="1200" b="0" i="1" dirty="0">
                <a:solidFill>
                  <a:srgbClr val="595959"/>
                </a:solidFill>
                <a:latin typeface="Calibri"/>
              </a:rPr>
              <a:t>Render</a:t>
            </a:r>
            <a:r>
              <a:rPr lang="en-PK" sz="1200" b="0" i="1" dirty="0">
                <a:solidFill>
                  <a:srgbClr val="595959"/>
                </a:solidFill>
                <a:latin typeface="Calibri"/>
              </a:rPr>
              <a:t>), </a:t>
            </a:r>
            <a:r>
              <a:rPr lang="en-US" sz="1200" b="0" i="1" dirty="0">
                <a:solidFill>
                  <a:srgbClr val="595959"/>
                </a:solidFill>
                <a:latin typeface="Calibri"/>
              </a:rPr>
              <a:t>not</a:t>
            </a:r>
            <a:r>
              <a:rPr lang="en-PK" sz="1200" b="0" i="1" dirty="0">
                <a:solidFill>
                  <a:srgbClr val="595959"/>
                </a:solidFill>
                <a:latin typeface="Calibri"/>
              </a:rPr>
              <a:t> </a:t>
            </a:r>
            <a:r>
              <a:rPr lang="en-US" sz="1200" b="0" i="1" dirty="0">
                <a:solidFill>
                  <a:srgbClr val="595959"/>
                </a:solidFill>
                <a:latin typeface="Calibri"/>
              </a:rPr>
              <a:t>on</a:t>
            </a:r>
            <a:r>
              <a:rPr lang="en-PK" sz="1200" b="0" i="1" dirty="0">
                <a:solidFill>
                  <a:srgbClr val="595959"/>
                </a:solidFill>
                <a:latin typeface="Calibri"/>
              </a:rPr>
              <a:t> </a:t>
            </a:r>
            <a:r>
              <a:rPr lang="en-US" sz="1200" b="0" i="1" dirty="0">
                <a:solidFill>
                  <a:srgbClr val="595959"/>
                </a:solidFill>
                <a:latin typeface="Calibri"/>
              </a:rPr>
              <a:t>localhost</a:t>
            </a:r>
            <a:r>
              <a:rPr lang="en-PK" sz="1200" b="0" i="1" dirty="0">
                <a:solidFill>
                  <a:srgbClr val="595959"/>
                </a:solidFill>
                <a:latin typeface="Calibri"/>
              </a:rPr>
              <a:t>.</a:t>
            </a:r>
            <a:endParaRPr sz="1200" b="0" i="1" dirty="0">
              <a:solidFill>
                <a:srgbClr val="595959"/>
              </a:solidFill>
              <a:latin typeface="Calibri"/>
            </a:endParaRPr>
          </a:p>
        </p:txBody>
      </p:sp>
      <p:sp>
        <p:nvSpPr>
          <p:cNvPr id="10" name="TextBox 9"/>
          <p:cNvSpPr txBox="1"/>
          <p:nvPr/>
        </p:nvSpPr>
        <p:spPr>
          <a:xfrm>
            <a:off x="548640" y="4526280"/>
            <a:ext cx="4114800" cy="320040"/>
          </a:xfrm>
          <a:prstGeom prst="rect">
            <a:avLst/>
          </a:prstGeom>
          <a:noFill/>
        </p:spPr>
        <p:txBody>
          <a:bodyPr wrap="square">
            <a:spAutoFit/>
          </a:bodyPr>
          <a:lstStyle/>
          <a:p>
            <a:r>
              <a:rPr sz="1400" b="1" i="0">
                <a:solidFill>
                  <a:srgbClr val="2E75B6"/>
                </a:solidFill>
                <a:latin typeface="Calibri"/>
              </a:rPr>
              <a:t>Stress Testing</a:t>
            </a:r>
          </a:p>
        </p:txBody>
      </p:sp>
      <p:cxnSp>
        <p:nvCxnSpPr>
          <p:cNvPr id="11" name="Connector 10"/>
          <p:cNvCxnSpPr/>
          <p:nvPr/>
        </p:nvCxnSpPr>
        <p:spPr>
          <a:xfrm>
            <a:off x="548640" y="4837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4937760"/>
            <a:ext cx="8138160" cy="824008"/>
          </a:xfrm>
          <a:prstGeom prst="rect">
            <a:avLst/>
          </a:prstGeom>
          <a:noFill/>
        </p:spPr>
        <p:txBody>
          <a:bodyPr wrap="square">
            <a:spAutoFit/>
          </a:bodyPr>
          <a:lstStyle/>
          <a:p>
            <a:pPr>
              <a:lnSpc>
                <a:spcPct val="125000"/>
              </a:lnSpc>
              <a:spcAft>
                <a:spcPts val="700"/>
              </a:spcAft>
            </a:pPr>
            <a:r>
              <a:rPr sz="1300" b="0" i="0" dirty="0">
                <a:solidFill>
                  <a:srgbClr val="2E75B6"/>
                </a:solidFill>
                <a:latin typeface="Calibri"/>
              </a:rPr>
              <a:t>▶  </a:t>
            </a:r>
            <a:r>
              <a:rPr sz="1300" b="1" i="0" dirty="0">
                <a:solidFill>
                  <a:srgbClr val="2C2C2C"/>
                </a:solidFill>
                <a:latin typeface="Calibri"/>
              </a:rPr>
              <a:t>8 stress scenarios tested  all passed ✓. </a:t>
            </a:r>
            <a:r>
              <a:rPr sz="1300" b="0" i="0" dirty="0">
                <a:solidFill>
                  <a:srgbClr val="2C2C2C"/>
                </a:solidFill>
                <a:latin typeface="Calibri"/>
              </a:rPr>
              <a:t>Including: concurrent orders (each gets unique number, none lost); simultaneous ticket claims (atomic); large forum list with indexed search; moderation service outage (fallback activates); mid-order connection drop (last state preserved, nothing left half-written).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Project Demo</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640080" y="1463040"/>
            <a:ext cx="7863840" cy="822960"/>
          </a:xfrm>
          <a:prstGeom prst="rect">
            <a:avLst/>
          </a:prstGeom>
          <a:noFill/>
        </p:spPr>
        <p:txBody>
          <a:bodyPr wrap="square">
            <a:spAutoFit/>
          </a:bodyPr>
          <a:lstStyle/>
          <a:p>
            <a:pPr algn="ctr"/>
            <a:r>
              <a:rPr sz="3600" b="1" i="0">
                <a:solidFill>
                  <a:srgbClr val="2E75B6"/>
                </a:solidFill>
                <a:latin typeface="Calibri"/>
              </a:rPr>
              <a:t>[ LIVE DEMONSTRATION ]</a:t>
            </a:r>
          </a:p>
        </p:txBody>
      </p:sp>
      <p:sp>
        <p:nvSpPr>
          <p:cNvPr id="9" name="TextBox 8"/>
          <p:cNvSpPr txBox="1"/>
          <p:nvPr/>
        </p:nvSpPr>
        <p:spPr>
          <a:xfrm>
            <a:off x="640080" y="2468880"/>
            <a:ext cx="7863840" cy="457200"/>
          </a:xfrm>
          <a:prstGeom prst="rect">
            <a:avLst/>
          </a:prstGeom>
          <a:noFill/>
        </p:spPr>
        <p:txBody>
          <a:bodyPr wrap="square">
            <a:spAutoFit/>
          </a:bodyPr>
          <a:lstStyle/>
          <a:p>
            <a:pPr algn="ctr"/>
            <a:r>
              <a:rPr sz="1800" b="0" i="0">
                <a:solidFill>
                  <a:srgbClr val="2C2C2C"/>
                </a:solidFill>
                <a:latin typeface="Calibri"/>
              </a:rPr>
              <a:t>We will now demonstrate the following live on the deployed system:</a:t>
            </a:r>
          </a:p>
        </p:txBody>
      </p:sp>
      <p:sp>
        <p:nvSpPr>
          <p:cNvPr id="10" name="TextBox 9"/>
          <p:cNvSpPr txBox="1"/>
          <p:nvPr/>
        </p:nvSpPr>
        <p:spPr>
          <a:xfrm>
            <a:off x="1463040" y="3108960"/>
            <a:ext cx="6217920" cy="2082621"/>
          </a:xfrm>
          <a:prstGeom prst="rect">
            <a:avLst/>
          </a:prstGeom>
          <a:noFill/>
        </p:spPr>
        <p:txBody>
          <a:bodyPr wrap="square">
            <a:spAutoFit/>
          </a:bodyPr>
          <a:lstStyle/>
          <a:p>
            <a:pPr>
              <a:spcAft>
                <a:spcPts val="800"/>
              </a:spcAft>
            </a:pPr>
            <a:r>
              <a:rPr sz="1600" b="0" i="0" dirty="0">
                <a:solidFill>
                  <a:srgbClr val="2C2C2C"/>
                </a:solidFill>
                <a:latin typeface="Calibri"/>
              </a:rPr>
              <a:t>1.  Student sign-in and dashboard overview</a:t>
            </a:r>
          </a:p>
          <a:p>
            <a:pPr>
              <a:spcAft>
                <a:spcPts val="800"/>
              </a:spcAft>
            </a:pPr>
            <a:r>
              <a:rPr sz="1600" b="0" i="0" dirty="0">
                <a:solidFill>
                  <a:srgbClr val="2C2C2C"/>
                </a:solidFill>
                <a:latin typeface="Calibri"/>
              </a:rPr>
              <a:t>2.  Creating a forum discussion thread (AI moderation in action)</a:t>
            </a:r>
          </a:p>
          <a:p>
            <a:pPr>
              <a:spcAft>
                <a:spcPts val="800"/>
              </a:spcAft>
            </a:pPr>
            <a:r>
              <a:rPr sz="1600" b="0" i="0" dirty="0">
                <a:solidFill>
                  <a:srgbClr val="2C2C2C"/>
                </a:solidFill>
                <a:latin typeface="Calibri"/>
              </a:rPr>
              <a:t>3.  Placing a canteen food order → vendor accepts → rider claims</a:t>
            </a:r>
          </a:p>
          <a:p>
            <a:pPr>
              <a:spcAft>
                <a:spcPts val="800"/>
              </a:spcAft>
            </a:pPr>
            <a:r>
              <a:rPr sz="1600" b="0" i="0" dirty="0">
                <a:solidFill>
                  <a:srgbClr val="2C2C2C"/>
                </a:solidFill>
                <a:latin typeface="Calibri"/>
              </a:rPr>
              <a:t>4.  Viewing and signing an active petition</a:t>
            </a:r>
          </a:p>
          <a:p>
            <a:pPr>
              <a:spcAft>
                <a:spcPts val="800"/>
              </a:spcAft>
            </a:pPr>
            <a:r>
              <a:rPr sz="1600" b="0" i="0" dirty="0">
                <a:solidFill>
                  <a:srgbClr val="2C2C2C"/>
                </a:solidFill>
                <a:latin typeface="Calibri"/>
              </a:rPr>
              <a:t>5.  Reporting a lost item with photo</a:t>
            </a:r>
          </a:p>
          <a:p>
            <a:pPr>
              <a:spcAft>
                <a:spcPts val="800"/>
              </a:spcAft>
            </a:pPr>
            <a:r>
              <a:rPr sz="1600" b="0" i="0" dirty="0">
                <a:solidFill>
                  <a:srgbClr val="2C2C2C"/>
                </a:solidFill>
                <a:latin typeface="Calibri"/>
              </a:rPr>
              <a:t>6.  Browsing the career board</a:t>
            </a:r>
          </a:p>
        </p:txBody>
      </p:sp>
      <p:sp>
        <p:nvSpPr>
          <p:cNvPr id="11" name="Rounded Rectangle 10"/>
          <p:cNvSpPr/>
          <p:nvPr/>
        </p:nvSpPr>
        <p:spPr>
          <a:xfrm>
            <a:off x="1828800" y="5795368"/>
            <a:ext cx="5486400" cy="731520"/>
          </a:xfrm>
          <a:prstGeom prst="roundRect">
            <a:avLst/>
          </a:prstGeom>
          <a:solidFill>
            <a:srgbClr val="EBF3FB"/>
          </a:solidFill>
          <a:ln>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i="1" dirty="0">
                <a:solidFill>
                  <a:srgbClr val="1F3864"/>
                </a:solidFill>
                <a:latin typeface="Calibri"/>
              </a:rPr>
              <a:t>Live URL: </a:t>
            </a:r>
            <a:r>
              <a:rPr lang="en-US" sz="1300" b="1" i="1" u="sng" dirty="0">
                <a:solidFill>
                  <a:srgbClr val="1F3864"/>
                </a:solidFill>
                <a:hlinkClick r:id="rId3"/>
              </a:rPr>
              <a:t>https://campus-connect-kappa-liart.vercel.app/login </a:t>
            </a:r>
            <a:endParaRPr lang="en-US" sz="1300" b="1" i="1" u="sng" dirty="0">
              <a:solidFill>
                <a:srgbClr val="1F3864"/>
              </a:solidFill>
            </a:endParaRPr>
          </a:p>
          <a:p>
            <a:pPr algn="ctr"/>
            <a:r>
              <a:rPr sz="1300" b="0" i="1" dirty="0">
                <a:solidFill>
                  <a:srgbClr val="1F3864"/>
                </a:solidFill>
                <a:latin typeface="Calibri"/>
              </a:rPr>
              <a:t>All modules are live and functional on the production deployment.</a:t>
            </a:r>
          </a:p>
        </p:txBody>
      </p:sp>
      <p:pic>
        <p:nvPicPr>
          <p:cNvPr id="12" name="Graphic 11" descr="QR preview">
            <a:extLst>
              <a:ext uri="{FF2B5EF4-FFF2-40B4-BE49-F238E27FC236}">
                <a16:creationId xmlns:a16="http://schemas.microsoft.com/office/drawing/2014/main" id="{ECF7A896-20A8-81E7-467C-5A85675A05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3827" y="4150270"/>
            <a:ext cx="1548824" cy="15488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Conclusion &amp; Limitations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Conclusion</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63040"/>
            <a:ext cx="8138160" cy="2597699"/>
          </a:xfrm>
          <a:prstGeom prst="rect">
            <a:avLst/>
          </a:prstGeom>
          <a:noFill/>
        </p:spPr>
        <p:txBody>
          <a:bodyPr wrap="square">
            <a:spAutoFit/>
          </a:bodyPr>
          <a:lstStyle/>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CampusConnect successfully delivers a verified, moderated, and feature-complete campus community platform for Minhaj University Lahore.</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All 16 modules are implemented, tested, and deployed on a live production environment  accessible via web browser on any device.</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The AI moderation layer effectively screens English and Roman Urdu content with a reliable fallback mechanism  no post is ever published unchecked.</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All performance targets were met or exceeded; all 22 use cases and 12 extension scenarios passed during testing.</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The platform fills an unmet need at Minhaj University  replacing unverified social media groups with a structured, safe, and centralized hub.</a:t>
            </a:r>
          </a:p>
        </p:txBody>
      </p:sp>
      <p:sp>
        <p:nvSpPr>
          <p:cNvPr id="11" name="TextBox 10"/>
          <p:cNvSpPr txBox="1"/>
          <p:nvPr/>
        </p:nvSpPr>
        <p:spPr>
          <a:xfrm>
            <a:off x="548640" y="4206240"/>
            <a:ext cx="4114800" cy="320040"/>
          </a:xfrm>
          <a:prstGeom prst="rect">
            <a:avLst/>
          </a:prstGeom>
          <a:noFill/>
        </p:spPr>
        <p:txBody>
          <a:bodyPr wrap="square">
            <a:spAutoFit/>
          </a:bodyPr>
          <a:lstStyle/>
          <a:p>
            <a:r>
              <a:rPr sz="1400" b="1" i="0">
                <a:solidFill>
                  <a:srgbClr val="2E75B6"/>
                </a:solidFill>
                <a:latin typeface="Calibri"/>
              </a:rPr>
              <a:t>Current Limitations</a:t>
            </a:r>
          </a:p>
        </p:txBody>
      </p:sp>
      <p:cxnSp>
        <p:nvCxnSpPr>
          <p:cNvPr id="12" name="Connector 11"/>
          <p:cNvCxnSpPr/>
          <p:nvPr/>
        </p:nvCxnSpPr>
        <p:spPr>
          <a:xfrm>
            <a:off x="548640" y="451713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572000"/>
            <a:ext cx="8138160" cy="1634615"/>
          </a:xfrm>
          <a:prstGeom prst="rect">
            <a:avLst/>
          </a:prstGeom>
          <a:noFill/>
        </p:spPr>
        <p:txBody>
          <a:bodyPr wrap="square">
            <a:spAutoFit/>
          </a:bodyPr>
          <a:lstStyle/>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Bus routes are currently hardcoded  not updatable by the transport office without developer involvement.</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No real-time GPS tracking for buses (routes are static schedules).</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Payment for canteen orders is cash on delivery  no online payment yet.</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Platform is English-only (Urdu translation stub is in place but not yet populated).</a:t>
            </a:r>
          </a:p>
          <a:p>
            <a:pPr>
              <a:lnSpc>
                <a:spcPct val="125000"/>
              </a:lnSpc>
              <a:spcAft>
                <a:spcPts val="700"/>
              </a:spcAft>
            </a:pPr>
            <a:r>
              <a:rPr sz="1250" b="0" i="0" dirty="0">
                <a:solidFill>
                  <a:srgbClr val="2E75B6"/>
                </a:solidFill>
                <a:latin typeface="Calibri"/>
              </a:rPr>
              <a:t>▶  </a:t>
            </a:r>
            <a:r>
              <a:rPr sz="1250" b="0" i="0" dirty="0">
                <a:solidFill>
                  <a:srgbClr val="2C2C2C"/>
                </a:solidFill>
                <a:latin typeface="Calibri"/>
              </a:rPr>
              <a:t>No automated test suite  testing was manual; automated tests are recommended before scaling.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Future Work &amp; References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Planned Improvements</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63040"/>
            <a:ext cx="4023360" cy="4302332"/>
          </a:xfrm>
          <a:prstGeom prst="rect">
            <a:avLst/>
          </a:prstGeom>
          <a:noFill/>
        </p:spPr>
        <p:txBody>
          <a:bodyPr wrap="square">
            <a:spAutoFit/>
          </a:bodyPr>
          <a:lstStyle/>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Live GPS Bus Tracking  integrate real-time bus location on a campus map</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Online Payment in Canteen  eliminate cash on delivery</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Urdu Language Support populate existing translation stub for full Urdu UI</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Dynamic Bus Route Management  transport office updates schedules via admin panel</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Rate Limiting  protect against DoS attacks on sensitive routes</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Automated Testing Suite  CI/CD pipeline with automated use-case tests</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Admin Analytics Dashboard  charts for complaint trends, order volumes, active petition counts</a:t>
            </a:r>
          </a:p>
          <a:p>
            <a:pPr>
              <a:lnSpc>
                <a:spcPct val="130000"/>
              </a:lnSpc>
              <a:spcAft>
                <a:spcPts val="700"/>
              </a:spcAft>
            </a:pPr>
            <a:r>
              <a:rPr sz="1200" b="0" i="0" dirty="0">
                <a:solidFill>
                  <a:srgbClr val="2E75B6"/>
                </a:solidFill>
                <a:latin typeface="Calibri"/>
              </a:rPr>
              <a:t>▶  </a:t>
            </a:r>
            <a:r>
              <a:rPr sz="1200" b="0" i="0" dirty="0">
                <a:solidFill>
                  <a:srgbClr val="2C2C2C"/>
                </a:solidFill>
                <a:latin typeface="Calibri"/>
              </a:rPr>
              <a:t>Pagination  handle very large discussion and order lists efficiently</a:t>
            </a:r>
          </a:p>
        </p:txBody>
      </p:sp>
      <p:sp>
        <p:nvSpPr>
          <p:cNvPr id="11" name="TextBox 10"/>
          <p:cNvSpPr txBox="1"/>
          <p:nvPr/>
        </p:nvSpPr>
        <p:spPr>
          <a:xfrm>
            <a:off x="4892040" y="1097280"/>
            <a:ext cx="4114800" cy="320040"/>
          </a:xfrm>
          <a:prstGeom prst="rect">
            <a:avLst/>
          </a:prstGeom>
          <a:noFill/>
        </p:spPr>
        <p:txBody>
          <a:bodyPr wrap="square">
            <a:spAutoFit/>
          </a:bodyPr>
          <a:lstStyle/>
          <a:p>
            <a:r>
              <a:rPr sz="1400" b="1" i="0">
                <a:solidFill>
                  <a:srgbClr val="2E75B6"/>
                </a:solidFill>
                <a:latin typeface="Calibri"/>
              </a:rPr>
              <a:t>References</a:t>
            </a:r>
          </a:p>
        </p:txBody>
      </p:sp>
      <p:cxnSp>
        <p:nvCxnSpPr>
          <p:cNvPr id="12" name="Connector 11"/>
          <p:cNvCxnSpPr/>
          <p:nvPr/>
        </p:nvCxnSpPr>
        <p:spPr>
          <a:xfrm>
            <a:off x="4892040" y="140817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92040" y="1508760"/>
            <a:ext cx="3840480" cy="4572000"/>
          </a:xfrm>
          <a:prstGeom prst="rect">
            <a:avLst/>
          </a:prstGeom>
          <a:noFill/>
        </p:spPr>
        <p:txBody>
          <a:bodyPr wrap="square">
            <a:spAutoFit/>
          </a:bodyPr>
          <a:lstStyle/>
          <a:p>
            <a:pPr>
              <a:lnSpc>
                <a:spcPct val="130000"/>
              </a:lnSpc>
              <a:spcAft>
                <a:spcPts val="800"/>
              </a:spcAft>
            </a:pPr>
            <a:r>
              <a:rPr sz="1100" b="0" i="0">
                <a:solidFill>
                  <a:srgbClr val="2C2C2C"/>
                </a:solidFill>
                <a:latin typeface="Calibri"/>
              </a:rPr>
              <a:t>1. Reddit, Inc. (2005). Reddit. https://www.reddit.com/</a:t>
            </a:r>
          </a:p>
          <a:p>
            <a:pPr>
              <a:lnSpc>
                <a:spcPct val="130000"/>
              </a:lnSpc>
              <a:spcAft>
                <a:spcPts val="800"/>
              </a:spcAft>
            </a:pPr>
            <a:r>
              <a:rPr sz="1100" b="0" i="0">
                <a:solidFill>
                  <a:srgbClr val="2C2C2C"/>
                </a:solidFill>
                <a:latin typeface="Calibri"/>
              </a:rPr>
              <a:t>2. Stack Exchange Inc. (2008). Stack Overflow. https://stackoverflow.com/</a:t>
            </a:r>
          </a:p>
          <a:p>
            <a:pPr>
              <a:lnSpc>
                <a:spcPct val="130000"/>
              </a:lnSpc>
              <a:spcAft>
                <a:spcPts val="800"/>
              </a:spcAft>
            </a:pPr>
            <a:r>
              <a:rPr sz="1100" b="0" i="0">
                <a:solidFill>
                  <a:srgbClr val="2C2C2C"/>
                </a:solidFill>
                <a:latin typeface="Calibri"/>
              </a:rPr>
              <a:t>3. Comsats Plus. (2024). Campus Companion App. https://www.comsatsplus.com/</a:t>
            </a:r>
          </a:p>
          <a:p>
            <a:pPr>
              <a:lnSpc>
                <a:spcPct val="130000"/>
              </a:lnSpc>
              <a:spcAft>
                <a:spcPts val="800"/>
              </a:spcAft>
            </a:pPr>
            <a:r>
              <a:rPr sz="1100" b="0" i="0">
                <a:solidFill>
                  <a:srgbClr val="2C2C2C"/>
                </a:solidFill>
                <a:latin typeface="Calibri"/>
              </a:rPr>
              <a:t>4. Delivery Hero SE. (2012). foodpanda Pakistan. https://www.foodpanda.pk/</a:t>
            </a:r>
          </a:p>
          <a:p>
            <a:pPr>
              <a:lnSpc>
                <a:spcPct val="130000"/>
              </a:lnSpc>
              <a:spcAft>
                <a:spcPts val="800"/>
              </a:spcAft>
            </a:pPr>
            <a:r>
              <a:rPr sz="1100" b="0" i="0">
                <a:solidFill>
                  <a:srgbClr val="2C2C2C"/>
                </a:solidFill>
                <a:latin typeface="Calibri"/>
              </a:rPr>
              <a:t>5. inDrive. (2012). inDrive Pakistan. https://indrive.com/en-pk/</a:t>
            </a:r>
          </a:p>
          <a:p>
            <a:pPr>
              <a:lnSpc>
                <a:spcPct val="130000"/>
              </a:lnSpc>
              <a:spcAft>
                <a:spcPts val="800"/>
              </a:spcAft>
            </a:pPr>
            <a:r>
              <a:rPr sz="1100" b="0" i="0">
                <a:solidFill>
                  <a:srgbClr val="2C2C2C"/>
                </a:solidFill>
                <a:latin typeface="Calibri"/>
              </a:rPr>
              <a:t>6. GeeksforGeeks. (2024). MERN Stack Forum Project (YouTube Live Parts 1 &amp;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220</TotalTime>
  <Words>2898</Words>
  <Application>Microsoft Office PowerPoint</Application>
  <PresentationFormat>On-screen Show (4:3)</PresentationFormat>
  <Paragraphs>287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Hashim</dc:creator>
  <cp:keywords/>
  <dc:description>generated using python-pptx</dc:description>
  <cp:lastModifiedBy>Shujaat Ali Hashim</cp:lastModifiedBy>
  <cp:revision>8</cp:revision>
  <dcterms:created xsi:type="dcterms:W3CDTF">2013-01-27T09:14:16Z</dcterms:created>
  <dcterms:modified xsi:type="dcterms:W3CDTF">2026-09-10T18:54:35Z</dcterms:modified>
  <cp:category/>
</cp:coreProperties>
</file>